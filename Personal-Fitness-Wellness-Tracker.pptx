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610" y="-31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1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rgbClr val="22222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7A7A7A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16-10-</a:t>
            </a:r>
            <a:r>
              <a:rPr spc="85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7A7A7A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rgbClr val="22222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7A7A7A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16-10-</a:t>
            </a:r>
            <a:r>
              <a:rPr spc="85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7A7A7A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7A7A7A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16-10-</a:t>
            </a:r>
            <a:r>
              <a:rPr spc="85" dirty="0"/>
              <a:t>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7A7A7A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7A7A7A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16-10-</a:t>
            </a:r>
            <a:r>
              <a:rPr spc="85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7A7A7A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7A7A7A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16-10-</a:t>
            </a:r>
            <a:r>
              <a:rPr spc="85" dirty="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7A7A7A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9800" y="875796"/>
            <a:ext cx="10979785" cy="9251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1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9800" y="2425700"/>
            <a:ext cx="16339185" cy="3225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rgbClr val="22222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39800" y="9547422"/>
            <a:ext cx="1166495" cy="279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7A7A7A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16-10-</a:t>
            </a:r>
            <a:r>
              <a:rPr spc="85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107892" y="9547422"/>
            <a:ext cx="287655" cy="279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7A7A7A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9800" y="492125"/>
            <a:ext cx="732409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45" dirty="0">
                <a:solidFill>
                  <a:srgbClr val="B3121B"/>
                </a:solidFill>
                <a:latin typeface="Tahoma"/>
                <a:cs typeface="Tahoma"/>
              </a:rPr>
              <a:t>KL</a:t>
            </a:r>
            <a:r>
              <a:rPr sz="1650" b="1" spc="-140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100" dirty="0">
                <a:solidFill>
                  <a:srgbClr val="B3121B"/>
                </a:solidFill>
                <a:latin typeface="Tahoma"/>
                <a:cs typeface="Tahoma"/>
              </a:rPr>
              <a:t>UNIVERSITY</a:t>
            </a:r>
            <a:r>
              <a:rPr sz="1650" b="1" spc="-90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120" dirty="0">
                <a:solidFill>
                  <a:srgbClr val="B3121B"/>
                </a:solidFill>
                <a:latin typeface="Tahoma"/>
                <a:cs typeface="Tahoma"/>
              </a:rPr>
              <a:t>·</a:t>
            </a:r>
            <a:r>
              <a:rPr sz="1650" b="1" spc="-140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80" dirty="0">
                <a:solidFill>
                  <a:srgbClr val="B3121B"/>
                </a:solidFill>
                <a:latin typeface="Tahoma"/>
                <a:cs typeface="Tahoma"/>
              </a:rPr>
              <a:t>26SC1101E</a:t>
            </a:r>
            <a:r>
              <a:rPr sz="1650" b="1" spc="-140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120" dirty="0">
                <a:solidFill>
                  <a:srgbClr val="B3121B"/>
                </a:solidFill>
                <a:latin typeface="Tahoma"/>
                <a:cs typeface="Tahoma"/>
              </a:rPr>
              <a:t>·</a:t>
            </a:r>
            <a:r>
              <a:rPr sz="1650" b="1" spc="-140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60" dirty="0">
                <a:solidFill>
                  <a:srgbClr val="B3121B"/>
                </a:solidFill>
                <a:latin typeface="Tahoma"/>
                <a:cs typeface="Tahoma"/>
              </a:rPr>
              <a:t>Problem</a:t>
            </a:r>
            <a:r>
              <a:rPr sz="1650" b="1" spc="-105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45" dirty="0">
                <a:solidFill>
                  <a:srgbClr val="B3121B"/>
                </a:solidFill>
                <a:latin typeface="Tahoma"/>
                <a:cs typeface="Tahoma"/>
              </a:rPr>
              <a:t>Solving</a:t>
            </a:r>
            <a:r>
              <a:rPr sz="1650" b="1" spc="-90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45" dirty="0">
                <a:solidFill>
                  <a:srgbClr val="B3121B"/>
                </a:solidFill>
                <a:latin typeface="Tahoma"/>
                <a:cs typeface="Tahoma"/>
              </a:rPr>
              <a:t>Using</a:t>
            </a:r>
            <a:r>
              <a:rPr sz="1650" b="1" spc="-90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70" dirty="0">
                <a:solidFill>
                  <a:srgbClr val="B3121B"/>
                </a:solidFill>
                <a:latin typeface="Tahoma"/>
                <a:cs typeface="Tahoma"/>
              </a:rPr>
              <a:t>Programming</a:t>
            </a:r>
            <a:r>
              <a:rPr sz="1650" b="1" spc="-90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B3121B"/>
                </a:solidFill>
                <a:latin typeface="Tahoma"/>
                <a:cs typeface="Tahoma"/>
              </a:rPr>
              <a:t>(Java)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03604" y="2384173"/>
            <a:ext cx="267779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spc="-130" dirty="0">
                <a:solidFill>
                  <a:srgbClr val="B3121B"/>
                </a:solidFill>
              </a:rPr>
              <a:t>FitPulse</a:t>
            </a:r>
            <a:r>
              <a:rPr sz="2950" spc="-135" dirty="0">
                <a:solidFill>
                  <a:srgbClr val="B3121B"/>
                </a:solidFill>
              </a:rPr>
              <a:t> </a:t>
            </a:r>
            <a:r>
              <a:rPr sz="2950" spc="-130" dirty="0">
                <a:solidFill>
                  <a:srgbClr val="B3121B"/>
                </a:solidFill>
              </a:rPr>
              <a:t>Tracker</a:t>
            </a:r>
            <a:endParaRPr sz="2950"/>
          </a:p>
        </p:txBody>
      </p:sp>
      <p:sp>
        <p:nvSpPr>
          <p:cNvPr id="4" name="object 4"/>
          <p:cNvSpPr txBox="1"/>
          <p:nvPr/>
        </p:nvSpPr>
        <p:spPr>
          <a:xfrm>
            <a:off x="1726505" y="3506221"/>
            <a:ext cx="14857730" cy="122341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850" b="1" spc="-730" dirty="0">
                <a:solidFill>
                  <a:srgbClr val="111111"/>
                </a:solidFill>
                <a:latin typeface="Tahoma"/>
                <a:cs typeface="Tahoma"/>
              </a:rPr>
              <a:t>Personal</a:t>
            </a:r>
            <a:r>
              <a:rPr sz="7850" b="1" spc="-114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7850" b="1" spc="-625" dirty="0">
                <a:solidFill>
                  <a:srgbClr val="111111"/>
                </a:solidFill>
                <a:latin typeface="Tahoma"/>
                <a:cs typeface="Tahoma"/>
              </a:rPr>
              <a:t>Fitness</a:t>
            </a:r>
            <a:r>
              <a:rPr sz="7850" b="1" spc="-117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7850" b="1" spc="-615" dirty="0">
                <a:solidFill>
                  <a:srgbClr val="111111"/>
                </a:solidFill>
                <a:latin typeface="Tahoma"/>
                <a:cs typeface="Tahoma"/>
              </a:rPr>
              <a:t>&amp;</a:t>
            </a:r>
            <a:r>
              <a:rPr sz="7850" b="1" spc="-113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7850" b="1" spc="-1045" dirty="0">
                <a:solidFill>
                  <a:srgbClr val="111111"/>
                </a:solidFill>
                <a:latin typeface="Tahoma"/>
                <a:cs typeface="Tahoma"/>
              </a:rPr>
              <a:t>W</a:t>
            </a:r>
            <a:r>
              <a:rPr sz="7850" b="1" spc="-400" dirty="0">
                <a:solidFill>
                  <a:srgbClr val="111111"/>
                </a:solidFill>
                <a:latin typeface="Tahoma"/>
                <a:cs typeface="Tahoma"/>
              </a:rPr>
              <a:t>e</a:t>
            </a:r>
            <a:r>
              <a:rPr lang="en-US" sz="7850" b="1" spc="-675" dirty="0">
                <a:solidFill>
                  <a:srgbClr val="111111"/>
                </a:solidFill>
                <a:latin typeface="Tahoma"/>
                <a:cs typeface="Tahoma"/>
              </a:rPr>
              <a:t>ll</a:t>
            </a:r>
            <a:r>
              <a:rPr sz="7850" b="1" spc="-585" dirty="0">
                <a:solidFill>
                  <a:srgbClr val="111111"/>
                </a:solidFill>
                <a:latin typeface="Tahoma"/>
                <a:cs typeface="Tahoma"/>
              </a:rPr>
              <a:t>ness</a:t>
            </a:r>
            <a:r>
              <a:rPr sz="7850" b="1" spc="-1175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7850" b="1" spc="-1435" dirty="0">
                <a:solidFill>
                  <a:srgbClr val="111111"/>
                </a:solidFill>
                <a:latin typeface="Tahoma"/>
                <a:cs typeface="Tahoma"/>
              </a:rPr>
              <a:t>T</a:t>
            </a:r>
            <a:r>
              <a:rPr sz="7850" b="1" spc="-880" dirty="0">
                <a:solidFill>
                  <a:srgbClr val="111111"/>
                </a:solidFill>
                <a:latin typeface="Tahoma"/>
                <a:cs typeface="Tahoma"/>
              </a:rPr>
              <a:t>r</a:t>
            </a:r>
            <a:r>
              <a:rPr sz="7850" b="1" spc="-700" dirty="0">
                <a:solidFill>
                  <a:srgbClr val="111111"/>
                </a:solidFill>
                <a:latin typeface="Tahoma"/>
                <a:cs typeface="Tahoma"/>
              </a:rPr>
              <a:t>a</a:t>
            </a:r>
            <a:r>
              <a:rPr sz="7850" b="1" spc="-630" dirty="0">
                <a:solidFill>
                  <a:srgbClr val="111111"/>
                </a:solidFill>
                <a:latin typeface="Tahoma"/>
                <a:cs typeface="Tahoma"/>
              </a:rPr>
              <a:t>c</a:t>
            </a:r>
            <a:r>
              <a:rPr sz="7850" b="1" spc="-880" dirty="0">
                <a:solidFill>
                  <a:srgbClr val="111111"/>
                </a:solidFill>
                <a:latin typeface="Tahoma"/>
                <a:cs typeface="Tahoma"/>
              </a:rPr>
              <a:t>k</a:t>
            </a:r>
            <a:r>
              <a:rPr sz="7850" b="1" spc="-630" dirty="0">
                <a:solidFill>
                  <a:srgbClr val="111111"/>
                </a:solidFill>
                <a:latin typeface="Tahoma"/>
                <a:cs typeface="Tahoma"/>
              </a:rPr>
              <a:t>e</a:t>
            </a:r>
            <a:r>
              <a:rPr sz="7850" b="1" spc="-475" dirty="0">
                <a:solidFill>
                  <a:srgbClr val="111111"/>
                </a:solidFill>
                <a:latin typeface="Tahoma"/>
                <a:cs typeface="Tahoma"/>
              </a:rPr>
              <a:t>r</a:t>
            </a:r>
            <a:endParaRPr sz="7850" dirty="0">
              <a:latin typeface="Tahoma"/>
              <a:cs typeface="Tahom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436849"/>
              </p:ext>
            </p:extLst>
          </p:nvPr>
        </p:nvGraphicFramePr>
        <p:xfrm>
          <a:off x="5333999" y="6667500"/>
          <a:ext cx="7600950" cy="2083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33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b="1" spc="-3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Student</a:t>
                      </a:r>
                      <a:r>
                        <a:rPr sz="1800" b="1" spc="-8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Name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04775" marB="0">
                    <a:lnL w="19050">
                      <a:solidFill>
                        <a:srgbClr val="E3D6D6"/>
                      </a:solidFill>
                      <a:prstDash val="solid"/>
                    </a:lnL>
                    <a:lnR w="19050">
                      <a:solidFill>
                        <a:srgbClr val="E3D6D6"/>
                      </a:solidFill>
                      <a:prstDash val="solid"/>
                    </a:lnR>
                    <a:lnT w="19050">
                      <a:solidFill>
                        <a:srgbClr val="E3D6D6"/>
                      </a:solidFill>
                      <a:prstDash val="solid"/>
                    </a:lnT>
                    <a:lnB w="19050">
                      <a:solidFill>
                        <a:srgbClr val="E3D6D6"/>
                      </a:solidFill>
                      <a:prstDash val="solid"/>
                    </a:lnB>
                    <a:solidFill>
                      <a:srgbClr val="B3121B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b="1" spc="-6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Roll</a:t>
                      </a:r>
                      <a:r>
                        <a:rPr sz="1800" b="1" spc="-10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04775" marB="0">
                    <a:lnL w="19050">
                      <a:solidFill>
                        <a:srgbClr val="E3D6D6"/>
                      </a:solidFill>
                      <a:prstDash val="solid"/>
                    </a:lnL>
                    <a:lnR w="19050">
                      <a:solidFill>
                        <a:srgbClr val="E3D6D6"/>
                      </a:solidFill>
                      <a:prstDash val="solid"/>
                    </a:lnR>
                    <a:lnT w="19050">
                      <a:solidFill>
                        <a:srgbClr val="E3D6D6"/>
                      </a:solidFill>
                      <a:prstDash val="solid"/>
                    </a:lnT>
                    <a:lnB w="19050">
                      <a:solidFill>
                        <a:srgbClr val="E3D6D6"/>
                      </a:solidFill>
                      <a:prstDash val="solid"/>
                    </a:lnB>
                    <a:solidFill>
                      <a:srgbClr val="B3121B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Section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04775" marB="0">
                    <a:lnL w="19050">
                      <a:solidFill>
                        <a:srgbClr val="E3D6D6"/>
                      </a:solidFill>
                      <a:prstDash val="solid"/>
                    </a:lnL>
                    <a:lnR w="19050">
                      <a:solidFill>
                        <a:srgbClr val="E3D6D6"/>
                      </a:solidFill>
                      <a:prstDash val="solid"/>
                    </a:lnR>
                    <a:lnT w="19050">
                      <a:solidFill>
                        <a:srgbClr val="E3D6D6"/>
                      </a:solidFill>
                      <a:prstDash val="solid"/>
                    </a:lnT>
                    <a:lnB w="19050">
                      <a:solidFill>
                        <a:srgbClr val="E3D6D6"/>
                      </a:solidFill>
                      <a:prstDash val="solid"/>
                    </a:lnB>
                    <a:solidFill>
                      <a:srgbClr val="B312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lang="en-US" sz="1800" spc="65" dirty="0" err="1">
                          <a:solidFill>
                            <a:srgbClr val="222222"/>
                          </a:solidFill>
                          <a:latin typeface="Tahoma"/>
                          <a:cs typeface="Tahoma"/>
                        </a:rPr>
                        <a:t>K.Aditya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104775" marB="0">
                    <a:lnL w="19050">
                      <a:solidFill>
                        <a:srgbClr val="E3D6D6"/>
                      </a:solidFill>
                      <a:prstDash val="solid"/>
                    </a:lnL>
                    <a:lnR w="19050">
                      <a:solidFill>
                        <a:srgbClr val="E3D6D6"/>
                      </a:solidFill>
                      <a:prstDash val="solid"/>
                    </a:lnR>
                    <a:lnT w="19050">
                      <a:solidFill>
                        <a:srgbClr val="E3D6D6"/>
                      </a:solidFill>
                      <a:prstDash val="solid"/>
                    </a:lnT>
                    <a:lnB w="19050">
                      <a:solidFill>
                        <a:srgbClr val="E3D6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lang="en-US" sz="1800" dirty="0">
                          <a:latin typeface="Tahoma"/>
                          <a:cs typeface="Tahoma"/>
                        </a:rPr>
                        <a:t>2620090002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104775" marB="0">
                    <a:lnL w="19050">
                      <a:solidFill>
                        <a:srgbClr val="E3D6D6"/>
                      </a:solidFill>
                      <a:prstDash val="solid"/>
                    </a:lnL>
                    <a:lnR w="19050">
                      <a:solidFill>
                        <a:srgbClr val="E3D6D6"/>
                      </a:solidFill>
                      <a:prstDash val="solid"/>
                    </a:lnR>
                    <a:lnT w="19050">
                      <a:solidFill>
                        <a:srgbClr val="E3D6D6"/>
                      </a:solidFill>
                      <a:prstDash val="solid"/>
                    </a:lnT>
                    <a:lnB w="19050">
                      <a:solidFill>
                        <a:srgbClr val="E3D6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lang="en-US" sz="1800" dirty="0">
                          <a:latin typeface="Tahoma"/>
                          <a:cs typeface="Tahoma"/>
                        </a:rPr>
                        <a:t> 16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104775" marB="0">
                    <a:lnL w="19050">
                      <a:solidFill>
                        <a:srgbClr val="E3D6D6"/>
                      </a:solidFill>
                      <a:prstDash val="solid"/>
                    </a:lnL>
                    <a:lnR w="19050">
                      <a:solidFill>
                        <a:srgbClr val="E3D6D6"/>
                      </a:solidFill>
                      <a:prstDash val="solid"/>
                    </a:lnR>
                    <a:lnT w="19050">
                      <a:solidFill>
                        <a:srgbClr val="E3D6D6"/>
                      </a:solidFill>
                      <a:prstDash val="solid"/>
                    </a:lnT>
                    <a:lnB w="19050">
                      <a:solidFill>
                        <a:srgbClr val="E3D6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71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lang="en-US" sz="1800" dirty="0" err="1">
                          <a:latin typeface="Tahoma"/>
                          <a:cs typeface="Tahoma"/>
                        </a:rPr>
                        <a:t>G.Veerendra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104775" marB="0">
                    <a:lnL w="19050">
                      <a:solidFill>
                        <a:srgbClr val="E3D6D6"/>
                      </a:solidFill>
                      <a:prstDash val="solid"/>
                    </a:lnL>
                    <a:lnR w="19050">
                      <a:solidFill>
                        <a:srgbClr val="E3D6D6"/>
                      </a:solidFill>
                      <a:prstDash val="solid"/>
                    </a:lnR>
                    <a:lnT w="19050">
                      <a:solidFill>
                        <a:srgbClr val="E3D6D6"/>
                      </a:solidFill>
                      <a:prstDash val="solid"/>
                    </a:lnT>
                    <a:lnB w="19050">
                      <a:solidFill>
                        <a:srgbClr val="E3D6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lang="en-US" sz="1800" dirty="0">
                          <a:latin typeface="Tahoma"/>
                          <a:cs typeface="Tahoma"/>
                        </a:rPr>
                        <a:t>2620030373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104775" marB="0">
                    <a:lnL w="19050">
                      <a:solidFill>
                        <a:srgbClr val="E3D6D6"/>
                      </a:solidFill>
                      <a:prstDash val="solid"/>
                    </a:lnL>
                    <a:lnR w="19050">
                      <a:solidFill>
                        <a:srgbClr val="E3D6D6"/>
                      </a:solidFill>
                      <a:prstDash val="solid"/>
                    </a:lnR>
                    <a:lnT w="19050">
                      <a:solidFill>
                        <a:srgbClr val="E3D6D6"/>
                      </a:solidFill>
                      <a:prstDash val="solid"/>
                    </a:lnT>
                    <a:lnB w="19050">
                      <a:solidFill>
                        <a:srgbClr val="E3D6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lang="en-US" sz="1800" dirty="0">
                          <a:latin typeface="Tahoma"/>
                          <a:cs typeface="Tahoma"/>
                        </a:rPr>
                        <a:t>16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104775" marB="0">
                    <a:lnL w="19050">
                      <a:solidFill>
                        <a:srgbClr val="E3D6D6"/>
                      </a:solidFill>
                      <a:prstDash val="solid"/>
                    </a:lnL>
                    <a:lnR w="19050">
                      <a:solidFill>
                        <a:srgbClr val="E3D6D6"/>
                      </a:solidFill>
                      <a:prstDash val="solid"/>
                    </a:lnR>
                    <a:lnT w="19050">
                      <a:solidFill>
                        <a:srgbClr val="E3D6D6"/>
                      </a:solidFill>
                      <a:prstDash val="solid"/>
                    </a:lnT>
                    <a:lnB w="19050">
                      <a:solidFill>
                        <a:srgbClr val="E3D6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lang="en-US" sz="1800" spc="65" dirty="0" err="1">
                          <a:solidFill>
                            <a:srgbClr val="222222"/>
                          </a:solidFill>
                          <a:latin typeface="Tahoma"/>
                          <a:cs typeface="Tahoma"/>
                        </a:rPr>
                        <a:t>N.Varun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104775" marB="0">
                    <a:lnL w="19050">
                      <a:solidFill>
                        <a:srgbClr val="E3D6D6"/>
                      </a:solidFill>
                      <a:prstDash val="solid"/>
                    </a:lnL>
                    <a:lnR w="19050">
                      <a:solidFill>
                        <a:srgbClr val="E3D6D6"/>
                      </a:solidFill>
                      <a:prstDash val="solid"/>
                    </a:lnR>
                    <a:lnT w="19050">
                      <a:solidFill>
                        <a:srgbClr val="E3D6D6"/>
                      </a:solidFill>
                      <a:prstDash val="solid"/>
                    </a:lnT>
                    <a:lnB w="19050">
                      <a:solidFill>
                        <a:srgbClr val="E3D6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lang="en-US" sz="1800" dirty="0">
                          <a:latin typeface="Tahoma"/>
                          <a:cs typeface="Tahoma"/>
                        </a:rPr>
                        <a:t>2620040048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104775" marB="0">
                    <a:lnL w="19050">
                      <a:solidFill>
                        <a:srgbClr val="E3D6D6"/>
                      </a:solidFill>
                      <a:prstDash val="solid"/>
                    </a:lnL>
                    <a:lnR w="19050">
                      <a:solidFill>
                        <a:srgbClr val="E3D6D6"/>
                      </a:solidFill>
                      <a:prstDash val="solid"/>
                    </a:lnR>
                    <a:lnT w="19050">
                      <a:solidFill>
                        <a:srgbClr val="E3D6D6"/>
                      </a:solidFill>
                      <a:prstDash val="solid"/>
                    </a:lnT>
                    <a:lnB w="19050">
                      <a:solidFill>
                        <a:srgbClr val="E3D6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lang="en-US" sz="1800" dirty="0">
                          <a:latin typeface="Tahoma"/>
                          <a:cs typeface="Tahoma"/>
                        </a:rPr>
                        <a:t>16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104775" marB="0">
                    <a:lnL w="19050">
                      <a:solidFill>
                        <a:srgbClr val="E3D6D6"/>
                      </a:solidFill>
                      <a:prstDash val="solid"/>
                    </a:lnL>
                    <a:lnR w="19050">
                      <a:solidFill>
                        <a:srgbClr val="E3D6D6"/>
                      </a:solidFill>
                      <a:prstDash val="solid"/>
                    </a:lnR>
                    <a:lnT w="19050">
                      <a:solidFill>
                        <a:srgbClr val="E3D6D6"/>
                      </a:solidFill>
                      <a:prstDash val="solid"/>
                    </a:lnT>
                    <a:lnB w="19050">
                      <a:solidFill>
                        <a:srgbClr val="E3D6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16-10-</a:t>
            </a:r>
            <a:r>
              <a:rPr spc="85" dirty="0"/>
              <a:t>2026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9800" y="492125"/>
            <a:ext cx="3332479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45" dirty="0">
                <a:solidFill>
                  <a:srgbClr val="B3121B"/>
                </a:solidFill>
                <a:latin typeface="Tahoma"/>
                <a:cs typeface="Tahoma"/>
              </a:rPr>
              <a:t>KL</a:t>
            </a:r>
            <a:r>
              <a:rPr sz="1650" b="1" spc="-145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100" dirty="0">
                <a:solidFill>
                  <a:srgbClr val="B3121B"/>
                </a:solidFill>
                <a:latin typeface="Tahoma"/>
                <a:cs typeface="Tahoma"/>
              </a:rPr>
              <a:t>UNIVERSITY </a:t>
            </a:r>
            <a:r>
              <a:rPr sz="1650" b="1" spc="-120" dirty="0">
                <a:solidFill>
                  <a:srgbClr val="B3121B"/>
                </a:solidFill>
                <a:latin typeface="Tahoma"/>
                <a:cs typeface="Tahoma"/>
              </a:rPr>
              <a:t>·</a:t>
            </a:r>
            <a:r>
              <a:rPr sz="1650" b="1" spc="-150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55" dirty="0">
                <a:solidFill>
                  <a:srgbClr val="B3121B"/>
                </a:solidFill>
                <a:latin typeface="Tahoma"/>
                <a:cs typeface="Tahoma"/>
              </a:rPr>
              <a:t>FitPulse</a:t>
            </a:r>
            <a:r>
              <a:rPr sz="1650" b="1" spc="-114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B3121B"/>
                </a:solidFill>
                <a:latin typeface="Tahoma"/>
                <a:cs typeface="Tahoma"/>
              </a:rPr>
              <a:t>Tracker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Abstract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8260">
              <a:lnSpc>
                <a:spcPct val="116700"/>
              </a:lnSpc>
              <a:spcBef>
                <a:spcPts val="100"/>
              </a:spcBef>
            </a:pPr>
            <a:r>
              <a:rPr b="1" spc="-35" dirty="0">
                <a:latin typeface="Tahoma"/>
                <a:cs typeface="Tahoma"/>
              </a:rPr>
              <a:t>FitPulse</a:t>
            </a:r>
            <a:r>
              <a:rPr b="1" spc="-150" dirty="0">
                <a:latin typeface="Tahoma"/>
                <a:cs typeface="Tahoma"/>
              </a:rPr>
              <a:t> </a:t>
            </a:r>
            <a:r>
              <a:rPr b="1" spc="-25" dirty="0">
                <a:latin typeface="Tahoma"/>
                <a:cs typeface="Tahoma"/>
              </a:rPr>
              <a:t>Tracker</a:t>
            </a:r>
            <a:r>
              <a:rPr b="1" spc="-20" dirty="0">
                <a:latin typeface="Tahoma"/>
                <a:cs typeface="Tahoma"/>
              </a:rPr>
              <a:t> </a:t>
            </a:r>
            <a:r>
              <a:rPr spc="114" dirty="0"/>
              <a:t>is</a:t>
            </a:r>
            <a:r>
              <a:rPr spc="-95" dirty="0"/>
              <a:t> </a:t>
            </a:r>
            <a:r>
              <a:rPr spc="80" dirty="0"/>
              <a:t>a</a:t>
            </a:r>
            <a:r>
              <a:rPr spc="-114" dirty="0"/>
              <a:t> </a:t>
            </a:r>
            <a:r>
              <a:rPr spc="130" dirty="0"/>
              <a:t>console-based</a:t>
            </a:r>
            <a:r>
              <a:rPr spc="-90" dirty="0"/>
              <a:t> </a:t>
            </a:r>
            <a:r>
              <a:rPr spc="85" dirty="0"/>
              <a:t>Java</a:t>
            </a:r>
            <a:r>
              <a:rPr spc="-120" dirty="0"/>
              <a:t> </a:t>
            </a:r>
            <a:r>
              <a:rPr spc="70" dirty="0"/>
              <a:t>application</a:t>
            </a:r>
            <a:r>
              <a:rPr spc="-160" dirty="0"/>
              <a:t> </a:t>
            </a:r>
            <a:r>
              <a:rPr dirty="0"/>
              <a:t>that</a:t>
            </a:r>
            <a:r>
              <a:rPr spc="-195" dirty="0"/>
              <a:t> </a:t>
            </a:r>
            <a:r>
              <a:rPr spc="70" dirty="0"/>
              <a:t>helps</a:t>
            </a:r>
            <a:r>
              <a:rPr spc="-95" dirty="0"/>
              <a:t> </a:t>
            </a:r>
            <a:r>
              <a:rPr spc="90" dirty="0"/>
              <a:t>users</a:t>
            </a:r>
            <a:r>
              <a:rPr spc="-100" dirty="0"/>
              <a:t> </a:t>
            </a:r>
            <a:r>
              <a:rPr spc="60" dirty="0"/>
              <a:t>monitor</a:t>
            </a:r>
            <a:r>
              <a:rPr spc="-135" dirty="0"/>
              <a:t> </a:t>
            </a:r>
            <a:r>
              <a:rPr dirty="0"/>
              <a:t>their</a:t>
            </a:r>
            <a:r>
              <a:rPr spc="-135" dirty="0"/>
              <a:t> </a:t>
            </a:r>
            <a:r>
              <a:rPr spc="75" dirty="0"/>
              <a:t>personal</a:t>
            </a:r>
            <a:r>
              <a:rPr spc="-135" dirty="0"/>
              <a:t> </a:t>
            </a:r>
            <a:r>
              <a:rPr spc="80" dirty="0"/>
              <a:t>fitness</a:t>
            </a:r>
            <a:r>
              <a:rPr spc="-95" dirty="0"/>
              <a:t> </a:t>
            </a:r>
            <a:r>
              <a:rPr spc="65" dirty="0"/>
              <a:t>and</a:t>
            </a:r>
            <a:r>
              <a:rPr spc="-90" dirty="0"/>
              <a:t> </a:t>
            </a:r>
            <a:r>
              <a:rPr spc="55" dirty="0"/>
              <a:t>wellness.</a:t>
            </a:r>
            <a:r>
              <a:rPr spc="-140" dirty="0"/>
              <a:t> </a:t>
            </a:r>
            <a:r>
              <a:rPr spc="-25" dirty="0"/>
              <a:t>It </a:t>
            </a:r>
            <a:r>
              <a:rPr spc="105" dirty="0"/>
              <a:t>collects</a:t>
            </a:r>
            <a:r>
              <a:rPr spc="-60" dirty="0"/>
              <a:t> </a:t>
            </a:r>
            <a:r>
              <a:rPr spc="80" dirty="0"/>
              <a:t>a</a:t>
            </a:r>
            <a:r>
              <a:rPr spc="-80" dirty="0"/>
              <a:t> </a:t>
            </a:r>
            <a:r>
              <a:rPr spc="80" dirty="0"/>
              <a:t>user</a:t>
            </a:r>
            <a:r>
              <a:rPr spc="-105" dirty="0"/>
              <a:t> </a:t>
            </a:r>
            <a:r>
              <a:rPr spc="55" dirty="0"/>
              <a:t>profile</a:t>
            </a:r>
            <a:r>
              <a:rPr spc="-40" dirty="0"/>
              <a:t> </a:t>
            </a:r>
            <a:r>
              <a:rPr dirty="0"/>
              <a:t>(age,</a:t>
            </a:r>
            <a:r>
              <a:rPr spc="-120" dirty="0"/>
              <a:t> </a:t>
            </a:r>
            <a:r>
              <a:rPr dirty="0"/>
              <a:t>weight,</a:t>
            </a:r>
            <a:r>
              <a:rPr spc="-120" dirty="0"/>
              <a:t> </a:t>
            </a:r>
            <a:r>
              <a:rPr dirty="0"/>
              <a:t>height,</a:t>
            </a:r>
            <a:r>
              <a:rPr spc="-120" dirty="0"/>
              <a:t> </a:t>
            </a:r>
            <a:r>
              <a:rPr spc="55" dirty="0"/>
              <a:t>gender),</a:t>
            </a:r>
            <a:r>
              <a:rPr spc="-120" dirty="0"/>
              <a:t> </a:t>
            </a:r>
            <a:r>
              <a:rPr spc="75" dirty="0"/>
              <a:t>calculates</a:t>
            </a:r>
            <a:r>
              <a:rPr spc="-60" dirty="0"/>
              <a:t> </a:t>
            </a:r>
            <a:r>
              <a:rPr spc="50" dirty="0"/>
              <a:t>BMI</a:t>
            </a:r>
            <a:r>
              <a:rPr spc="-80" dirty="0"/>
              <a:t> </a:t>
            </a:r>
            <a:r>
              <a:rPr spc="65" dirty="0"/>
              <a:t>and</a:t>
            </a:r>
            <a:r>
              <a:rPr spc="-55" dirty="0"/>
              <a:t> </a:t>
            </a:r>
            <a:r>
              <a:rPr dirty="0"/>
              <a:t>health</a:t>
            </a:r>
            <a:r>
              <a:rPr spc="-145" dirty="0"/>
              <a:t> </a:t>
            </a:r>
            <a:r>
              <a:rPr spc="85" dirty="0"/>
              <a:t>category,</a:t>
            </a:r>
            <a:r>
              <a:rPr spc="-120" dirty="0"/>
              <a:t> </a:t>
            </a:r>
            <a:r>
              <a:rPr spc="110" dirty="0"/>
              <a:t>sets</a:t>
            </a:r>
            <a:r>
              <a:rPr spc="-60" dirty="0"/>
              <a:t> </a:t>
            </a:r>
            <a:r>
              <a:rPr spc="80" dirty="0"/>
              <a:t>a</a:t>
            </a:r>
            <a:r>
              <a:rPr spc="-80" dirty="0"/>
              <a:t> </a:t>
            </a:r>
            <a:r>
              <a:rPr spc="80" dirty="0"/>
              <a:t>fitness</a:t>
            </a:r>
            <a:r>
              <a:rPr spc="-60" dirty="0"/>
              <a:t> </a:t>
            </a:r>
            <a:r>
              <a:rPr spc="60" dirty="0"/>
              <a:t>goal,</a:t>
            </a:r>
            <a:r>
              <a:rPr spc="-120" dirty="0"/>
              <a:t> </a:t>
            </a:r>
            <a:r>
              <a:rPr spc="65" dirty="0"/>
              <a:t>and</a:t>
            </a:r>
            <a:r>
              <a:rPr spc="-55" dirty="0"/>
              <a:t> </a:t>
            </a:r>
            <a:r>
              <a:rPr spc="114" dirty="0"/>
              <a:t>logs</a:t>
            </a:r>
            <a:r>
              <a:rPr spc="-55" dirty="0"/>
              <a:t> </a:t>
            </a:r>
            <a:r>
              <a:rPr spc="75" dirty="0"/>
              <a:t>cardio </a:t>
            </a:r>
            <a:r>
              <a:rPr spc="65" dirty="0"/>
              <a:t>and</a:t>
            </a:r>
            <a:r>
              <a:rPr spc="-105" dirty="0"/>
              <a:t> </a:t>
            </a:r>
            <a:r>
              <a:rPr spc="45" dirty="0"/>
              <a:t>strength</a:t>
            </a:r>
            <a:r>
              <a:rPr spc="-190" dirty="0"/>
              <a:t> </a:t>
            </a:r>
            <a:r>
              <a:rPr spc="55" dirty="0"/>
              <a:t>workouts</a:t>
            </a:r>
            <a:r>
              <a:rPr spc="-105" dirty="0"/>
              <a:t> </a:t>
            </a:r>
            <a:r>
              <a:rPr spc="50" dirty="0"/>
              <a:t>with</a:t>
            </a:r>
            <a:r>
              <a:rPr spc="-190" dirty="0"/>
              <a:t> </a:t>
            </a:r>
            <a:r>
              <a:rPr spc="95" dirty="0"/>
              <a:t>calories</a:t>
            </a:r>
            <a:r>
              <a:rPr spc="-110" dirty="0"/>
              <a:t> </a:t>
            </a:r>
            <a:r>
              <a:rPr spc="40" dirty="0"/>
              <a:t>burned.</a:t>
            </a:r>
          </a:p>
          <a:p>
            <a:pPr marL="12700" marR="5080">
              <a:lnSpc>
                <a:spcPct val="116700"/>
              </a:lnSpc>
            </a:pPr>
            <a:r>
              <a:rPr dirty="0"/>
              <a:t>The</a:t>
            </a:r>
            <a:r>
              <a:rPr spc="-80" dirty="0"/>
              <a:t> </a:t>
            </a:r>
            <a:r>
              <a:rPr spc="70" dirty="0"/>
              <a:t>project</a:t>
            </a:r>
            <a:r>
              <a:rPr spc="-195" dirty="0"/>
              <a:t> </a:t>
            </a:r>
            <a:r>
              <a:rPr spc="80" dirty="0"/>
              <a:t>applies</a:t>
            </a:r>
            <a:r>
              <a:rPr spc="-95" dirty="0"/>
              <a:t> </a:t>
            </a:r>
            <a:r>
              <a:rPr spc="80" dirty="0"/>
              <a:t>every</a:t>
            </a:r>
            <a:r>
              <a:rPr spc="-100" dirty="0"/>
              <a:t> </a:t>
            </a:r>
            <a:r>
              <a:rPr spc="105" dirty="0"/>
              <a:t>course</a:t>
            </a:r>
            <a:r>
              <a:rPr spc="-80" dirty="0"/>
              <a:t> </a:t>
            </a:r>
            <a:r>
              <a:rPr spc="95" dirty="0"/>
              <a:t>outcome</a:t>
            </a:r>
            <a:r>
              <a:rPr spc="-80" dirty="0"/>
              <a:t> </a:t>
            </a:r>
            <a:r>
              <a:rPr spc="130" dirty="0"/>
              <a:t>of</a:t>
            </a:r>
            <a:r>
              <a:rPr spc="-105" dirty="0"/>
              <a:t> </a:t>
            </a:r>
            <a:r>
              <a:rPr dirty="0"/>
              <a:t>26SC1101E:</a:t>
            </a:r>
            <a:r>
              <a:rPr spc="-140" dirty="0"/>
              <a:t> </a:t>
            </a:r>
            <a:r>
              <a:rPr spc="95" dirty="0"/>
              <a:t>expressions</a:t>
            </a:r>
            <a:r>
              <a:rPr spc="-95" dirty="0"/>
              <a:t> </a:t>
            </a:r>
            <a:r>
              <a:rPr spc="65" dirty="0"/>
              <a:t>and</a:t>
            </a:r>
            <a:r>
              <a:rPr spc="-90" dirty="0"/>
              <a:t> </a:t>
            </a:r>
            <a:r>
              <a:rPr spc="80" dirty="0"/>
              <a:t>Scanner</a:t>
            </a:r>
            <a:r>
              <a:rPr spc="-140" dirty="0"/>
              <a:t> </a:t>
            </a:r>
            <a:r>
              <a:rPr spc="-80" dirty="0"/>
              <a:t>I/O</a:t>
            </a:r>
            <a:r>
              <a:rPr spc="-110" dirty="0"/>
              <a:t> </a:t>
            </a:r>
            <a:r>
              <a:rPr spc="-10" dirty="0"/>
              <a:t>(CO1),</a:t>
            </a:r>
            <a:r>
              <a:rPr spc="-150" dirty="0"/>
              <a:t> </a:t>
            </a:r>
            <a:r>
              <a:rPr spc="100" dirty="0"/>
              <a:t>selection</a:t>
            </a:r>
            <a:r>
              <a:rPr spc="-165" dirty="0"/>
              <a:t> </a:t>
            </a:r>
            <a:r>
              <a:rPr spc="65" dirty="0"/>
              <a:t>and</a:t>
            </a:r>
            <a:r>
              <a:rPr spc="-90" dirty="0"/>
              <a:t> </a:t>
            </a:r>
            <a:r>
              <a:rPr spc="50" dirty="0"/>
              <a:t>iteration</a:t>
            </a:r>
            <a:r>
              <a:rPr spc="-165" dirty="0"/>
              <a:t> </a:t>
            </a:r>
            <a:r>
              <a:rPr spc="-10" dirty="0"/>
              <a:t>(CO2), </a:t>
            </a:r>
            <a:r>
              <a:rPr spc="70" dirty="0"/>
              <a:t>methods,</a:t>
            </a:r>
            <a:r>
              <a:rPr spc="-165" dirty="0"/>
              <a:t> </a:t>
            </a:r>
            <a:r>
              <a:rPr spc="75" dirty="0"/>
              <a:t>recursion</a:t>
            </a:r>
            <a:r>
              <a:rPr spc="-175" dirty="0"/>
              <a:t> </a:t>
            </a:r>
            <a:r>
              <a:rPr spc="65" dirty="0"/>
              <a:t>and</a:t>
            </a:r>
            <a:r>
              <a:rPr spc="-100" dirty="0"/>
              <a:t> </a:t>
            </a:r>
            <a:r>
              <a:rPr spc="50" dirty="0"/>
              <a:t>arrays</a:t>
            </a:r>
            <a:r>
              <a:rPr spc="-105" dirty="0"/>
              <a:t> </a:t>
            </a:r>
            <a:r>
              <a:rPr spc="55" dirty="0"/>
              <a:t>(CO3),</a:t>
            </a:r>
            <a:r>
              <a:rPr spc="-165" dirty="0"/>
              <a:t> </a:t>
            </a:r>
            <a:r>
              <a:rPr spc="125" dirty="0"/>
              <a:t>OOP</a:t>
            </a:r>
            <a:r>
              <a:rPr spc="-135" dirty="0"/>
              <a:t> </a:t>
            </a:r>
            <a:r>
              <a:rPr spc="50" dirty="0"/>
              <a:t>with</a:t>
            </a:r>
            <a:r>
              <a:rPr spc="-190" dirty="0"/>
              <a:t> </a:t>
            </a:r>
            <a:r>
              <a:rPr spc="75" dirty="0"/>
              <a:t>interfaces,</a:t>
            </a:r>
            <a:r>
              <a:rPr spc="-165" dirty="0"/>
              <a:t> </a:t>
            </a:r>
            <a:r>
              <a:rPr spc="50" dirty="0"/>
              <a:t>inheritance</a:t>
            </a:r>
            <a:r>
              <a:rPr spc="-90" dirty="0"/>
              <a:t> </a:t>
            </a:r>
            <a:r>
              <a:rPr spc="65" dirty="0"/>
              <a:t>and</a:t>
            </a:r>
            <a:r>
              <a:rPr spc="-100" dirty="0"/>
              <a:t> </a:t>
            </a:r>
            <a:r>
              <a:rPr spc="95" dirty="0"/>
              <a:t>custom</a:t>
            </a:r>
            <a:r>
              <a:rPr spc="-135" dirty="0"/>
              <a:t> </a:t>
            </a:r>
            <a:r>
              <a:rPr spc="90" dirty="0"/>
              <a:t>exceptions</a:t>
            </a:r>
            <a:r>
              <a:rPr spc="-110" dirty="0"/>
              <a:t> </a:t>
            </a:r>
            <a:r>
              <a:rPr spc="70" dirty="0"/>
              <a:t>(CO4),</a:t>
            </a:r>
            <a:r>
              <a:rPr spc="-160" dirty="0"/>
              <a:t> </a:t>
            </a:r>
            <a:r>
              <a:rPr spc="65" dirty="0"/>
              <a:t>Strings</a:t>
            </a:r>
            <a:r>
              <a:rPr spc="-105" dirty="0"/>
              <a:t> </a:t>
            </a:r>
            <a:r>
              <a:rPr spc="65" dirty="0"/>
              <a:t>and</a:t>
            </a:r>
            <a:r>
              <a:rPr spc="-105" dirty="0"/>
              <a:t> </a:t>
            </a:r>
            <a:r>
              <a:rPr dirty="0"/>
              <a:t>NIO</a:t>
            </a:r>
            <a:r>
              <a:rPr spc="-120" dirty="0"/>
              <a:t> </a:t>
            </a:r>
            <a:r>
              <a:rPr spc="40" dirty="0"/>
              <a:t>file </a:t>
            </a:r>
            <a:r>
              <a:rPr spc="90" dirty="0"/>
              <a:t>persistence</a:t>
            </a:r>
            <a:r>
              <a:rPr spc="-30" dirty="0"/>
              <a:t> </a:t>
            </a:r>
            <a:r>
              <a:rPr dirty="0"/>
              <a:t>(CO5),</a:t>
            </a:r>
            <a:r>
              <a:rPr spc="-105" dirty="0"/>
              <a:t> </a:t>
            </a:r>
            <a:r>
              <a:rPr spc="65" dirty="0"/>
              <a:t>and</a:t>
            </a:r>
            <a:r>
              <a:rPr spc="-40" dirty="0"/>
              <a:t> </a:t>
            </a:r>
            <a:r>
              <a:rPr spc="100" dirty="0"/>
              <a:t>Collections</a:t>
            </a:r>
            <a:r>
              <a:rPr spc="-45" dirty="0"/>
              <a:t> </a:t>
            </a:r>
            <a:r>
              <a:rPr spc="50" dirty="0"/>
              <a:t>with</a:t>
            </a:r>
            <a:r>
              <a:rPr spc="-135" dirty="0"/>
              <a:t> </a:t>
            </a:r>
            <a:r>
              <a:rPr spc="85" dirty="0"/>
              <a:t>lambdas</a:t>
            </a:r>
            <a:r>
              <a:rPr spc="-40" dirty="0"/>
              <a:t> </a:t>
            </a:r>
            <a:r>
              <a:rPr spc="65" dirty="0"/>
              <a:t>and</a:t>
            </a:r>
            <a:r>
              <a:rPr spc="-40" dirty="0"/>
              <a:t> </a:t>
            </a:r>
            <a:r>
              <a:rPr dirty="0"/>
              <a:t>Stream</a:t>
            </a:r>
            <a:r>
              <a:rPr spc="-80" dirty="0"/>
              <a:t> </a:t>
            </a:r>
            <a:r>
              <a:rPr spc="75" dirty="0"/>
              <a:t>pipelines</a:t>
            </a:r>
            <a:r>
              <a:rPr spc="-40" dirty="0"/>
              <a:t> </a:t>
            </a:r>
            <a:r>
              <a:rPr spc="45" dirty="0"/>
              <a:t>(CO6).</a:t>
            </a:r>
          </a:p>
          <a:p>
            <a:pPr marL="12700" marR="1243330">
              <a:lnSpc>
                <a:spcPct val="116700"/>
              </a:lnSpc>
            </a:pPr>
            <a:r>
              <a:rPr dirty="0"/>
              <a:t>The</a:t>
            </a:r>
            <a:r>
              <a:rPr spc="-55" dirty="0"/>
              <a:t> </a:t>
            </a:r>
            <a:r>
              <a:rPr dirty="0"/>
              <a:t>result</a:t>
            </a:r>
            <a:r>
              <a:rPr spc="-175" dirty="0"/>
              <a:t> </a:t>
            </a:r>
            <a:r>
              <a:rPr spc="114" dirty="0"/>
              <a:t>is</a:t>
            </a:r>
            <a:r>
              <a:rPr spc="-70" dirty="0"/>
              <a:t> </a:t>
            </a:r>
            <a:r>
              <a:rPr spc="80" dirty="0"/>
              <a:t>a</a:t>
            </a:r>
            <a:r>
              <a:rPr spc="-90" dirty="0"/>
              <a:t> </a:t>
            </a:r>
            <a:r>
              <a:rPr dirty="0"/>
              <a:t>modular,</a:t>
            </a:r>
            <a:r>
              <a:rPr spc="-130" dirty="0"/>
              <a:t> </a:t>
            </a:r>
            <a:r>
              <a:rPr spc="45" dirty="0"/>
              <a:t>maintainable</a:t>
            </a:r>
            <a:r>
              <a:rPr spc="-55" dirty="0"/>
              <a:t> </a:t>
            </a:r>
            <a:r>
              <a:rPr spc="50" dirty="0"/>
              <a:t>tracker</a:t>
            </a:r>
            <a:r>
              <a:rPr spc="-114" dirty="0"/>
              <a:t> </a:t>
            </a:r>
            <a:r>
              <a:rPr dirty="0"/>
              <a:t>that</a:t>
            </a:r>
            <a:r>
              <a:rPr spc="-175" dirty="0"/>
              <a:t> </a:t>
            </a:r>
            <a:r>
              <a:rPr spc="100" dirty="0"/>
              <a:t>saves</a:t>
            </a:r>
            <a:r>
              <a:rPr spc="-70" dirty="0"/>
              <a:t> </a:t>
            </a:r>
            <a:r>
              <a:rPr spc="55" dirty="0"/>
              <a:t>workouts</a:t>
            </a:r>
            <a:r>
              <a:rPr spc="-70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spc="114" dirty="0"/>
              <a:t>disk</a:t>
            </a:r>
            <a:r>
              <a:rPr spc="-120" dirty="0"/>
              <a:t> </a:t>
            </a:r>
            <a:r>
              <a:rPr spc="65" dirty="0"/>
              <a:t>and</a:t>
            </a:r>
            <a:r>
              <a:rPr spc="-65" dirty="0"/>
              <a:t> </a:t>
            </a:r>
            <a:r>
              <a:rPr spc="100" dirty="0"/>
              <a:t>produces</a:t>
            </a:r>
            <a:r>
              <a:rPr spc="-70" dirty="0"/>
              <a:t> </a:t>
            </a:r>
            <a:r>
              <a:rPr spc="70" dirty="0"/>
              <a:t>analytics</a:t>
            </a:r>
            <a:r>
              <a:rPr spc="-70" dirty="0"/>
              <a:t> </a:t>
            </a:r>
            <a:r>
              <a:rPr spc="110" dirty="0"/>
              <a:t>such</a:t>
            </a:r>
            <a:r>
              <a:rPr spc="-160" dirty="0"/>
              <a:t> </a:t>
            </a:r>
            <a:r>
              <a:rPr spc="114" dirty="0"/>
              <a:t>as</a:t>
            </a:r>
            <a:r>
              <a:rPr spc="-70" dirty="0"/>
              <a:t> </a:t>
            </a:r>
            <a:r>
              <a:rPr spc="80" dirty="0"/>
              <a:t>high-</a:t>
            </a:r>
            <a:r>
              <a:rPr spc="30" dirty="0"/>
              <a:t>burn </a:t>
            </a:r>
            <a:r>
              <a:rPr spc="110" dirty="0"/>
              <a:t>sessions,</a:t>
            </a:r>
            <a:r>
              <a:rPr spc="-140" dirty="0"/>
              <a:t> </a:t>
            </a:r>
            <a:r>
              <a:rPr spc="50" dirty="0"/>
              <a:t>workout</a:t>
            </a:r>
            <a:r>
              <a:rPr spc="-175" dirty="0"/>
              <a:t> </a:t>
            </a:r>
            <a:r>
              <a:rPr spc="80" dirty="0"/>
              <a:t>frequency</a:t>
            </a:r>
            <a:r>
              <a:rPr spc="-85" dirty="0"/>
              <a:t> </a:t>
            </a:r>
            <a:r>
              <a:rPr spc="65" dirty="0"/>
              <a:t>and</a:t>
            </a:r>
            <a:r>
              <a:rPr spc="-70" dirty="0"/>
              <a:t> </a:t>
            </a:r>
            <a:r>
              <a:rPr dirty="0"/>
              <a:t>total</a:t>
            </a:r>
            <a:r>
              <a:rPr spc="-114" dirty="0"/>
              <a:t> </a:t>
            </a:r>
            <a:r>
              <a:rPr spc="75" dirty="0"/>
              <a:t>energy</a:t>
            </a:r>
            <a:r>
              <a:rPr spc="-80" dirty="0"/>
              <a:t> </a:t>
            </a:r>
            <a:r>
              <a:rPr spc="75" dirty="0"/>
              <a:t>expended.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16-10-</a:t>
            </a:r>
            <a:r>
              <a:rPr spc="85" dirty="0"/>
              <a:t>2026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9800" y="492125"/>
            <a:ext cx="3332479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45" dirty="0">
                <a:solidFill>
                  <a:srgbClr val="B3121B"/>
                </a:solidFill>
                <a:latin typeface="Tahoma"/>
                <a:cs typeface="Tahoma"/>
              </a:rPr>
              <a:t>KL</a:t>
            </a:r>
            <a:r>
              <a:rPr sz="1650" b="1" spc="-145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100" dirty="0">
                <a:solidFill>
                  <a:srgbClr val="B3121B"/>
                </a:solidFill>
                <a:latin typeface="Tahoma"/>
                <a:cs typeface="Tahoma"/>
              </a:rPr>
              <a:t>UNIVERSITY </a:t>
            </a:r>
            <a:r>
              <a:rPr sz="1650" b="1" spc="-120" dirty="0">
                <a:solidFill>
                  <a:srgbClr val="B3121B"/>
                </a:solidFill>
                <a:latin typeface="Tahoma"/>
                <a:cs typeface="Tahoma"/>
              </a:rPr>
              <a:t>·</a:t>
            </a:r>
            <a:r>
              <a:rPr sz="1650" b="1" spc="-150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55" dirty="0">
                <a:solidFill>
                  <a:srgbClr val="B3121B"/>
                </a:solidFill>
                <a:latin typeface="Tahoma"/>
                <a:cs typeface="Tahoma"/>
              </a:rPr>
              <a:t>FitPulse</a:t>
            </a:r>
            <a:r>
              <a:rPr sz="1650" b="1" spc="-114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B3121B"/>
                </a:solidFill>
                <a:latin typeface="Tahoma"/>
                <a:cs typeface="Tahoma"/>
              </a:rPr>
              <a:t>Tracker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80" dirty="0"/>
              <a:t>Understanding</a:t>
            </a:r>
            <a:r>
              <a:rPr spc="-755" dirty="0"/>
              <a:t> </a:t>
            </a:r>
            <a:r>
              <a:rPr spc="-360" dirty="0"/>
              <a:t>Problem</a:t>
            </a:r>
            <a:r>
              <a:rPr spc="-755" dirty="0"/>
              <a:t> </a:t>
            </a:r>
            <a:r>
              <a:rPr spc="-270" dirty="0"/>
              <a:t>Statement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9800" y="2479423"/>
            <a:ext cx="7633970" cy="3839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b="1" spc="-85" dirty="0">
                <a:solidFill>
                  <a:srgbClr val="B3121B"/>
                </a:solidFill>
                <a:latin typeface="Arial"/>
                <a:cs typeface="Arial"/>
              </a:rPr>
              <a:t>The</a:t>
            </a:r>
            <a:r>
              <a:rPr sz="2950" b="1" spc="-185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10" dirty="0">
                <a:solidFill>
                  <a:srgbClr val="B3121B"/>
                </a:solidFill>
                <a:latin typeface="Arial"/>
                <a:cs typeface="Arial"/>
              </a:rPr>
              <a:t>problem</a:t>
            </a:r>
            <a:endParaRPr sz="2950">
              <a:latin typeface="Arial"/>
              <a:cs typeface="Arial"/>
            </a:endParaRPr>
          </a:p>
          <a:p>
            <a:pPr marL="374015" marR="5080" indent="-361950">
              <a:lnSpc>
                <a:spcPct val="116700"/>
              </a:lnSpc>
              <a:spcBef>
                <a:spcPts val="1285"/>
              </a:spcBef>
              <a:buClr>
                <a:srgbClr val="B3121B"/>
              </a:buClr>
              <a:buChar char="•"/>
              <a:tabLst>
                <a:tab pos="374015" algn="l"/>
              </a:tabLst>
            </a:pPr>
            <a:r>
              <a:rPr sz="2250" spc="105" dirty="0">
                <a:solidFill>
                  <a:srgbClr val="222222"/>
                </a:solidFill>
                <a:latin typeface="Tahoma"/>
                <a:cs typeface="Tahoma"/>
              </a:rPr>
              <a:t>People</a:t>
            </a:r>
            <a:r>
              <a:rPr sz="2250" spc="-10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track</a:t>
            </a:r>
            <a:r>
              <a:rPr sz="2250" spc="-17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5" dirty="0">
                <a:solidFill>
                  <a:srgbClr val="222222"/>
                </a:solidFill>
                <a:latin typeface="Tahoma"/>
                <a:cs typeface="Tahoma"/>
              </a:rPr>
              <a:t>workouts</a:t>
            </a:r>
            <a:r>
              <a:rPr sz="2250" spc="-114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0" dirty="0">
                <a:solidFill>
                  <a:srgbClr val="222222"/>
                </a:solidFill>
                <a:latin typeface="Tahoma"/>
                <a:cs typeface="Tahoma"/>
              </a:rPr>
              <a:t>in</a:t>
            </a:r>
            <a:r>
              <a:rPr sz="2250" spc="-18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05" dirty="0">
                <a:solidFill>
                  <a:srgbClr val="222222"/>
                </a:solidFill>
                <a:latin typeface="Tahoma"/>
                <a:cs typeface="Tahoma"/>
              </a:rPr>
              <a:t>notebooks</a:t>
            </a:r>
            <a:r>
              <a:rPr sz="2250" spc="-114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95" dirty="0">
                <a:solidFill>
                  <a:srgbClr val="222222"/>
                </a:solidFill>
                <a:latin typeface="Tahoma"/>
                <a:cs typeface="Tahoma"/>
              </a:rPr>
              <a:t>or</a:t>
            </a:r>
            <a:r>
              <a:rPr sz="2250" spc="-15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80" dirty="0">
                <a:solidFill>
                  <a:srgbClr val="222222"/>
                </a:solidFill>
                <a:latin typeface="Tahoma"/>
                <a:cs typeface="Tahoma"/>
              </a:rPr>
              <a:t>scattered</a:t>
            </a:r>
            <a:r>
              <a:rPr sz="2250" spc="-1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5" dirty="0">
                <a:solidFill>
                  <a:srgbClr val="222222"/>
                </a:solidFill>
                <a:latin typeface="Tahoma"/>
                <a:cs typeface="Tahoma"/>
              </a:rPr>
              <a:t>apps, </a:t>
            </a:r>
            <a:r>
              <a:rPr sz="2250" spc="80" dirty="0">
                <a:solidFill>
                  <a:srgbClr val="222222"/>
                </a:solidFill>
                <a:latin typeface="Tahoma"/>
                <a:cs typeface="Tahoma"/>
              </a:rPr>
              <a:t>losing</a:t>
            </a:r>
            <a:r>
              <a:rPr sz="2250" spc="-7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5" dirty="0">
                <a:solidFill>
                  <a:srgbClr val="222222"/>
                </a:solidFill>
                <a:latin typeface="Tahoma"/>
                <a:cs typeface="Tahoma"/>
              </a:rPr>
              <a:t>history</a:t>
            </a:r>
            <a:r>
              <a:rPr sz="2250" spc="-10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and</a:t>
            </a:r>
            <a:r>
              <a:rPr sz="2250" spc="-9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0" dirty="0">
                <a:solidFill>
                  <a:srgbClr val="222222"/>
                </a:solidFill>
                <a:latin typeface="Tahoma"/>
                <a:cs typeface="Tahoma"/>
              </a:rPr>
              <a:t>insight</a:t>
            </a:r>
            <a:endParaRPr sz="2250">
              <a:latin typeface="Tahoma"/>
              <a:cs typeface="Tahoma"/>
            </a:endParaRPr>
          </a:p>
          <a:p>
            <a:pPr marL="374015" marR="447675" indent="-361950">
              <a:lnSpc>
                <a:spcPct val="116700"/>
              </a:lnSpc>
              <a:buClr>
                <a:srgbClr val="B3121B"/>
              </a:buClr>
              <a:buChar char="•"/>
              <a:tabLst>
                <a:tab pos="374015" algn="l"/>
              </a:tabLst>
            </a:pP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BMI,</a:t>
            </a:r>
            <a:r>
              <a:rPr sz="2250" spc="-12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85" dirty="0">
                <a:solidFill>
                  <a:srgbClr val="222222"/>
                </a:solidFill>
                <a:latin typeface="Tahoma"/>
                <a:cs typeface="Tahoma"/>
              </a:rPr>
              <a:t>calorie</a:t>
            </a:r>
            <a:r>
              <a:rPr sz="2250" spc="-4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0" dirty="0">
                <a:solidFill>
                  <a:srgbClr val="222222"/>
                </a:solidFill>
                <a:latin typeface="Tahoma"/>
                <a:cs typeface="Tahoma"/>
              </a:rPr>
              <a:t>burn</a:t>
            </a:r>
            <a:r>
              <a:rPr sz="2250" spc="-13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and</a:t>
            </a:r>
            <a:r>
              <a:rPr sz="2250" spc="-5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85" dirty="0">
                <a:solidFill>
                  <a:srgbClr val="222222"/>
                </a:solidFill>
                <a:latin typeface="Tahoma"/>
                <a:cs typeface="Tahoma"/>
              </a:rPr>
              <a:t>progress</a:t>
            </a:r>
            <a:r>
              <a:rPr sz="2250" spc="-6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are</a:t>
            </a:r>
            <a:r>
              <a:rPr sz="2250" spc="-4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rarely</a:t>
            </a:r>
            <a:r>
              <a:rPr sz="2250" spc="-6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calculated </a:t>
            </a:r>
            <a:r>
              <a:rPr sz="2250" spc="70" dirty="0">
                <a:solidFill>
                  <a:srgbClr val="222222"/>
                </a:solidFill>
                <a:latin typeface="Tahoma"/>
                <a:cs typeface="Tahoma"/>
              </a:rPr>
              <a:t>consistently</a:t>
            </a:r>
            <a:endParaRPr sz="2250">
              <a:latin typeface="Tahoma"/>
              <a:cs typeface="Tahoma"/>
            </a:endParaRPr>
          </a:p>
          <a:p>
            <a:pPr marL="374015" marR="651510" indent="-361950">
              <a:lnSpc>
                <a:spcPct val="116700"/>
              </a:lnSpc>
              <a:buClr>
                <a:srgbClr val="B3121B"/>
              </a:buClr>
              <a:buChar char="•"/>
              <a:tabLst>
                <a:tab pos="374015" algn="l"/>
              </a:tabLst>
            </a:pP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Invalid</a:t>
            </a:r>
            <a:r>
              <a:rPr sz="2250" spc="-8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entries</a:t>
            </a:r>
            <a:r>
              <a:rPr sz="2250" spc="-8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(e.g.</a:t>
            </a:r>
            <a:r>
              <a:rPr sz="2250" spc="-13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30" dirty="0">
                <a:solidFill>
                  <a:srgbClr val="222222"/>
                </a:solidFill>
                <a:latin typeface="Tahoma"/>
                <a:cs typeface="Tahoma"/>
              </a:rPr>
              <a:t>zero-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minute</a:t>
            </a:r>
            <a:r>
              <a:rPr sz="2250" spc="-7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10" dirty="0">
                <a:solidFill>
                  <a:srgbClr val="222222"/>
                </a:solidFill>
                <a:latin typeface="Tahoma"/>
                <a:cs typeface="Tahoma"/>
              </a:rPr>
              <a:t>sessions)</a:t>
            </a:r>
            <a:r>
              <a:rPr sz="2250" spc="-10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0" dirty="0">
                <a:solidFill>
                  <a:srgbClr val="222222"/>
                </a:solidFill>
                <a:latin typeface="Tahoma"/>
                <a:cs typeface="Tahoma"/>
              </a:rPr>
              <a:t>corrupt </a:t>
            </a:r>
            <a:r>
              <a:rPr sz="2250" spc="85" dirty="0">
                <a:solidFill>
                  <a:srgbClr val="222222"/>
                </a:solidFill>
                <a:latin typeface="Tahoma"/>
                <a:cs typeface="Tahoma"/>
              </a:rPr>
              <a:t>records</a:t>
            </a:r>
            <a:endParaRPr sz="2250">
              <a:latin typeface="Tahoma"/>
              <a:cs typeface="Tahoma"/>
            </a:endParaRPr>
          </a:p>
          <a:p>
            <a:pPr marL="374015" marR="207645" indent="-361950">
              <a:lnSpc>
                <a:spcPct val="116700"/>
              </a:lnSpc>
              <a:buClr>
                <a:srgbClr val="B3121B"/>
              </a:buClr>
              <a:buChar char="•"/>
              <a:tabLst>
                <a:tab pos="374015" algn="l"/>
              </a:tabLst>
            </a:pPr>
            <a:r>
              <a:rPr sz="2250" spc="145" dirty="0">
                <a:solidFill>
                  <a:srgbClr val="222222"/>
                </a:solidFill>
                <a:latin typeface="Tahoma"/>
                <a:cs typeface="Tahoma"/>
              </a:rPr>
              <a:t>No</a:t>
            </a:r>
            <a:r>
              <a:rPr sz="2250" spc="-5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0" dirty="0">
                <a:solidFill>
                  <a:srgbClr val="222222"/>
                </a:solidFill>
                <a:latin typeface="Tahoma"/>
                <a:cs typeface="Tahoma"/>
              </a:rPr>
              <a:t>simple</a:t>
            </a:r>
            <a:r>
              <a:rPr sz="2250" spc="-9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summary</a:t>
            </a:r>
            <a:r>
              <a:rPr sz="2250" spc="-1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30" dirty="0">
                <a:solidFill>
                  <a:srgbClr val="222222"/>
                </a:solidFill>
                <a:latin typeface="Tahoma"/>
                <a:cs typeface="Tahoma"/>
              </a:rPr>
              <a:t>of</a:t>
            </a:r>
            <a:r>
              <a:rPr sz="2250" spc="-114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85" dirty="0">
                <a:solidFill>
                  <a:srgbClr val="222222"/>
                </a:solidFill>
                <a:latin typeface="Tahoma"/>
                <a:cs typeface="Tahoma"/>
              </a:rPr>
              <a:t>which</a:t>
            </a:r>
            <a:r>
              <a:rPr sz="2250" spc="-19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5" dirty="0">
                <a:solidFill>
                  <a:srgbClr val="222222"/>
                </a:solidFill>
                <a:latin typeface="Tahoma"/>
                <a:cs typeface="Tahoma"/>
              </a:rPr>
              <a:t>workouts</a:t>
            </a:r>
            <a:r>
              <a:rPr sz="2250" spc="-10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0" dirty="0">
                <a:solidFill>
                  <a:srgbClr val="222222"/>
                </a:solidFill>
                <a:latin typeface="Tahoma"/>
                <a:cs typeface="Tahoma"/>
              </a:rPr>
              <a:t>burn</a:t>
            </a:r>
            <a:r>
              <a:rPr sz="2250" spc="-17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the</a:t>
            </a:r>
            <a:r>
              <a:rPr sz="2250" spc="-9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85" dirty="0">
                <a:solidFill>
                  <a:srgbClr val="222222"/>
                </a:solidFill>
                <a:latin typeface="Tahoma"/>
                <a:cs typeface="Tahoma"/>
              </a:rPr>
              <a:t>most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energy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12299" y="2479423"/>
            <a:ext cx="7745095" cy="3039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b="1" spc="-120" dirty="0">
                <a:solidFill>
                  <a:srgbClr val="B3121B"/>
                </a:solidFill>
                <a:latin typeface="Arial"/>
                <a:cs typeface="Arial"/>
              </a:rPr>
              <a:t>Our</a:t>
            </a:r>
            <a:r>
              <a:rPr sz="2950" b="1" spc="-220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150" dirty="0">
                <a:solidFill>
                  <a:srgbClr val="B3121B"/>
                </a:solidFill>
                <a:latin typeface="Arial"/>
                <a:cs typeface="Arial"/>
              </a:rPr>
              <a:t>solution:</a:t>
            </a:r>
            <a:r>
              <a:rPr sz="2950" b="1" spc="-204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120" dirty="0">
                <a:solidFill>
                  <a:srgbClr val="B3121B"/>
                </a:solidFill>
                <a:latin typeface="Arial"/>
                <a:cs typeface="Arial"/>
              </a:rPr>
              <a:t>inputs</a:t>
            </a:r>
            <a:r>
              <a:rPr sz="2950" b="1" spc="-195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B3121B"/>
                </a:solidFill>
                <a:latin typeface="Times New Roman"/>
                <a:cs typeface="Times New Roman"/>
              </a:rPr>
              <a:t>→</a:t>
            </a:r>
            <a:r>
              <a:rPr sz="2700" b="1" spc="-70" dirty="0">
                <a:solidFill>
                  <a:srgbClr val="B3121B"/>
                </a:solidFill>
                <a:latin typeface="Times New Roman"/>
                <a:cs typeface="Times New Roman"/>
              </a:rPr>
              <a:t> </a:t>
            </a:r>
            <a:r>
              <a:rPr sz="2950" b="1" spc="-175" dirty="0">
                <a:solidFill>
                  <a:srgbClr val="B3121B"/>
                </a:solidFill>
                <a:latin typeface="Arial"/>
                <a:cs typeface="Arial"/>
              </a:rPr>
              <a:t>process</a:t>
            </a:r>
            <a:r>
              <a:rPr sz="2950" b="1" spc="-195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B3121B"/>
                </a:solidFill>
                <a:latin typeface="Times New Roman"/>
                <a:cs typeface="Times New Roman"/>
              </a:rPr>
              <a:t>→</a:t>
            </a:r>
            <a:r>
              <a:rPr sz="2700" b="1" spc="-75" dirty="0">
                <a:solidFill>
                  <a:srgbClr val="B3121B"/>
                </a:solidFill>
                <a:latin typeface="Times New Roman"/>
                <a:cs typeface="Times New Roman"/>
              </a:rPr>
              <a:t> </a:t>
            </a:r>
            <a:r>
              <a:rPr sz="2950" b="1" spc="-10" dirty="0">
                <a:solidFill>
                  <a:srgbClr val="B3121B"/>
                </a:solidFill>
                <a:latin typeface="Arial"/>
                <a:cs typeface="Arial"/>
              </a:rPr>
              <a:t>output</a:t>
            </a:r>
            <a:endParaRPr sz="2950">
              <a:latin typeface="Arial"/>
              <a:cs typeface="Arial"/>
            </a:endParaRPr>
          </a:p>
          <a:p>
            <a:pPr marL="374015" marR="1140460" indent="-361950">
              <a:lnSpc>
                <a:spcPct val="116700"/>
              </a:lnSpc>
              <a:spcBef>
                <a:spcPts val="1285"/>
              </a:spcBef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135" dirty="0">
                <a:solidFill>
                  <a:srgbClr val="222222"/>
                </a:solidFill>
                <a:latin typeface="Tahoma"/>
                <a:cs typeface="Tahoma"/>
              </a:rPr>
              <a:t>Input:</a:t>
            </a:r>
            <a:r>
              <a:rPr sz="2250" b="1" spc="-3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45" dirty="0">
                <a:solidFill>
                  <a:srgbClr val="222222"/>
                </a:solidFill>
                <a:latin typeface="Tahoma"/>
                <a:cs typeface="Tahoma"/>
              </a:rPr>
              <a:t>profile,</a:t>
            </a:r>
            <a:r>
              <a:rPr sz="2250" spc="-1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0" dirty="0">
                <a:solidFill>
                  <a:srgbClr val="222222"/>
                </a:solidFill>
                <a:latin typeface="Tahoma"/>
                <a:cs typeface="Tahoma"/>
              </a:rPr>
              <a:t>goal,</a:t>
            </a:r>
            <a:r>
              <a:rPr sz="2250" spc="-1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streak,</a:t>
            </a:r>
            <a:r>
              <a:rPr sz="2250" spc="-1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5" dirty="0">
                <a:solidFill>
                  <a:srgbClr val="222222"/>
                </a:solidFill>
                <a:latin typeface="Tahoma"/>
                <a:cs typeface="Tahoma"/>
              </a:rPr>
              <a:t>daily</a:t>
            </a:r>
            <a:r>
              <a:rPr sz="2250" spc="-6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5" dirty="0">
                <a:solidFill>
                  <a:srgbClr val="222222"/>
                </a:solidFill>
                <a:latin typeface="Tahoma"/>
                <a:cs typeface="Tahoma"/>
              </a:rPr>
              <a:t>steps,</a:t>
            </a:r>
            <a:r>
              <a:rPr sz="2250" spc="-1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40" dirty="0">
                <a:solidFill>
                  <a:srgbClr val="222222"/>
                </a:solidFill>
                <a:latin typeface="Tahoma"/>
                <a:cs typeface="Tahoma"/>
              </a:rPr>
              <a:t>workout </a:t>
            </a:r>
            <a:r>
              <a:rPr sz="2250" spc="120" dirty="0">
                <a:solidFill>
                  <a:srgbClr val="222222"/>
                </a:solidFill>
                <a:latin typeface="Tahoma"/>
                <a:cs typeface="Tahoma"/>
              </a:rPr>
              <a:t>sessions</a:t>
            </a:r>
            <a:endParaRPr sz="2250">
              <a:latin typeface="Tahoma"/>
              <a:cs typeface="Tahoma"/>
            </a:endParaRPr>
          </a:p>
          <a:p>
            <a:pPr marL="374015" marR="376555" indent="-361950">
              <a:lnSpc>
                <a:spcPct val="116700"/>
              </a:lnSpc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dirty="0">
                <a:solidFill>
                  <a:srgbClr val="222222"/>
                </a:solidFill>
                <a:latin typeface="Tahoma"/>
                <a:cs typeface="Tahoma"/>
              </a:rPr>
              <a:t>Process:</a:t>
            </a:r>
            <a:r>
              <a:rPr sz="2250" b="1" spc="-13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0" dirty="0">
                <a:solidFill>
                  <a:srgbClr val="222222"/>
                </a:solidFill>
                <a:latin typeface="Tahoma"/>
                <a:cs typeface="Tahoma"/>
              </a:rPr>
              <a:t>BMI</a:t>
            </a:r>
            <a:r>
              <a:rPr sz="2250" spc="-16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&amp;</a:t>
            </a:r>
            <a:r>
              <a:rPr sz="2250" spc="-10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85" dirty="0">
                <a:solidFill>
                  <a:srgbClr val="222222"/>
                </a:solidFill>
                <a:latin typeface="Tahoma"/>
                <a:cs typeface="Tahoma"/>
              </a:rPr>
              <a:t>category,</a:t>
            </a:r>
            <a:r>
              <a:rPr sz="2250" spc="-18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85" dirty="0">
                <a:solidFill>
                  <a:srgbClr val="222222"/>
                </a:solidFill>
                <a:latin typeface="Tahoma"/>
                <a:cs typeface="Tahoma"/>
              </a:rPr>
              <a:t>calorie</a:t>
            </a:r>
            <a:r>
              <a:rPr sz="2250" spc="-12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05" dirty="0">
                <a:solidFill>
                  <a:srgbClr val="222222"/>
                </a:solidFill>
                <a:latin typeface="Tahoma"/>
                <a:cs typeface="Tahoma"/>
              </a:rPr>
              <a:t>models</a:t>
            </a:r>
            <a:r>
              <a:rPr sz="2250" spc="-14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5" dirty="0">
                <a:solidFill>
                  <a:srgbClr val="222222"/>
                </a:solidFill>
                <a:latin typeface="Tahoma"/>
                <a:cs typeface="Tahoma"/>
              </a:rPr>
              <a:t>per</a:t>
            </a:r>
            <a:r>
              <a:rPr sz="2250" spc="-17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0" dirty="0">
                <a:solidFill>
                  <a:srgbClr val="222222"/>
                </a:solidFill>
                <a:latin typeface="Tahoma"/>
                <a:cs typeface="Tahoma"/>
              </a:rPr>
              <a:t>activity </a:t>
            </a:r>
            <a:r>
              <a:rPr sz="2250" spc="50" dirty="0">
                <a:solidFill>
                  <a:srgbClr val="222222"/>
                </a:solidFill>
                <a:latin typeface="Tahoma"/>
                <a:cs typeface="Tahoma"/>
              </a:rPr>
              <a:t>type,</a:t>
            </a:r>
            <a:r>
              <a:rPr sz="2250" spc="-16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45" dirty="0">
                <a:solidFill>
                  <a:srgbClr val="222222"/>
                </a:solidFill>
                <a:latin typeface="Tahoma"/>
                <a:cs typeface="Tahoma"/>
              </a:rPr>
              <a:t>validation,</a:t>
            </a:r>
            <a:r>
              <a:rPr sz="2250" spc="-16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5" dirty="0">
                <a:solidFill>
                  <a:srgbClr val="222222"/>
                </a:solidFill>
                <a:latin typeface="Tahoma"/>
                <a:cs typeface="Tahoma"/>
              </a:rPr>
              <a:t>sorting</a:t>
            </a:r>
            <a:r>
              <a:rPr sz="2250" spc="-7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and</a:t>
            </a:r>
            <a:r>
              <a:rPr sz="2250" spc="-10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0" dirty="0">
                <a:solidFill>
                  <a:srgbClr val="222222"/>
                </a:solidFill>
                <a:latin typeface="Tahoma"/>
                <a:cs typeface="Tahoma"/>
              </a:rPr>
              <a:t>grouping</a:t>
            </a:r>
            <a:endParaRPr sz="2250">
              <a:latin typeface="Tahoma"/>
              <a:cs typeface="Tahoma"/>
            </a:endParaRPr>
          </a:p>
          <a:p>
            <a:pPr marL="374015" marR="5080" indent="-361950">
              <a:lnSpc>
                <a:spcPct val="116700"/>
              </a:lnSpc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50" dirty="0">
                <a:solidFill>
                  <a:srgbClr val="222222"/>
                </a:solidFill>
                <a:latin typeface="Tahoma"/>
                <a:cs typeface="Tahoma"/>
              </a:rPr>
              <a:t>Output:</a:t>
            </a:r>
            <a:r>
              <a:rPr sz="2250" b="1" spc="3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health</a:t>
            </a:r>
            <a:r>
              <a:rPr sz="2250" spc="-9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report,</a:t>
            </a:r>
            <a:r>
              <a:rPr sz="2250" spc="-5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95" dirty="0">
                <a:solidFill>
                  <a:srgbClr val="222222"/>
                </a:solidFill>
                <a:latin typeface="Tahoma"/>
                <a:cs typeface="Tahoma"/>
              </a:rPr>
              <a:t>saved</a:t>
            </a:r>
            <a:r>
              <a:rPr sz="2250" spc="1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95" dirty="0">
                <a:solidFill>
                  <a:srgbClr val="222222"/>
                </a:solidFill>
                <a:latin typeface="Tahoma"/>
                <a:cs typeface="Tahoma"/>
              </a:rPr>
              <a:t>records</a:t>
            </a:r>
            <a:r>
              <a:rPr sz="225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file,</a:t>
            </a:r>
            <a:r>
              <a:rPr sz="2250" spc="-5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stream-</a:t>
            </a:r>
            <a:r>
              <a:rPr sz="2250" spc="110" dirty="0">
                <a:solidFill>
                  <a:srgbClr val="222222"/>
                </a:solidFill>
                <a:latin typeface="Tahoma"/>
                <a:cs typeface="Tahoma"/>
              </a:rPr>
              <a:t>based </a:t>
            </a:r>
            <a:r>
              <a:rPr sz="2250" spc="60" dirty="0">
                <a:solidFill>
                  <a:srgbClr val="222222"/>
                </a:solidFill>
                <a:latin typeface="Tahoma"/>
                <a:cs typeface="Tahoma"/>
              </a:rPr>
              <a:t>analytics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16-10-</a:t>
            </a:r>
            <a:r>
              <a:rPr spc="85" dirty="0"/>
              <a:t>2026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9800" y="492125"/>
            <a:ext cx="3332479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45" dirty="0">
                <a:solidFill>
                  <a:srgbClr val="B3121B"/>
                </a:solidFill>
                <a:latin typeface="Tahoma"/>
                <a:cs typeface="Tahoma"/>
              </a:rPr>
              <a:t>KL</a:t>
            </a:r>
            <a:r>
              <a:rPr sz="1650" b="1" spc="-145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100" dirty="0">
                <a:solidFill>
                  <a:srgbClr val="B3121B"/>
                </a:solidFill>
                <a:latin typeface="Tahoma"/>
                <a:cs typeface="Tahoma"/>
              </a:rPr>
              <a:t>UNIVERSITY </a:t>
            </a:r>
            <a:r>
              <a:rPr sz="1650" b="1" spc="-120" dirty="0">
                <a:solidFill>
                  <a:srgbClr val="B3121B"/>
                </a:solidFill>
                <a:latin typeface="Tahoma"/>
                <a:cs typeface="Tahoma"/>
              </a:rPr>
              <a:t>·</a:t>
            </a:r>
            <a:r>
              <a:rPr sz="1650" b="1" spc="-150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55" dirty="0">
                <a:solidFill>
                  <a:srgbClr val="B3121B"/>
                </a:solidFill>
                <a:latin typeface="Tahoma"/>
                <a:cs typeface="Tahoma"/>
              </a:rPr>
              <a:t>FitPulse</a:t>
            </a:r>
            <a:r>
              <a:rPr sz="1650" b="1" spc="-114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B3121B"/>
                </a:solidFill>
                <a:latin typeface="Tahoma"/>
                <a:cs typeface="Tahoma"/>
              </a:rPr>
              <a:t>Tracker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5" dirty="0"/>
              <a:t>CO1</a:t>
            </a:r>
            <a:r>
              <a:rPr spc="-785" dirty="0"/>
              <a:t> </a:t>
            </a:r>
            <a:r>
              <a:rPr spc="-1019" dirty="0"/>
              <a:t>T</a:t>
            </a:r>
            <a:r>
              <a:rPr spc="-440" dirty="0"/>
              <a:t>o</a:t>
            </a:r>
            <a:r>
              <a:rPr spc="-415" dirty="0"/>
              <a:t>p</a:t>
            </a:r>
            <a:r>
              <a:rPr spc="-425" dirty="0"/>
              <a:t>i</a:t>
            </a:r>
            <a:r>
              <a:rPr spc="-415" dirty="0"/>
              <a:t>c</a:t>
            </a:r>
            <a:r>
              <a:rPr spc="-315"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9800" y="2384173"/>
            <a:ext cx="8047990" cy="3439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b="1" spc="-125" dirty="0">
                <a:solidFill>
                  <a:srgbClr val="B3121B"/>
                </a:solidFill>
                <a:latin typeface="Arial"/>
                <a:cs typeface="Arial"/>
              </a:rPr>
              <a:t>Problem</a:t>
            </a:r>
            <a:r>
              <a:rPr sz="2950" b="1" spc="-210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60" dirty="0">
                <a:solidFill>
                  <a:srgbClr val="B3121B"/>
                </a:solidFill>
                <a:latin typeface="Arial"/>
                <a:cs typeface="Arial"/>
              </a:rPr>
              <a:t>to</a:t>
            </a:r>
            <a:r>
              <a:rPr sz="2950" b="1" spc="-254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160" dirty="0">
                <a:solidFill>
                  <a:srgbClr val="B3121B"/>
                </a:solidFill>
                <a:latin typeface="Arial"/>
                <a:cs typeface="Arial"/>
              </a:rPr>
              <a:t>program:</a:t>
            </a:r>
            <a:r>
              <a:rPr sz="2950" b="1" spc="-204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280" dirty="0">
                <a:solidFill>
                  <a:srgbClr val="B3121B"/>
                </a:solidFill>
                <a:latin typeface="Arial"/>
                <a:cs typeface="Arial"/>
              </a:rPr>
              <a:t>Java</a:t>
            </a:r>
            <a:r>
              <a:rPr sz="2950" b="1" spc="-220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35" dirty="0">
                <a:solidFill>
                  <a:srgbClr val="B3121B"/>
                </a:solidFill>
                <a:latin typeface="Arial"/>
                <a:cs typeface="Arial"/>
              </a:rPr>
              <a:t>foundations</a:t>
            </a:r>
            <a:endParaRPr sz="2950">
              <a:latin typeface="Arial"/>
              <a:cs typeface="Arial"/>
            </a:endParaRPr>
          </a:p>
          <a:p>
            <a:pPr marL="374015" marR="580390" indent="-361950">
              <a:lnSpc>
                <a:spcPct val="116700"/>
              </a:lnSpc>
              <a:spcBef>
                <a:spcPts val="1285"/>
              </a:spcBef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10" dirty="0">
                <a:solidFill>
                  <a:srgbClr val="222222"/>
                </a:solidFill>
                <a:latin typeface="Tahoma"/>
                <a:cs typeface="Tahoma"/>
              </a:rPr>
              <a:t>Scanner</a:t>
            </a:r>
            <a:r>
              <a:rPr sz="2250" b="1" spc="-4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spc="-80" dirty="0">
                <a:solidFill>
                  <a:srgbClr val="222222"/>
                </a:solidFill>
                <a:latin typeface="Tahoma"/>
                <a:cs typeface="Tahoma"/>
              </a:rPr>
              <a:t>input:</a:t>
            </a:r>
            <a:r>
              <a:rPr sz="2250" b="1" spc="-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5" dirty="0">
                <a:solidFill>
                  <a:srgbClr val="222222"/>
                </a:solidFill>
                <a:latin typeface="Tahoma"/>
                <a:cs typeface="Tahoma"/>
              </a:rPr>
              <a:t>age,</a:t>
            </a:r>
            <a:r>
              <a:rPr sz="2250" spc="-9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weight,</a:t>
            </a:r>
            <a:r>
              <a:rPr sz="2250" spc="-9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height,</a:t>
            </a:r>
            <a:r>
              <a:rPr sz="2250" spc="-9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95" dirty="0">
                <a:solidFill>
                  <a:srgbClr val="222222"/>
                </a:solidFill>
                <a:latin typeface="Tahoma"/>
                <a:cs typeface="Tahoma"/>
              </a:rPr>
              <a:t>gender</a:t>
            </a:r>
            <a:r>
              <a:rPr sz="2250" spc="-7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0" dirty="0">
                <a:solidFill>
                  <a:srgbClr val="222222"/>
                </a:solidFill>
                <a:latin typeface="Tahoma"/>
                <a:cs typeface="Tahoma"/>
              </a:rPr>
              <a:t>read</a:t>
            </a:r>
            <a:r>
              <a:rPr sz="2250" spc="-2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35" dirty="0">
                <a:solidFill>
                  <a:srgbClr val="222222"/>
                </a:solidFill>
                <a:latin typeface="Tahoma"/>
                <a:cs typeface="Tahoma"/>
              </a:rPr>
              <a:t>from </a:t>
            </a:r>
            <a:r>
              <a:rPr sz="2250" spc="105" dirty="0">
                <a:solidFill>
                  <a:srgbClr val="222222"/>
                </a:solidFill>
                <a:latin typeface="Tahoma"/>
                <a:cs typeface="Tahoma"/>
              </a:rPr>
              <a:t>console</a:t>
            </a:r>
            <a:endParaRPr sz="2250">
              <a:latin typeface="Tahoma"/>
              <a:cs typeface="Tahoma"/>
            </a:endParaRPr>
          </a:p>
          <a:p>
            <a:pPr marL="374015" marR="906780" indent="-361950">
              <a:lnSpc>
                <a:spcPct val="116700"/>
              </a:lnSpc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70" dirty="0">
                <a:solidFill>
                  <a:srgbClr val="222222"/>
                </a:solidFill>
                <a:latin typeface="Tahoma"/>
                <a:cs typeface="Tahoma"/>
              </a:rPr>
              <a:t>Primitive</a:t>
            </a:r>
            <a:r>
              <a:rPr sz="2250" b="1" spc="-15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dirty="0">
                <a:solidFill>
                  <a:srgbClr val="222222"/>
                </a:solidFill>
                <a:latin typeface="Tahoma"/>
                <a:cs typeface="Tahoma"/>
              </a:rPr>
              <a:t>types</a:t>
            </a:r>
            <a:r>
              <a:rPr sz="2250" b="1" spc="-14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spc="-254" dirty="0">
                <a:solidFill>
                  <a:srgbClr val="222222"/>
                </a:solidFill>
                <a:latin typeface="Tahoma"/>
                <a:cs typeface="Tahoma"/>
              </a:rPr>
              <a:t>&amp;</a:t>
            </a:r>
            <a:r>
              <a:rPr sz="2250" b="1" spc="-17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spc="-25" dirty="0">
                <a:solidFill>
                  <a:srgbClr val="222222"/>
                </a:solidFill>
                <a:latin typeface="Tahoma"/>
                <a:cs typeface="Tahoma"/>
              </a:rPr>
              <a:t>constants:</a:t>
            </a:r>
            <a:r>
              <a:rPr sz="2250" b="1" spc="-7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-10" dirty="0">
                <a:solidFill>
                  <a:srgbClr val="222222"/>
                </a:solidFill>
                <a:latin typeface="Tahoma"/>
                <a:cs typeface="Tahoma"/>
              </a:rPr>
              <a:t>int,</a:t>
            </a:r>
            <a:r>
              <a:rPr sz="2250" spc="-15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5" dirty="0">
                <a:solidFill>
                  <a:srgbClr val="222222"/>
                </a:solidFill>
                <a:latin typeface="Tahoma"/>
                <a:cs typeface="Tahoma"/>
              </a:rPr>
              <a:t>double,</a:t>
            </a:r>
            <a:r>
              <a:rPr sz="2250" spc="-15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char,</a:t>
            </a:r>
            <a:r>
              <a:rPr sz="2250" spc="-15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-10" dirty="0">
                <a:solidFill>
                  <a:srgbClr val="222222"/>
                </a:solidFill>
                <a:latin typeface="Tahoma"/>
                <a:cs typeface="Tahoma"/>
              </a:rPr>
              <a:t>final </a:t>
            </a:r>
            <a:r>
              <a:rPr sz="2250" spc="35" dirty="0">
                <a:solidFill>
                  <a:srgbClr val="222222"/>
                </a:solidFill>
                <a:latin typeface="Tahoma"/>
                <a:cs typeface="Tahoma"/>
              </a:rPr>
              <a:t>CM_TO_METERS</a:t>
            </a:r>
            <a:endParaRPr sz="2250">
              <a:latin typeface="Tahoma"/>
              <a:cs typeface="Tahoma"/>
            </a:endParaRPr>
          </a:p>
          <a:p>
            <a:pPr marL="374015" indent="-361315">
              <a:lnSpc>
                <a:spcPct val="100000"/>
              </a:lnSpc>
              <a:spcBef>
                <a:spcPts val="450"/>
              </a:spcBef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40" dirty="0">
                <a:solidFill>
                  <a:srgbClr val="222222"/>
                </a:solidFill>
                <a:latin typeface="Tahoma"/>
                <a:cs typeface="Tahoma"/>
              </a:rPr>
              <a:t>Operators:</a:t>
            </a:r>
            <a:r>
              <a:rPr sz="2250" b="1" spc="6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arithmetic,</a:t>
            </a:r>
            <a:r>
              <a:rPr sz="2250" spc="-2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ternary,</a:t>
            </a:r>
            <a:r>
              <a:rPr sz="2250" spc="-2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unary</a:t>
            </a:r>
            <a:r>
              <a:rPr sz="2250" spc="4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-60" dirty="0">
                <a:solidFill>
                  <a:srgbClr val="222222"/>
                </a:solidFill>
                <a:latin typeface="Tahoma"/>
                <a:cs typeface="Tahoma"/>
              </a:rPr>
              <a:t>(++/-</a:t>
            </a:r>
            <a:r>
              <a:rPr sz="2250" spc="204" dirty="0">
                <a:solidFill>
                  <a:srgbClr val="222222"/>
                </a:solidFill>
                <a:latin typeface="Tahoma"/>
                <a:cs typeface="Tahoma"/>
              </a:rPr>
              <a:t>-</a:t>
            </a:r>
            <a:r>
              <a:rPr sz="2250" spc="-65" dirty="0">
                <a:solidFill>
                  <a:srgbClr val="222222"/>
                </a:solidFill>
                <a:latin typeface="Tahoma"/>
                <a:cs typeface="Tahoma"/>
              </a:rPr>
              <a:t>),</a:t>
            </a:r>
            <a:r>
              <a:rPr sz="2250" spc="-3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90" dirty="0">
                <a:solidFill>
                  <a:srgbClr val="222222"/>
                </a:solidFill>
                <a:latin typeface="Tahoma"/>
                <a:cs typeface="Tahoma"/>
              </a:rPr>
              <a:t>bitwise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 shift</a:t>
            </a:r>
            <a:endParaRPr sz="2250">
              <a:latin typeface="Tahoma"/>
              <a:cs typeface="Tahoma"/>
            </a:endParaRPr>
          </a:p>
          <a:p>
            <a:pPr marL="374015" indent="-361315">
              <a:lnSpc>
                <a:spcPct val="100000"/>
              </a:lnSpc>
              <a:spcBef>
                <a:spcPts val="450"/>
              </a:spcBef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30" dirty="0">
                <a:solidFill>
                  <a:srgbClr val="222222"/>
                </a:solidFill>
                <a:latin typeface="Tahoma"/>
                <a:cs typeface="Tahoma"/>
              </a:rPr>
              <a:t>Typecasting:</a:t>
            </a:r>
            <a:r>
              <a:rPr sz="2250" b="1" spc="-8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5" dirty="0">
                <a:solidFill>
                  <a:srgbClr val="222222"/>
                </a:solidFill>
                <a:latin typeface="Tahoma"/>
                <a:cs typeface="Tahoma"/>
              </a:rPr>
              <a:t>widening</a:t>
            </a:r>
            <a:r>
              <a:rPr sz="2250" spc="-6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int</a:t>
            </a:r>
            <a:r>
              <a:rPr sz="2250" spc="-20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-120" dirty="0">
                <a:solidFill>
                  <a:srgbClr val="222222"/>
                </a:solidFill>
                <a:latin typeface="Tahoma"/>
                <a:cs typeface="Tahoma"/>
              </a:rPr>
              <a:t>→</a:t>
            </a:r>
            <a:r>
              <a:rPr sz="2250" spc="-10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95" dirty="0">
                <a:solidFill>
                  <a:srgbClr val="222222"/>
                </a:solidFill>
                <a:latin typeface="Tahoma"/>
                <a:cs typeface="Tahoma"/>
              </a:rPr>
              <a:t>double</a:t>
            </a:r>
            <a:r>
              <a:rPr sz="2250" spc="-8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for</a:t>
            </a:r>
            <a:r>
              <a:rPr sz="2250" spc="-14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height</a:t>
            </a:r>
            <a:r>
              <a:rPr sz="2250" spc="-20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0" dirty="0">
                <a:solidFill>
                  <a:srgbClr val="222222"/>
                </a:solidFill>
                <a:latin typeface="Tahoma"/>
                <a:cs typeface="Tahoma"/>
              </a:rPr>
              <a:t>in</a:t>
            </a:r>
            <a:r>
              <a:rPr sz="2250" spc="-16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45" dirty="0">
                <a:solidFill>
                  <a:srgbClr val="222222"/>
                </a:solidFill>
                <a:latin typeface="Tahoma"/>
                <a:cs typeface="Tahoma"/>
              </a:rPr>
              <a:t>metres</a:t>
            </a:r>
            <a:endParaRPr sz="2250">
              <a:latin typeface="Tahoma"/>
              <a:cs typeface="Tahoma"/>
            </a:endParaRPr>
          </a:p>
          <a:p>
            <a:pPr marL="374015" indent="-361315">
              <a:lnSpc>
                <a:spcPct val="100000"/>
              </a:lnSpc>
              <a:spcBef>
                <a:spcPts val="450"/>
              </a:spcBef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60" dirty="0">
                <a:solidFill>
                  <a:srgbClr val="222222"/>
                </a:solidFill>
                <a:latin typeface="Tahoma"/>
                <a:cs typeface="Tahoma"/>
              </a:rPr>
              <a:t>Formatted</a:t>
            </a:r>
            <a:r>
              <a:rPr sz="2250" b="1" spc="-14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spc="-75" dirty="0">
                <a:solidFill>
                  <a:srgbClr val="222222"/>
                </a:solidFill>
                <a:latin typeface="Tahoma"/>
                <a:cs typeface="Tahoma"/>
              </a:rPr>
              <a:t>output:</a:t>
            </a:r>
            <a:r>
              <a:rPr sz="2250" b="1" spc="-4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printf</a:t>
            </a:r>
            <a:r>
              <a:rPr sz="2250" spc="-7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for</a:t>
            </a:r>
            <a:r>
              <a:rPr sz="2250" spc="-1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0" dirty="0">
                <a:solidFill>
                  <a:srgbClr val="222222"/>
                </a:solidFill>
                <a:latin typeface="Tahoma"/>
                <a:cs typeface="Tahoma"/>
              </a:rPr>
              <a:t>BMI</a:t>
            </a:r>
            <a:r>
              <a:rPr sz="2250" spc="-8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to</a:t>
            </a:r>
            <a:r>
              <a:rPr sz="2250" spc="-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30" dirty="0">
                <a:solidFill>
                  <a:srgbClr val="222222"/>
                </a:solidFill>
                <a:latin typeface="Tahoma"/>
                <a:cs typeface="Tahoma"/>
              </a:rPr>
              <a:t>2</a:t>
            </a:r>
            <a:r>
              <a:rPr sz="2250" spc="-10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90" dirty="0">
                <a:solidFill>
                  <a:srgbClr val="222222"/>
                </a:solidFill>
                <a:latin typeface="Tahoma"/>
                <a:cs typeface="Tahoma"/>
              </a:rPr>
              <a:t>decimals</a:t>
            </a:r>
            <a:endParaRPr sz="22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705975" y="2371725"/>
            <a:ext cx="7639050" cy="6781800"/>
            <a:chOff x="9705975" y="2371725"/>
            <a:chExt cx="7639050" cy="6781800"/>
          </a:xfrm>
        </p:grpSpPr>
        <p:sp>
          <p:nvSpPr>
            <p:cNvPr id="6" name="object 6"/>
            <p:cNvSpPr/>
            <p:nvPr/>
          </p:nvSpPr>
          <p:spPr>
            <a:xfrm>
              <a:off x="9715499" y="2381249"/>
              <a:ext cx="7620000" cy="6762750"/>
            </a:xfrm>
            <a:custGeom>
              <a:avLst/>
              <a:gdLst/>
              <a:ahLst/>
              <a:cxnLst/>
              <a:rect l="l" t="t" r="r" b="b"/>
              <a:pathLst>
                <a:path w="7620000" h="6762750">
                  <a:moveTo>
                    <a:pt x="7467598" y="6762749"/>
                  </a:moveTo>
                  <a:lnTo>
                    <a:pt x="152399" y="6762749"/>
                  </a:lnTo>
                  <a:lnTo>
                    <a:pt x="108155" y="6756205"/>
                  </a:lnTo>
                  <a:lnTo>
                    <a:pt x="67715" y="6737089"/>
                  </a:lnTo>
                  <a:lnTo>
                    <a:pt x="34583" y="6707038"/>
                  </a:lnTo>
                  <a:lnTo>
                    <a:pt x="11600" y="6668669"/>
                  </a:lnTo>
                  <a:lnTo>
                    <a:pt x="714" y="6625289"/>
                  </a:lnTo>
                  <a:lnTo>
                    <a:pt x="0" y="6610349"/>
                  </a:lnTo>
                  <a:lnTo>
                    <a:pt x="0" y="152399"/>
                  </a:lnTo>
                  <a:lnTo>
                    <a:pt x="6542" y="108155"/>
                  </a:lnTo>
                  <a:lnTo>
                    <a:pt x="25659" y="67716"/>
                  </a:lnTo>
                  <a:lnTo>
                    <a:pt x="55709" y="34583"/>
                  </a:lnTo>
                  <a:lnTo>
                    <a:pt x="94078" y="11600"/>
                  </a:lnTo>
                  <a:lnTo>
                    <a:pt x="137459" y="714"/>
                  </a:lnTo>
                  <a:lnTo>
                    <a:pt x="7467599" y="0"/>
                  </a:lnTo>
                  <a:lnTo>
                    <a:pt x="7482536" y="721"/>
                  </a:lnTo>
                  <a:lnTo>
                    <a:pt x="7525919" y="11600"/>
                  </a:lnTo>
                  <a:lnTo>
                    <a:pt x="7564291" y="34577"/>
                  </a:lnTo>
                  <a:lnTo>
                    <a:pt x="7594336" y="67714"/>
                  </a:lnTo>
                  <a:lnTo>
                    <a:pt x="7613447" y="108156"/>
                  </a:lnTo>
                  <a:lnTo>
                    <a:pt x="7619999" y="152399"/>
                  </a:lnTo>
                  <a:lnTo>
                    <a:pt x="7619999" y="6610349"/>
                  </a:lnTo>
                  <a:lnTo>
                    <a:pt x="7619277" y="6625287"/>
                  </a:lnTo>
                  <a:lnTo>
                    <a:pt x="7608396" y="6668669"/>
                  </a:lnTo>
                  <a:lnTo>
                    <a:pt x="7585420" y="6707041"/>
                  </a:lnTo>
                  <a:lnTo>
                    <a:pt x="7552283" y="6737087"/>
                  </a:lnTo>
                  <a:lnTo>
                    <a:pt x="7511841" y="6756197"/>
                  </a:lnTo>
                  <a:lnTo>
                    <a:pt x="7467598" y="6762749"/>
                  </a:lnTo>
                  <a:close/>
                </a:path>
              </a:pathLst>
            </a:custGeom>
            <a:solidFill>
              <a:srgbClr val="1E1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715499" y="2381249"/>
              <a:ext cx="7620000" cy="6762750"/>
            </a:xfrm>
            <a:custGeom>
              <a:avLst/>
              <a:gdLst/>
              <a:ahLst/>
              <a:cxnLst/>
              <a:rect l="l" t="t" r="r" b="b"/>
              <a:pathLst>
                <a:path w="7620000" h="6762750">
                  <a:moveTo>
                    <a:pt x="152399" y="0"/>
                  </a:moveTo>
                  <a:lnTo>
                    <a:pt x="7467598" y="0"/>
                  </a:lnTo>
                </a:path>
                <a:path w="7620000" h="6762750">
                  <a:moveTo>
                    <a:pt x="7619999" y="152399"/>
                  </a:moveTo>
                  <a:lnTo>
                    <a:pt x="7619999" y="6610349"/>
                  </a:lnTo>
                </a:path>
                <a:path w="7620000" h="6762750">
                  <a:moveTo>
                    <a:pt x="7467598" y="6762749"/>
                  </a:moveTo>
                  <a:lnTo>
                    <a:pt x="152399" y="6762749"/>
                  </a:lnTo>
                </a:path>
                <a:path w="7620000" h="6762750">
                  <a:moveTo>
                    <a:pt x="0" y="6610349"/>
                  </a:moveTo>
                  <a:lnTo>
                    <a:pt x="0" y="152399"/>
                  </a:lnTo>
                </a:path>
              </a:pathLst>
            </a:custGeom>
            <a:ln w="19049">
              <a:solidFill>
                <a:srgbClr val="1E1E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083799" y="2606675"/>
            <a:ext cx="4416425" cy="398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37515">
              <a:lnSpc>
                <a:spcPct val="133300"/>
              </a:lnSpc>
              <a:spcBef>
                <a:spcPts val="100"/>
              </a:spcBef>
            </a:pP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Scanner</a:t>
            </a:r>
            <a:r>
              <a:rPr sz="1500" spc="-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scanner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=</a:t>
            </a:r>
            <a:r>
              <a:rPr sz="1500" spc="-5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E8E8E8"/>
                </a:solidFill>
                <a:latin typeface="Tahoma"/>
                <a:cs typeface="Tahoma"/>
              </a:rPr>
              <a:t>new</a:t>
            </a:r>
            <a:r>
              <a:rPr sz="1500" spc="-6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Scanner(System.in);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int</a:t>
            </a:r>
            <a:r>
              <a:rPr sz="1500" spc="6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age</a:t>
            </a:r>
            <a:r>
              <a:rPr sz="1500" spc="3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=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 scanner.nextInt();</a:t>
            </a:r>
            <a:endParaRPr sz="1500">
              <a:latin typeface="Tahoma"/>
              <a:cs typeface="Tahoma"/>
            </a:endParaRPr>
          </a:p>
          <a:p>
            <a:pPr marL="12700" marR="652780">
              <a:lnSpc>
                <a:spcPct val="133300"/>
              </a:lnSpc>
            </a:pP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double</a:t>
            </a:r>
            <a:r>
              <a:rPr sz="1500" spc="10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weightKg</a:t>
            </a:r>
            <a:r>
              <a:rPr sz="1500" spc="5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=</a:t>
            </a:r>
            <a:r>
              <a:rPr sz="1500" spc="5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scanner.nextDouble(); </a:t>
            </a: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double</a:t>
            </a:r>
            <a:r>
              <a:rPr sz="1500" spc="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heightCm</a:t>
            </a:r>
            <a:r>
              <a:rPr sz="1500" spc="2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=</a:t>
            </a:r>
            <a:r>
              <a:rPr sz="1500" spc="-4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scanner.nextDouble();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1500">
              <a:latin typeface="Tahoma"/>
              <a:cs typeface="Tahoma"/>
            </a:endParaRPr>
          </a:p>
          <a:p>
            <a:pPr marL="12700" marR="1203325">
              <a:lnSpc>
                <a:spcPct val="133300"/>
              </a:lnSpc>
            </a:pP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final</a:t>
            </a:r>
            <a:r>
              <a:rPr sz="1500" spc="11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double</a:t>
            </a:r>
            <a:r>
              <a:rPr sz="1500" spc="12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CM_TO_METERS</a:t>
            </a:r>
            <a:r>
              <a:rPr sz="1500" spc="10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=</a:t>
            </a:r>
            <a:r>
              <a:rPr sz="1500" spc="7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65" dirty="0">
                <a:solidFill>
                  <a:srgbClr val="E8E8E8"/>
                </a:solidFill>
                <a:latin typeface="Tahoma"/>
                <a:cs typeface="Tahoma"/>
              </a:rPr>
              <a:t>0.01;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int</a:t>
            </a:r>
            <a:r>
              <a:rPr sz="1500" spc="2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E8E8E8"/>
                </a:solidFill>
                <a:latin typeface="Tahoma"/>
                <a:cs typeface="Tahoma"/>
              </a:rPr>
              <a:t>flags</a:t>
            </a:r>
            <a:r>
              <a:rPr sz="1500" spc="-7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=</a:t>
            </a:r>
            <a:r>
              <a:rPr sz="1500" spc="-4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0b0001;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1760855" algn="l"/>
              </a:tabLst>
            </a:pPr>
            <a:r>
              <a:rPr sz="1500" spc="55" dirty="0">
                <a:solidFill>
                  <a:srgbClr val="E8E8E8"/>
                </a:solidFill>
                <a:latin typeface="Tahoma"/>
                <a:cs typeface="Tahoma"/>
              </a:rPr>
              <a:t>flags</a:t>
            </a:r>
            <a:r>
              <a:rPr sz="1500" spc="-7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=</a:t>
            </a:r>
            <a:r>
              <a:rPr sz="1500" spc="-5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E8E8E8"/>
                </a:solidFill>
                <a:latin typeface="Tahoma"/>
                <a:cs typeface="Tahoma"/>
              </a:rPr>
              <a:t>flags</a:t>
            </a:r>
            <a:r>
              <a:rPr sz="1500" spc="-7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30" dirty="0">
                <a:solidFill>
                  <a:srgbClr val="E8E8E8"/>
                </a:solidFill>
                <a:latin typeface="Tahoma"/>
                <a:cs typeface="Tahoma"/>
              </a:rPr>
              <a:t>&lt;&lt;</a:t>
            </a:r>
            <a:r>
              <a:rPr sz="1500" spc="-5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E8E8E8"/>
                </a:solidFill>
                <a:latin typeface="Tahoma"/>
                <a:cs typeface="Tahoma"/>
              </a:rPr>
              <a:t>1;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	</a:t>
            </a:r>
            <a:r>
              <a:rPr sz="1500" spc="-50" dirty="0">
                <a:solidFill>
                  <a:srgbClr val="E8E8E8"/>
                </a:solidFill>
                <a:latin typeface="Tahoma"/>
                <a:cs typeface="Tahoma"/>
              </a:rPr>
              <a:t>//</a:t>
            </a:r>
            <a:r>
              <a:rPr sz="1500" spc="7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bitwise</a:t>
            </a:r>
            <a:r>
              <a:rPr sz="1500" spc="12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E8E8E8"/>
                </a:solidFill>
                <a:latin typeface="Tahoma"/>
                <a:cs typeface="Tahoma"/>
              </a:rPr>
              <a:t>shift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int</a:t>
            </a:r>
            <a:r>
              <a:rPr sz="1500" spc="4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E8E8E8"/>
                </a:solidFill>
                <a:latin typeface="Tahoma"/>
                <a:cs typeface="Tahoma"/>
              </a:rPr>
              <a:t>priorityScore</a:t>
            </a:r>
            <a:r>
              <a:rPr sz="1500" spc="1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=</a:t>
            </a:r>
            <a:r>
              <a:rPr sz="1500" spc="-3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(age</a:t>
            </a:r>
            <a:r>
              <a:rPr sz="1500" spc="1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&gt;</a:t>
            </a:r>
            <a:r>
              <a:rPr sz="1500" spc="-3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20)</a:t>
            </a:r>
            <a:r>
              <a:rPr sz="1500" spc="-4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?</a:t>
            </a:r>
            <a:r>
              <a:rPr sz="1500" spc="-2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++age</a:t>
            </a:r>
            <a:r>
              <a:rPr sz="1500" spc="1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25" dirty="0">
                <a:solidFill>
                  <a:srgbClr val="E8E8E8"/>
                </a:solidFill>
                <a:latin typeface="Tahoma"/>
                <a:cs typeface="Tahoma"/>
              </a:rPr>
              <a:t>:</a:t>
            </a:r>
            <a:r>
              <a:rPr sz="1500" spc="-6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age--</a:t>
            </a:r>
            <a:r>
              <a:rPr sz="1500" spc="-50" dirty="0">
                <a:solidFill>
                  <a:srgbClr val="E8E8E8"/>
                </a:solidFill>
                <a:latin typeface="Tahoma"/>
                <a:cs typeface="Tahoma"/>
              </a:rPr>
              <a:t>;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133300"/>
              </a:lnSpc>
            </a:pP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double</a:t>
            </a:r>
            <a:r>
              <a:rPr sz="1500" spc="-1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E8E8E8"/>
                </a:solidFill>
                <a:latin typeface="Tahoma"/>
                <a:cs typeface="Tahoma"/>
              </a:rPr>
              <a:t>heightM</a:t>
            </a:r>
            <a:r>
              <a:rPr sz="1500" spc="-2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=</a:t>
            </a:r>
            <a:r>
              <a:rPr sz="1500" spc="-5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heightCm</a:t>
            </a:r>
            <a:r>
              <a:rPr sz="1500" spc="1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90" dirty="0">
                <a:solidFill>
                  <a:srgbClr val="E8E8E8"/>
                </a:solidFill>
                <a:latin typeface="Tahoma"/>
                <a:cs typeface="Tahoma"/>
              </a:rPr>
              <a:t>*</a:t>
            </a:r>
            <a:r>
              <a:rPr sz="1500" spc="-3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CM_TO_METERS; </a:t>
            </a: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double</a:t>
            </a:r>
            <a:r>
              <a:rPr sz="1500" spc="8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E8E8E8"/>
                </a:solidFill>
                <a:latin typeface="Tahoma"/>
                <a:cs typeface="Tahoma"/>
              </a:rPr>
              <a:t>bmi</a:t>
            </a:r>
            <a:r>
              <a:rPr sz="1500" spc="-2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=</a:t>
            </a:r>
            <a:r>
              <a:rPr sz="1500" spc="3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weightKg</a:t>
            </a:r>
            <a:r>
              <a:rPr sz="1500" spc="3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/</a:t>
            </a:r>
            <a:r>
              <a:rPr sz="1500" spc="4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(heightM</a:t>
            </a:r>
            <a:r>
              <a:rPr sz="1500" spc="7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90" dirty="0">
                <a:solidFill>
                  <a:srgbClr val="E8E8E8"/>
                </a:solidFill>
                <a:latin typeface="Tahoma"/>
                <a:cs typeface="Tahoma"/>
              </a:rPr>
              <a:t>*</a:t>
            </a: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heightM);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System.out.printf("Calculated</a:t>
            </a:r>
            <a:r>
              <a:rPr sz="1500" spc="33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E8E8E8"/>
                </a:solidFill>
                <a:latin typeface="Tahoma"/>
                <a:cs typeface="Tahoma"/>
              </a:rPr>
              <a:t>BMI:</a:t>
            </a:r>
            <a:r>
              <a:rPr sz="1500" spc="31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90" dirty="0">
                <a:solidFill>
                  <a:srgbClr val="E8E8E8"/>
                </a:solidFill>
                <a:latin typeface="Tahoma"/>
                <a:cs typeface="Tahoma"/>
              </a:rPr>
              <a:t>%.2f%n",</a:t>
            </a:r>
            <a:r>
              <a:rPr sz="1500" spc="459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bmi);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16-10-</a:t>
            </a:r>
            <a:r>
              <a:rPr spc="85" dirty="0"/>
              <a:t>2026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9800" y="492125"/>
            <a:ext cx="3332479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45" dirty="0">
                <a:solidFill>
                  <a:srgbClr val="B3121B"/>
                </a:solidFill>
                <a:latin typeface="Tahoma"/>
                <a:cs typeface="Tahoma"/>
              </a:rPr>
              <a:t>KL</a:t>
            </a:r>
            <a:r>
              <a:rPr sz="1650" b="1" spc="-145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100" dirty="0">
                <a:solidFill>
                  <a:srgbClr val="B3121B"/>
                </a:solidFill>
                <a:latin typeface="Tahoma"/>
                <a:cs typeface="Tahoma"/>
              </a:rPr>
              <a:t>UNIVERSITY </a:t>
            </a:r>
            <a:r>
              <a:rPr sz="1650" b="1" spc="-120" dirty="0">
                <a:solidFill>
                  <a:srgbClr val="B3121B"/>
                </a:solidFill>
                <a:latin typeface="Tahoma"/>
                <a:cs typeface="Tahoma"/>
              </a:rPr>
              <a:t>·</a:t>
            </a:r>
            <a:r>
              <a:rPr sz="1650" b="1" spc="-150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55" dirty="0">
                <a:solidFill>
                  <a:srgbClr val="B3121B"/>
                </a:solidFill>
                <a:latin typeface="Tahoma"/>
                <a:cs typeface="Tahoma"/>
              </a:rPr>
              <a:t>FitPulse</a:t>
            </a:r>
            <a:r>
              <a:rPr sz="1650" b="1" spc="-114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B3121B"/>
                </a:solidFill>
                <a:latin typeface="Tahoma"/>
                <a:cs typeface="Tahoma"/>
              </a:rPr>
              <a:t>Tracker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CO2</a:t>
            </a:r>
            <a:r>
              <a:rPr spc="-815" dirty="0"/>
              <a:t> </a:t>
            </a:r>
            <a:r>
              <a:rPr spc="-1019" dirty="0"/>
              <a:t>T</a:t>
            </a:r>
            <a:r>
              <a:rPr spc="-440" dirty="0"/>
              <a:t>o</a:t>
            </a:r>
            <a:r>
              <a:rPr spc="-415" dirty="0"/>
              <a:t>p</a:t>
            </a:r>
            <a:r>
              <a:rPr spc="-425" dirty="0"/>
              <a:t>i</a:t>
            </a:r>
            <a:r>
              <a:rPr spc="-415" dirty="0"/>
              <a:t>c</a:t>
            </a:r>
            <a:r>
              <a:rPr spc="-315"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9800" y="2384173"/>
            <a:ext cx="8184515" cy="3439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b="1" spc="-114" dirty="0">
                <a:solidFill>
                  <a:srgbClr val="B3121B"/>
                </a:solidFill>
                <a:latin typeface="Arial"/>
                <a:cs typeface="Arial"/>
              </a:rPr>
              <a:t>Control</a:t>
            </a:r>
            <a:r>
              <a:rPr sz="2950" b="1" spc="-235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140" dirty="0">
                <a:solidFill>
                  <a:srgbClr val="B3121B"/>
                </a:solidFill>
                <a:latin typeface="Arial"/>
                <a:cs typeface="Arial"/>
              </a:rPr>
              <a:t>flow:</a:t>
            </a:r>
            <a:r>
              <a:rPr sz="2950" b="1" spc="-190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105" dirty="0">
                <a:solidFill>
                  <a:srgbClr val="B3121B"/>
                </a:solidFill>
                <a:latin typeface="Arial"/>
                <a:cs typeface="Arial"/>
              </a:rPr>
              <a:t>selection</a:t>
            </a:r>
            <a:r>
              <a:rPr sz="2950" b="1" spc="-204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70" dirty="0">
                <a:solidFill>
                  <a:srgbClr val="B3121B"/>
                </a:solidFill>
                <a:latin typeface="Arial"/>
                <a:cs typeface="Arial"/>
              </a:rPr>
              <a:t>&amp;</a:t>
            </a:r>
            <a:r>
              <a:rPr sz="2950" b="1" spc="-170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10" dirty="0">
                <a:solidFill>
                  <a:srgbClr val="B3121B"/>
                </a:solidFill>
                <a:latin typeface="Arial"/>
                <a:cs typeface="Arial"/>
              </a:rPr>
              <a:t>iteration</a:t>
            </a:r>
            <a:endParaRPr sz="2950">
              <a:latin typeface="Arial"/>
              <a:cs typeface="Arial"/>
            </a:endParaRPr>
          </a:p>
          <a:p>
            <a:pPr marL="374015" marR="318770" indent="-361950">
              <a:lnSpc>
                <a:spcPct val="116700"/>
              </a:lnSpc>
              <a:spcBef>
                <a:spcPts val="1285"/>
              </a:spcBef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50" dirty="0">
                <a:solidFill>
                  <a:srgbClr val="222222"/>
                </a:solidFill>
                <a:latin typeface="Tahoma"/>
                <a:cs typeface="Tahoma"/>
              </a:rPr>
              <a:t>if-</a:t>
            </a:r>
            <a:r>
              <a:rPr sz="2250" b="1" spc="-10" dirty="0">
                <a:solidFill>
                  <a:srgbClr val="222222"/>
                </a:solidFill>
                <a:latin typeface="Tahoma"/>
                <a:cs typeface="Tahoma"/>
              </a:rPr>
              <a:t>else-</a:t>
            </a:r>
            <a:r>
              <a:rPr sz="2250" b="1" spc="-60" dirty="0">
                <a:solidFill>
                  <a:srgbClr val="222222"/>
                </a:solidFill>
                <a:latin typeface="Tahoma"/>
                <a:cs typeface="Tahoma"/>
              </a:rPr>
              <a:t>if</a:t>
            </a:r>
            <a:r>
              <a:rPr sz="2250" b="1" spc="-13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spc="-70" dirty="0">
                <a:solidFill>
                  <a:srgbClr val="222222"/>
                </a:solidFill>
                <a:latin typeface="Tahoma"/>
                <a:cs typeface="Tahoma"/>
              </a:rPr>
              <a:t>ladder:</a:t>
            </a:r>
            <a:r>
              <a:rPr sz="2250" b="1" spc="-7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10" dirty="0">
                <a:solidFill>
                  <a:srgbClr val="222222"/>
                </a:solidFill>
                <a:latin typeface="Tahoma"/>
                <a:cs typeface="Tahoma"/>
              </a:rPr>
              <a:t>classifies</a:t>
            </a:r>
            <a:r>
              <a:rPr sz="2250" spc="-10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0" dirty="0">
                <a:solidFill>
                  <a:srgbClr val="222222"/>
                </a:solidFill>
                <a:latin typeface="Tahoma"/>
                <a:cs typeface="Tahoma"/>
              </a:rPr>
              <a:t>BMI</a:t>
            </a:r>
            <a:r>
              <a:rPr sz="2250" spc="-1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14" dirty="0">
                <a:solidFill>
                  <a:srgbClr val="222222"/>
                </a:solidFill>
                <a:latin typeface="Tahoma"/>
                <a:cs typeface="Tahoma"/>
              </a:rPr>
              <a:t>as</a:t>
            </a:r>
            <a:r>
              <a:rPr sz="2250" spc="-10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Underweight,</a:t>
            </a:r>
            <a:r>
              <a:rPr sz="2250" spc="-15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40" dirty="0">
                <a:solidFill>
                  <a:srgbClr val="222222"/>
                </a:solidFill>
                <a:latin typeface="Tahoma"/>
                <a:cs typeface="Tahoma"/>
              </a:rPr>
              <a:t>Normal,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Overweight</a:t>
            </a:r>
            <a:r>
              <a:rPr sz="2250" spc="-20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95" dirty="0">
                <a:solidFill>
                  <a:srgbClr val="222222"/>
                </a:solidFill>
                <a:latin typeface="Tahoma"/>
                <a:cs typeface="Tahoma"/>
              </a:rPr>
              <a:t>or</a:t>
            </a:r>
            <a:r>
              <a:rPr sz="2250" spc="-14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20" dirty="0">
                <a:solidFill>
                  <a:srgbClr val="222222"/>
                </a:solidFill>
                <a:latin typeface="Tahoma"/>
                <a:cs typeface="Tahoma"/>
              </a:rPr>
              <a:t>Obese</a:t>
            </a:r>
            <a:endParaRPr sz="2250">
              <a:latin typeface="Tahoma"/>
              <a:cs typeface="Tahoma"/>
            </a:endParaRPr>
          </a:p>
          <a:p>
            <a:pPr marL="374015" marR="396240" indent="-361950">
              <a:lnSpc>
                <a:spcPct val="116700"/>
              </a:lnSpc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20" dirty="0">
                <a:solidFill>
                  <a:srgbClr val="222222"/>
                </a:solidFill>
                <a:latin typeface="Tahoma"/>
                <a:cs typeface="Tahoma"/>
              </a:rPr>
              <a:t>switch</a:t>
            </a:r>
            <a:r>
              <a:rPr sz="2250" b="1" spc="-13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spc="-80" dirty="0">
                <a:solidFill>
                  <a:srgbClr val="222222"/>
                </a:solidFill>
                <a:latin typeface="Tahoma"/>
                <a:cs typeface="Tahoma"/>
              </a:rPr>
              <a:t>with</a:t>
            </a:r>
            <a:r>
              <a:rPr sz="2250" b="1" spc="-13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spc="-95" dirty="0">
                <a:solidFill>
                  <a:srgbClr val="222222"/>
                </a:solidFill>
                <a:latin typeface="Tahoma"/>
                <a:cs typeface="Tahoma"/>
              </a:rPr>
              <a:t>break/default:</a:t>
            </a:r>
            <a:r>
              <a:rPr sz="2250" b="1" spc="-6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5" dirty="0">
                <a:solidFill>
                  <a:srgbClr val="222222"/>
                </a:solidFill>
                <a:latin typeface="Tahoma"/>
                <a:cs typeface="Tahoma"/>
              </a:rPr>
              <a:t>activates</a:t>
            </a:r>
            <a:r>
              <a:rPr sz="2250" spc="-8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the</a:t>
            </a:r>
            <a:r>
              <a:rPr sz="2250" spc="-7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20" dirty="0">
                <a:solidFill>
                  <a:srgbClr val="222222"/>
                </a:solidFill>
                <a:latin typeface="Tahoma"/>
                <a:cs typeface="Tahoma"/>
              </a:rPr>
              <a:t>chosen</a:t>
            </a:r>
            <a:r>
              <a:rPr sz="2250" spc="-16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0" dirty="0">
                <a:solidFill>
                  <a:srgbClr val="222222"/>
                </a:solidFill>
                <a:latin typeface="Tahoma"/>
                <a:cs typeface="Tahoma"/>
              </a:rPr>
              <a:t>fitness </a:t>
            </a:r>
            <a:r>
              <a:rPr sz="2250" spc="80" dirty="0">
                <a:solidFill>
                  <a:srgbClr val="222222"/>
                </a:solidFill>
                <a:latin typeface="Tahoma"/>
                <a:cs typeface="Tahoma"/>
              </a:rPr>
              <a:t>goal</a:t>
            </a:r>
            <a:endParaRPr sz="2250">
              <a:latin typeface="Tahoma"/>
              <a:cs typeface="Tahoma"/>
            </a:endParaRPr>
          </a:p>
          <a:p>
            <a:pPr marL="374015" indent="-361315">
              <a:lnSpc>
                <a:spcPct val="100000"/>
              </a:lnSpc>
              <a:spcBef>
                <a:spcPts val="450"/>
              </a:spcBef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75" dirty="0">
                <a:solidFill>
                  <a:srgbClr val="222222"/>
                </a:solidFill>
                <a:latin typeface="Tahoma"/>
                <a:cs typeface="Tahoma"/>
              </a:rPr>
              <a:t>for</a:t>
            </a:r>
            <a:r>
              <a:rPr sz="2250" b="1" spc="-1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spc="-60" dirty="0">
                <a:solidFill>
                  <a:srgbClr val="222222"/>
                </a:solidFill>
                <a:latin typeface="Tahoma"/>
                <a:cs typeface="Tahoma"/>
              </a:rPr>
              <a:t>loops:</a:t>
            </a:r>
            <a:r>
              <a:rPr sz="2250" b="1" spc="-8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0" dirty="0">
                <a:solidFill>
                  <a:srgbClr val="222222"/>
                </a:solidFill>
                <a:latin typeface="Tahoma"/>
                <a:cs typeface="Tahoma"/>
              </a:rPr>
              <a:t>read</a:t>
            </a:r>
            <a:r>
              <a:rPr sz="2250" spc="-10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7</a:t>
            </a:r>
            <a:r>
              <a:rPr sz="2250" spc="-14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05" dirty="0">
                <a:solidFill>
                  <a:srgbClr val="222222"/>
                </a:solidFill>
                <a:latin typeface="Tahoma"/>
                <a:cs typeface="Tahoma"/>
              </a:rPr>
              <a:t>days</a:t>
            </a:r>
            <a:r>
              <a:rPr sz="2250" spc="-1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30" dirty="0">
                <a:solidFill>
                  <a:srgbClr val="222222"/>
                </a:solidFill>
                <a:latin typeface="Tahoma"/>
                <a:cs typeface="Tahoma"/>
              </a:rPr>
              <a:t>of</a:t>
            </a:r>
            <a:r>
              <a:rPr sz="2250" spc="-114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05" dirty="0">
                <a:solidFill>
                  <a:srgbClr val="222222"/>
                </a:solidFill>
                <a:latin typeface="Tahoma"/>
                <a:cs typeface="Tahoma"/>
              </a:rPr>
              <a:t>steps</a:t>
            </a:r>
            <a:r>
              <a:rPr sz="2250" spc="-1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and</a:t>
            </a:r>
            <a:r>
              <a:rPr sz="2250" spc="-10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90" dirty="0">
                <a:solidFill>
                  <a:srgbClr val="222222"/>
                </a:solidFill>
                <a:latin typeface="Tahoma"/>
                <a:cs typeface="Tahoma"/>
              </a:rPr>
              <a:t>log</a:t>
            </a:r>
            <a:r>
              <a:rPr sz="2250" spc="-8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80" dirty="0">
                <a:solidFill>
                  <a:srgbClr val="222222"/>
                </a:solidFill>
                <a:latin typeface="Tahoma"/>
                <a:cs typeface="Tahoma"/>
              </a:rPr>
              <a:t>N</a:t>
            </a:r>
            <a:r>
              <a:rPr sz="2250" spc="-10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0" dirty="0">
                <a:solidFill>
                  <a:srgbClr val="222222"/>
                </a:solidFill>
                <a:latin typeface="Tahoma"/>
                <a:cs typeface="Tahoma"/>
              </a:rPr>
              <a:t>workout</a:t>
            </a:r>
            <a:r>
              <a:rPr sz="2250" spc="-204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20" dirty="0">
                <a:solidFill>
                  <a:srgbClr val="222222"/>
                </a:solidFill>
                <a:latin typeface="Tahoma"/>
                <a:cs typeface="Tahoma"/>
              </a:rPr>
              <a:t>sessions</a:t>
            </a:r>
            <a:endParaRPr sz="2250">
              <a:latin typeface="Tahoma"/>
              <a:cs typeface="Tahoma"/>
            </a:endParaRPr>
          </a:p>
          <a:p>
            <a:pPr marL="374015" indent="-361315">
              <a:lnSpc>
                <a:spcPct val="100000"/>
              </a:lnSpc>
              <a:spcBef>
                <a:spcPts val="450"/>
              </a:spcBef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80" dirty="0">
                <a:solidFill>
                  <a:srgbClr val="222222"/>
                </a:solidFill>
                <a:latin typeface="Tahoma"/>
                <a:cs typeface="Tahoma"/>
              </a:rPr>
              <a:t>break:</a:t>
            </a:r>
            <a:r>
              <a:rPr sz="2250" b="1" spc="-7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10" dirty="0">
                <a:solidFill>
                  <a:srgbClr val="222222"/>
                </a:solidFill>
                <a:latin typeface="Tahoma"/>
                <a:cs typeface="Tahoma"/>
              </a:rPr>
              <a:t>stops</a:t>
            </a:r>
            <a:r>
              <a:rPr sz="2250" spc="-9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the</a:t>
            </a:r>
            <a:r>
              <a:rPr sz="2250" spc="-8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0" dirty="0">
                <a:solidFill>
                  <a:srgbClr val="222222"/>
                </a:solidFill>
                <a:latin typeface="Tahoma"/>
                <a:cs typeface="Tahoma"/>
              </a:rPr>
              <a:t>milestone</a:t>
            </a:r>
            <a:r>
              <a:rPr sz="2250" spc="-8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90" dirty="0">
                <a:solidFill>
                  <a:srgbClr val="222222"/>
                </a:solidFill>
                <a:latin typeface="Tahoma"/>
                <a:cs typeface="Tahoma"/>
              </a:rPr>
              <a:t>search</a:t>
            </a:r>
            <a:r>
              <a:rPr sz="2250" spc="-17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20" dirty="0">
                <a:solidFill>
                  <a:srgbClr val="222222"/>
                </a:solidFill>
                <a:latin typeface="Tahoma"/>
                <a:cs typeface="Tahoma"/>
              </a:rPr>
              <a:t>once</a:t>
            </a:r>
            <a:r>
              <a:rPr sz="2250" spc="-8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0" dirty="0">
                <a:solidFill>
                  <a:srgbClr val="222222"/>
                </a:solidFill>
                <a:latin typeface="Tahoma"/>
                <a:cs typeface="Tahoma"/>
              </a:rPr>
              <a:t>found</a:t>
            </a:r>
            <a:endParaRPr sz="2250">
              <a:latin typeface="Tahoma"/>
              <a:cs typeface="Tahoma"/>
            </a:endParaRPr>
          </a:p>
          <a:p>
            <a:pPr marL="374015" indent="-361315">
              <a:lnSpc>
                <a:spcPct val="100000"/>
              </a:lnSpc>
              <a:spcBef>
                <a:spcPts val="450"/>
              </a:spcBef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30" dirty="0">
                <a:solidFill>
                  <a:srgbClr val="222222"/>
                </a:solidFill>
                <a:latin typeface="Tahoma"/>
                <a:cs typeface="Tahoma"/>
              </a:rPr>
              <a:t>Nested</a:t>
            </a:r>
            <a:r>
              <a:rPr sz="2250" b="1" spc="-16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spc="-60" dirty="0">
                <a:solidFill>
                  <a:srgbClr val="222222"/>
                </a:solidFill>
                <a:latin typeface="Tahoma"/>
                <a:cs typeface="Tahoma"/>
              </a:rPr>
              <a:t>loops:</a:t>
            </a:r>
            <a:r>
              <a:rPr sz="2250" b="1" spc="-7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0" dirty="0">
                <a:solidFill>
                  <a:srgbClr val="222222"/>
                </a:solidFill>
                <a:latin typeface="Tahoma"/>
                <a:cs typeface="Tahoma"/>
              </a:rPr>
              <a:t>traverse</a:t>
            </a:r>
            <a:r>
              <a:rPr sz="2250" spc="-7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the</a:t>
            </a:r>
            <a:r>
              <a:rPr sz="2250" spc="-8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95" dirty="0">
                <a:solidFill>
                  <a:srgbClr val="222222"/>
                </a:solidFill>
                <a:latin typeface="Tahoma"/>
                <a:cs typeface="Tahoma"/>
              </a:rPr>
              <a:t>2D</a:t>
            </a:r>
            <a:r>
              <a:rPr sz="2250" spc="-9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5" dirty="0">
                <a:solidFill>
                  <a:srgbClr val="222222"/>
                </a:solidFill>
                <a:latin typeface="Tahoma"/>
                <a:cs typeface="Tahoma"/>
              </a:rPr>
              <a:t>rep</a:t>
            </a:r>
            <a:r>
              <a:rPr sz="2250" spc="-14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-10" dirty="0">
                <a:solidFill>
                  <a:srgbClr val="222222"/>
                </a:solidFill>
                <a:latin typeface="Tahoma"/>
                <a:cs typeface="Tahoma"/>
              </a:rPr>
              <a:t>matrix</a:t>
            </a:r>
            <a:endParaRPr sz="22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705975" y="2371725"/>
            <a:ext cx="7639050" cy="6781800"/>
            <a:chOff x="9705975" y="2371725"/>
            <a:chExt cx="7639050" cy="6781800"/>
          </a:xfrm>
        </p:grpSpPr>
        <p:sp>
          <p:nvSpPr>
            <p:cNvPr id="6" name="object 6"/>
            <p:cNvSpPr/>
            <p:nvPr/>
          </p:nvSpPr>
          <p:spPr>
            <a:xfrm>
              <a:off x="9715499" y="2381249"/>
              <a:ext cx="7620000" cy="6762750"/>
            </a:xfrm>
            <a:custGeom>
              <a:avLst/>
              <a:gdLst/>
              <a:ahLst/>
              <a:cxnLst/>
              <a:rect l="l" t="t" r="r" b="b"/>
              <a:pathLst>
                <a:path w="7620000" h="6762750">
                  <a:moveTo>
                    <a:pt x="7467598" y="6762749"/>
                  </a:moveTo>
                  <a:lnTo>
                    <a:pt x="152399" y="6762749"/>
                  </a:lnTo>
                  <a:lnTo>
                    <a:pt x="108155" y="6756205"/>
                  </a:lnTo>
                  <a:lnTo>
                    <a:pt x="67715" y="6737089"/>
                  </a:lnTo>
                  <a:lnTo>
                    <a:pt x="34583" y="6707038"/>
                  </a:lnTo>
                  <a:lnTo>
                    <a:pt x="11600" y="6668669"/>
                  </a:lnTo>
                  <a:lnTo>
                    <a:pt x="714" y="6625289"/>
                  </a:lnTo>
                  <a:lnTo>
                    <a:pt x="0" y="6610349"/>
                  </a:lnTo>
                  <a:lnTo>
                    <a:pt x="0" y="152399"/>
                  </a:lnTo>
                  <a:lnTo>
                    <a:pt x="6542" y="108155"/>
                  </a:lnTo>
                  <a:lnTo>
                    <a:pt x="25659" y="67716"/>
                  </a:lnTo>
                  <a:lnTo>
                    <a:pt x="55709" y="34583"/>
                  </a:lnTo>
                  <a:lnTo>
                    <a:pt x="94078" y="11600"/>
                  </a:lnTo>
                  <a:lnTo>
                    <a:pt x="137459" y="714"/>
                  </a:lnTo>
                  <a:lnTo>
                    <a:pt x="7467599" y="0"/>
                  </a:lnTo>
                  <a:lnTo>
                    <a:pt x="7482536" y="721"/>
                  </a:lnTo>
                  <a:lnTo>
                    <a:pt x="7525919" y="11600"/>
                  </a:lnTo>
                  <a:lnTo>
                    <a:pt x="7564291" y="34577"/>
                  </a:lnTo>
                  <a:lnTo>
                    <a:pt x="7594336" y="67714"/>
                  </a:lnTo>
                  <a:lnTo>
                    <a:pt x="7613447" y="108156"/>
                  </a:lnTo>
                  <a:lnTo>
                    <a:pt x="7619999" y="152399"/>
                  </a:lnTo>
                  <a:lnTo>
                    <a:pt x="7619999" y="6610349"/>
                  </a:lnTo>
                  <a:lnTo>
                    <a:pt x="7619277" y="6625287"/>
                  </a:lnTo>
                  <a:lnTo>
                    <a:pt x="7608396" y="6668669"/>
                  </a:lnTo>
                  <a:lnTo>
                    <a:pt x="7585420" y="6707041"/>
                  </a:lnTo>
                  <a:lnTo>
                    <a:pt x="7552283" y="6737087"/>
                  </a:lnTo>
                  <a:lnTo>
                    <a:pt x="7511841" y="6756197"/>
                  </a:lnTo>
                  <a:lnTo>
                    <a:pt x="7467598" y="6762749"/>
                  </a:lnTo>
                  <a:close/>
                </a:path>
              </a:pathLst>
            </a:custGeom>
            <a:solidFill>
              <a:srgbClr val="1E1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715499" y="2381249"/>
              <a:ext cx="7620000" cy="6762750"/>
            </a:xfrm>
            <a:custGeom>
              <a:avLst/>
              <a:gdLst/>
              <a:ahLst/>
              <a:cxnLst/>
              <a:rect l="l" t="t" r="r" b="b"/>
              <a:pathLst>
                <a:path w="7620000" h="6762750">
                  <a:moveTo>
                    <a:pt x="152399" y="0"/>
                  </a:moveTo>
                  <a:lnTo>
                    <a:pt x="7467598" y="0"/>
                  </a:lnTo>
                </a:path>
                <a:path w="7620000" h="6762750">
                  <a:moveTo>
                    <a:pt x="7619999" y="152399"/>
                  </a:moveTo>
                  <a:lnTo>
                    <a:pt x="7619999" y="6610349"/>
                  </a:lnTo>
                </a:path>
                <a:path w="7620000" h="6762750">
                  <a:moveTo>
                    <a:pt x="7467598" y="6762749"/>
                  </a:moveTo>
                  <a:lnTo>
                    <a:pt x="152399" y="6762749"/>
                  </a:lnTo>
                </a:path>
                <a:path w="7620000" h="6762750">
                  <a:moveTo>
                    <a:pt x="0" y="6610349"/>
                  </a:moveTo>
                  <a:lnTo>
                    <a:pt x="0" y="152399"/>
                  </a:lnTo>
                </a:path>
              </a:pathLst>
            </a:custGeom>
            <a:ln w="19049">
              <a:solidFill>
                <a:srgbClr val="1E1E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083799" y="2606675"/>
            <a:ext cx="5291455" cy="490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189" marR="2054860" indent="-111125">
              <a:lnSpc>
                <a:spcPct val="133300"/>
              </a:lnSpc>
              <a:spcBef>
                <a:spcPts val="100"/>
              </a:spcBef>
            </a:pP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if</a:t>
            </a: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(bmi</a:t>
            </a:r>
            <a:r>
              <a:rPr sz="1500" spc="-6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&lt;</a:t>
            </a:r>
            <a:r>
              <a:rPr sz="1500" spc="-2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45" dirty="0">
                <a:solidFill>
                  <a:srgbClr val="E8E8E8"/>
                </a:solidFill>
                <a:latin typeface="Tahoma"/>
                <a:cs typeface="Tahoma"/>
              </a:rPr>
              <a:t>18.5)</a:t>
            </a:r>
            <a:r>
              <a:rPr sz="1500" spc="-2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E8E8E8"/>
                </a:solidFill>
                <a:latin typeface="Tahoma"/>
                <a:cs typeface="Tahoma"/>
              </a:rPr>
              <a:t>{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System.out.println("Underweight");</a:t>
            </a:r>
            <a:endParaRPr sz="1500">
              <a:latin typeface="Tahoma"/>
              <a:cs typeface="Tahoma"/>
            </a:endParaRPr>
          </a:p>
          <a:p>
            <a:pPr marL="123189" marR="1906270" indent="-111125">
              <a:lnSpc>
                <a:spcPct val="133300"/>
              </a:lnSpc>
            </a:pPr>
            <a:r>
              <a:rPr sz="1500" spc="-195" dirty="0">
                <a:solidFill>
                  <a:srgbClr val="E8E8E8"/>
                </a:solidFill>
                <a:latin typeface="Tahoma"/>
                <a:cs typeface="Tahoma"/>
              </a:rPr>
              <a:t>}</a:t>
            </a:r>
            <a:r>
              <a:rPr sz="1500" spc="-5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else</a:t>
            </a:r>
            <a:r>
              <a:rPr sz="1500" spc="-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if</a:t>
            </a:r>
            <a:r>
              <a:rPr sz="1500" spc="3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(bmi</a:t>
            </a:r>
            <a:r>
              <a:rPr sz="1500" spc="-9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&lt;</a:t>
            </a:r>
            <a:r>
              <a:rPr sz="1500" spc="-4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24.9)</a:t>
            </a:r>
            <a:r>
              <a:rPr sz="1500" spc="-5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E8E8E8"/>
                </a:solidFill>
                <a:latin typeface="Tahoma"/>
                <a:cs typeface="Tahoma"/>
              </a:rPr>
              <a:t>{ </a:t>
            </a:r>
            <a:r>
              <a:rPr sz="1500" spc="20" dirty="0">
                <a:solidFill>
                  <a:srgbClr val="E8E8E8"/>
                </a:solidFill>
                <a:latin typeface="Tahoma"/>
                <a:cs typeface="Tahoma"/>
              </a:rPr>
              <a:t>System.out.println("Normal</a:t>
            </a:r>
            <a:r>
              <a:rPr sz="1500" spc="34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weight");</a:t>
            </a:r>
            <a:endParaRPr sz="1500">
              <a:latin typeface="Tahoma"/>
              <a:cs typeface="Tahoma"/>
            </a:endParaRPr>
          </a:p>
          <a:p>
            <a:pPr marL="123189" marR="2176780" indent="-111125">
              <a:lnSpc>
                <a:spcPct val="133300"/>
              </a:lnSpc>
            </a:pPr>
            <a:r>
              <a:rPr sz="1500" spc="-195" dirty="0">
                <a:solidFill>
                  <a:srgbClr val="E8E8E8"/>
                </a:solidFill>
                <a:latin typeface="Tahoma"/>
                <a:cs typeface="Tahoma"/>
              </a:rPr>
              <a:t>}</a:t>
            </a:r>
            <a:r>
              <a:rPr sz="1500" spc="-6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else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 if</a:t>
            </a:r>
            <a:r>
              <a:rPr sz="1500" spc="3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(bmi</a:t>
            </a:r>
            <a:r>
              <a:rPr sz="1500" spc="-8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&lt;</a:t>
            </a:r>
            <a:r>
              <a:rPr sz="1500" spc="-4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E8E8E8"/>
                </a:solidFill>
                <a:latin typeface="Tahoma"/>
                <a:cs typeface="Tahoma"/>
              </a:rPr>
              <a:t>29.9)</a:t>
            </a:r>
            <a:r>
              <a:rPr sz="1500" spc="-4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E8E8E8"/>
                </a:solidFill>
                <a:latin typeface="Tahoma"/>
                <a:cs typeface="Tahoma"/>
              </a:rPr>
              <a:t>{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System.out.println("Overweight");</a:t>
            </a:r>
            <a:endParaRPr sz="1500">
              <a:latin typeface="Tahoma"/>
              <a:cs typeface="Tahoma"/>
            </a:endParaRPr>
          </a:p>
          <a:p>
            <a:pPr marL="123189" marR="2624455" indent="-111125">
              <a:lnSpc>
                <a:spcPct val="133300"/>
              </a:lnSpc>
            </a:pPr>
            <a:r>
              <a:rPr sz="1500" spc="-195" dirty="0">
                <a:solidFill>
                  <a:srgbClr val="E8E8E8"/>
                </a:solidFill>
                <a:latin typeface="Tahoma"/>
                <a:cs typeface="Tahoma"/>
              </a:rPr>
              <a:t>}</a:t>
            </a:r>
            <a:r>
              <a:rPr sz="1500" spc="-7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else</a:t>
            </a:r>
            <a:r>
              <a:rPr sz="1500" spc="-2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E8E8E8"/>
                </a:solidFill>
                <a:latin typeface="Tahoma"/>
                <a:cs typeface="Tahoma"/>
              </a:rPr>
              <a:t>{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System.out.println("Obese");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spc="-50" dirty="0">
                <a:solidFill>
                  <a:srgbClr val="E8E8E8"/>
                </a:solidFill>
                <a:latin typeface="Tahoma"/>
                <a:cs typeface="Tahoma"/>
              </a:rPr>
              <a:t>}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switch</a:t>
            </a:r>
            <a:r>
              <a:rPr sz="1500" spc="9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(choice)</a:t>
            </a:r>
            <a:r>
              <a:rPr sz="1500" spc="5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E8E8E8"/>
                </a:solidFill>
                <a:latin typeface="Tahoma"/>
                <a:cs typeface="Tahoma"/>
              </a:rPr>
              <a:t>{</a:t>
            </a:r>
            <a:endParaRPr sz="1500">
              <a:latin typeface="Tahoma"/>
              <a:cs typeface="Tahoma"/>
            </a:endParaRPr>
          </a:p>
          <a:p>
            <a:pPr marL="123189">
              <a:lnSpc>
                <a:spcPct val="100000"/>
              </a:lnSpc>
              <a:spcBef>
                <a:spcPts val="600"/>
              </a:spcBef>
            </a:pPr>
            <a:r>
              <a:rPr sz="1500" spc="65" dirty="0">
                <a:solidFill>
                  <a:srgbClr val="E8E8E8"/>
                </a:solidFill>
                <a:latin typeface="Tahoma"/>
                <a:cs typeface="Tahoma"/>
              </a:rPr>
              <a:t>case</a:t>
            </a: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50" dirty="0">
                <a:solidFill>
                  <a:srgbClr val="E8E8E8"/>
                </a:solidFill>
                <a:latin typeface="Tahoma"/>
                <a:cs typeface="Tahoma"/>
              </a:rPr>
              <a:t>1:</a:t>
            </a:r>
            <a:r>
              <a:rPr sz="1500" spc="-2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System.out.println("HIIT</a:t>
            </a:r>
            <a:r>
              <a:rPr sz="1500" spc="3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&amp;</a:t>
            </a:r>
            <a:r>
              <a:rPr sz="1500" spc="4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Deficit");</a:t>
            </a: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break;</a:t>
            </a:r>
            <a:endParaRPr sz="1500">
              <a:latin typeface="Tahoma"/>
              <a:cs typeface="Tahoma"/>
            </a:endParaRPr>
          </a:p>
          <a:p>
            <a:pPr marL="123189" marR="5080">
              <a:lnSpc>
                <a:spcPct val="133300"/>
              </a:lnSpc>
            </a:pPr>
            <a:r>
              <a:rPr sz="1500" spc="65" dirty="0">
                <a:solidFill>
                  <a:srgbClr val="E8E8E8"/>
                </a:solidFill>
                <a:latin typeface="Tahoma"/>
                <a:cs typeface="Tahoma"/>
              </a:rPr>
              <a:t>case</a:t>
            </a:r>
            <a:r>
              <a:rPr sz="1500" spc="31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75" dirty="0">
                <a:solidFill>
                  <a:srgbClr val="E8E8E8"/>
                </a:solidFill>
                <a:latin typeface="Tahoma"/>
                <a:cs typeface="Tahoma"/>
              </a:rPr>
              <a:t>2:</a:t>
            </a:r>
            <a:r>
              <a:rPr sz="1500" spc="204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System.out.println("Progressive</a:t>
            </a:r>
            <a:r>
              <a:rPr sz="1500" spc="31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Overload");</a:t>
            </a:r>
            <a:r>
              <a:rPr sz="1500" spc="32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break; </a:t>
            </a:r>
            <a:r>
              <a:rPr sz="1500" spc="65" dirty="0">
                <a:solidFill>
                  <a:srgbClr val="E8E8E8"/>
                </a:solidFill>
                <a:latin typeface="Tahoma"/>
                <a:cs typeface="Tahoma"/>
              </a:rPr>
              <a:t>case</a:t>
            </a:r>
            <a:r>
              <a:rPr sz="1500" spc="15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3:</a:t>
            </a:r>
            <a:r>
              <a:rPr sz="1500" spc="7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System.out.println("Zone</a:t>
            </a:r>
            <a:r>
              <a:rPr sz="1500" spc="15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80" dirty="0">
                <a:solidFill>
                  <a:srgbClr val="E8E8E8"/>
                </a:solidFill>
                <a:latin typeface="Tahoma"/>
                <a:cs typeface="Tahoma"/>
              </a:rPr>
              <a:t>2</a:t>
            </a:r>
            <a:r>
              <a:rPr sz="1500" spc="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E8E8E8"/>
                </a:solidFill>
                <a:latin typeface="Tahoma"/>
                <a:cs typeface="Tahoma"/>
              </a:rPr>
              <a:t>Training");</a:t>
            </a:r>
            <a:r>
              <a:rPr sz="1500" spc="16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break; </a:t>
            </a:r>
            <a:r>
              <a:rPr sz="1500" spc="20" dirty="0">
                <a:solidFill>
                  <a:srgbClr val="E8E8E8"/>
                </a:solidFill>
                <a:latin typeface="Tahoma"/>
                <a:cs typeface="Tahoma"/>
              </a:rPr>
              <a:t>default:</a:t>
            </a:r>
            <a:r>
              <a:rPr sz="1500" spc="16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20" dirty="0">
                <a:solidFill>
                  <a:srgbClr val="E8E8E8"/>
                </a:solidFill>
                <a:latin typeface="Tahoma"/>
                <a:cs typeface="Tahoma"/>
              </a:rPr>
              <a:t>System.out.println("General</a:t>
            </a:r>
            <a:r>
              <a:rPr sz="1500" spc="27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Fitness");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spc="-50" dirty="0">
                <a:solidFill>
                  <a:srgbClr val="E8E8E8"/>
                </a:solidFill>
                <a:latin typeface="Tahoma"/>
                <a:cs typeface="Tahoma"/>
              </a:rPr>
              <a:t>}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16-10-</a:t>
            </a:r>
            <a:r>
              <a:rPr spc="85" dirty="0"/>
              <a:t>2026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9800" y="492125"/>
            <a:ext cx="3332479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45" dirty="0">
                <a:solidFill>
                  <a:srgbClr val="B3121B"/>
                </a:solidFill>
                <a:latin typeface="Tahoma"/>
                <a:cs typeface="Tahoma"/>
              </a:rPr>
              <a:t>KL</a:t>
            </a:r>
            <a:r>
              <a:rPr sz="1650" b="1" spc="-145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100" dirty="0">
                <a:solidFill>
                  <a:srgbClr val="B3121B"/>
                </a:solidFill>
                <a:latin typeface="Tahoma"/>
                <a:cs typeface="Tahoma"/>
              </a:rPr>
              <a:t>UNIVERSITY </a:t>
            </a:r>
            <a:r>
              <a:rPr sz="1650" b="1" spc="-120" dirty="0">
                <a:solidFill>
                  <a:srgbClr val="B3121B"/>
                </a:solidFill>
                <a:latin typeface="Tahoma"/>
                <a:cs typeface="Tahoma"/>
              </a:rPr>
              <a:t>·</a:t>
            </a:r>
            <a:r>
              <a:rPr sz="1650" b="1" spc="-150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55" dirty="0">
                <a:solidFill>
                  <a:srgbClr val="B3121B"/>
                </a:solidFill>
                <a:latin typeface="Tahoma"/>
                <a:cs typeface="Tahoma"/>
              </a:rPr>
              <a:t>FitPulse</a:t>
            </a:r>
            <a:r>
              <a:rPr sz="1650" b="1" spc="-114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B3121B"/>
                </a:solidFill>
                <a:latin typeface="Tahoma"/>
                <a:cs typeface="Tahoma"/>
              </a:rPr>
              <a:t>Tracker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CO3</a:t>
            </a:r>
            <a:r>
              <a:rPr spc="-775" dirty="0"/>
              <a:t> </a:t>
            </a:r>
            <a:r>
              <a:rPr spc="-1019" dirty="0"/>
              <a:t>T</a:t>
            </a:r>
            <a:r>
              <a:rPr spc="-440" dirty="0"/>
              <a:t>o</a:t>
            </a:r>
            <a:r>
              <a:rPr spc="-415" dirty="0"/>
              <a:t>p</a:t>
            </a:r>
            <a:r>
              <a:rPr spc="-425" dirty="0"/>
              <a:t>i</a:t>
            </a:r>
            <a:r>
              <a:rPr spc="-415" dirty="0"/>
              <a:t>c</a:t>
            </a:r>
            <a:r>
              <a:rPr spc="-315"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9800" y="2384173"/>
            <a:ext cx="7966709" cy="3839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b="1" spc="-110" dirty="0">
                <a:solidFill>
                  <a:srgbClr val="B3121B"/>
                </a:solidFill>
                <a:latin typeface="Arial"/>
                <a:cs typeface="Arial"/>
              </a:rPr>
              <a:t>Methods,</a:t>
            </a:r>
            <a:r>
              <a:rPr sz="2950" b="1" spc="-195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145" dirty="0">
                <a:solidFill>
                  <a:srgbClr val="B3121B"/>
                </a:solidFill>
                <a:latin typeface="Arial"/>
                <a:cs typeface="Arial"/>
              </a:rPr>
              <a:t>recursion</a:t>
            </a:r>
            <a:r>
              <a:rPr sz="2950" b="1" spc="-204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70" dirty="0">
                <a:solidFill>
                  <a:srgbClr val="B3121B"/>
                </a:solidFill>
                <a:latin typeface="Arial"/>
                <a:cs typeface="Arial"/>
              </a:rPr>
              <a:t>&amp;</a:t>
            </a:r>
            <a:r>
              <a:rPr sz="2950" b="1" spc="-170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10" dirty="0">
                <a:solidFill>
                  <a:srgbClr val="B3121B"/>
                </a:solidFill>
                <a:latin typeface="Arial"/>
                <a:cs typeface="Arial"/>
              </a:rPr>
              <a:t>arrays</a:t>
            </a:r>
            <a:endParaRPr sz="2950">
              <a:latin typeface="Arial"/>
              <a:cs typeface="Arial"/>
            </a:endParaRPr>
          </a:p>
          <a:p>
            <a:pPr marL="374015" marR="1672589" indent="-361950">
              <a:lnSpc>
                <a:spcPct val="116700"/>
              </a:lnSpc>
              <a:spcBef>
                <a:spcPts val="1285"/>
              </a:spcBef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50" dirty="0">
                <a:solidFill>
                  <a:srgbClr val="222222"/>
                </a:solidFill>
                <a:latin typeface="Tahoma"/>
                <a:cs typeface="Tahoma"/>
              </a:rPr>
              <a:t>Modular</a:t>
            </a:r>
            <a:r>
              <a:rPr sz="2250" b="1" spc="-12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spc="-45" dirty="0">
                <a:solidFill>
                  <a:srgbClr val="222222"/>
                </a:solidFill>
                <a:latin typeface="Tahoma"/>
                <a:cs typeface="Tahoma"/>
              </a:rPr>
              <a:t>methods:</a:t>
            </a:r>
            <a:r>
              <a:rPr sz="2250" b="1" spc="-10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45" dirty="0">
                <a:solidFill>
                  <a:srgbClr val="222222"/>
                </a:solidFill>
                <a:latin typeface="Tahoma"/>
                <a:cs typeface="Tahoma"/>
              </a:rPr>
              <a:t>evaluateBmiCategory(), </a:t>
            </a:r>
            <a:r>
              <a:rPr sz="2250" spc="20" dirty="0">
                <a:solidFill>
                  <a:srgbClr val="222222"/>
                </a:solidFill>
                <a:latin typeface="Tahoma"/>
                <a:cs typeface="Tahoma"/>
              </a:rPr>
              <a:t>handleWorkoutGoalSwitch(),</a:t>
            </a:r>
            <a:r>
              <a:rPr sz="2250" spc="254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-10" dirty="0">
                <a:solidFill>
                  <a:srgbClr val="222222"/>
                </a:solidFill>
                <a:latin typeface="Tahoma"/>
                <a:cs typeface="Tahoma"/>
              </a:rPr>
              <a:t>inputWorkouts()</a:t>
            </a:r>
            <a:endParaRPr sz="2250">
              <a:latin typeface="Tahoma"/>
              <a:cs typeface="Tahoma"/>
            </a:endParaRPr>
          </a:p>
          <a:p>
            <a:pPr marL="374015" marR="5080" indent="-361950">
              <a:lnSpc>
                <a:spcPct val="116700"/>
              </a:lnSpc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40" dirty="0">
                <a:solidFill>
                  <a:srgbClr val="222222"/>
                </a:solidFill>
                <a:latin typeface="Tahoma"/>
                <a:cs typeface="Tahoma"/>
              </a:rPr>
              <a:t>Recursion:</a:t>
            </a:r>
            <a:r>
              <a:rPr sz="2250" b="1" spc="-5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5" dirty="0">
                <a:solidFill>
                  <a:srgbClr val="222222"/>
                </a:solidFill>
                <a:latin typeface="Tahoma"/>
                <a:cs typeface="Tahoma"/>
              </a:rPr>
              <a:t>streak</a:t>
            </a:r>
            <a:r>
              <a:rPr sz="2250" spc="-12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multiplier</a:t>
            </a:r>
            <a:r>
              <a:rPr sz="2250" spc="-114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0" dirty="0">
                <a:solidFill>
                  <a:srgbClr val="222222"/>
                </a:solidFill>
                <a:latin typeface="Tahoma"/>
                <a:cs typeface="Tahoma"/>
              </a:rPr>
              <a:t>with</a:t>
            </a:r>
            <a:r>
              <a:rPr sz="2250" spc="-16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25" dirty="0">
                <a:solidFill>
                  <a:srgbClr val="222222"/>
                </a:solidFill>
                <a:latin typeface="Tahoma"/>
                <a:cs typeface="Tahoma"/>
              </a:rPr>
              <a:t>base</a:t>
            </a:r>
            <a:r>
              <a:rPr sz="2250" spc="-5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40" dirty="0">
                <a:solidFill>
                  <a:srgbClr val="222222"/>
                </a:solidFill>
                <a:latin typeface="Tahoma"/>
                <a:cs typeface="Tahoma"/>
              </a:rPr>
              <a:t>case</a:t>
            </a:r>
            <a:r>
              <a:rPr sz="2250" spc="-5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and</a:t>
            </a:r>
            <a:r>
              <a:rPr sz="2250" spc="-7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0" dirty="0">
                <a:solidFill>
                  <a:srgbClr val="222222"/>
                </a:solidFill>
                <a:latin typeface="Tahoma"/>
                <a:cs typeface="Tahoma"/>
              </a:rPr>
              <a:t>recursive </a:t>
            </a:r>
            <a:r>
              <a:rPr sz="2250" spc="120" dirty="0">
                <a:solidFill>
                  <a:srgbClr val="222222"/>
                </a:solidFill>
                <a:latin typeface="Tahoma"/>
                <a:cs typeface="Tahoma"/>
              </a:rPr>
              <a:t>case</a:t>
            </a:r>
            <a:endParaRPr sz="2250">
              <a:latin typeface="Tahoma"/>
              <a:cs typeface="Tahoma"/>
            </a:endParaRPr>
          </a:p>
          <a:p>
            <a:pPr marL="374015" indent="-361315">
              <a:lnSpc>
                <a:spcPct val="100000"/>
              </a:lnSpc>
              <a:spcBef>
                <a:spcPts val="450"/>
              </a:spcBef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215" dirty="0">
                <a:solidFill>
                  <a:srgbClr val="222222"/>
                </a:solidFill>
                <a:latin typeface="Tahoma"/>
                <a:cs typeface="Tahoma"/>
              </a:rPr>
              <a:t>1D</a:t>
            </a:r>
            <a:r>
              <a:rPr sz="2250" b="1" spc="-15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spc="-85" dirty="0">
                <a:solidFill>
                  <a:srgbClr val="222222"/>
                </a:solidFill>
                <a:latin typeface="Tahoma"/>
                <a:cs typeface="Tahoma"/>
              </a:rPr>
              <a:t>array:</a:t>
            </a:r>
            <a:r>
              <a:rPr sz="2250" b="1" spc="-7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10" dirty="0">
                <a:solidFill>
                  <a:srgbClr val="222222"/>
                </a:solidFill>
                <a:latin typeface="Tahoma"/>
                <a:cs typeface="Tahoma"/>
              </a:rPr>
              <a:t>7-</a:t>
            </a:r>
            <a:r>
              <a:rPr sz="2250" spc="85" dirty="0">
                <a:solidFill>
                  <a:srgbClr val="222222"/>
                </a:solidFill>
                <a:latin typeface="Tahoma"/>
                <a:cs typeface="Tahoma"/>
              </a:rPr>
              <a:t>day</a:t>
            </a:r>
            <a:r>
              <a:rPr sz="2250" spc="-10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05" dirty="0">
                <a:solidFill>
                  <a:srgbClr val="222222"/>
                </a:solidFill>
                <a:latin typeface="Tahoma"/>
                <a:cs typeface="Tahoma"/>
              </a:rPr>
              <a:t>steps</a:t>
            </a:r>
            <a:r>
              <a:rPr sz="2250" spc="-10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80" dirty="0">
                <a:solidFill>
                  <a:srgbClr val="222222"/>
                </a:solidFill>
                <a:latin typeface="Tahoma"/>
                <a:cs typeface="Tahoma"/>
              </a:rPr>
              <a:t>—</a:t>
            </a:r>
            <a:r>
              <a:rPr sz="2250" spc="-1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total,</a:t>
            </a:r>
            <a:r>
              <a:rPr sz="2250" spc="-15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5" dirty="0">
                <a:solidFill>
                  <a:srgbClr val="222222"/>
                </a:solidFill>
                <a:latin typeface="Tahoma"/>
                <a:cs typeface="Tahoma"/>
              </a:rPr>
              <a:t>average,</a:t>
            </a:r>
            <a:r>
              <a:rPr sz="2250" spc="-15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30" dirty="0">
                <a:solidFill>
                  <a:srgbClr val="222222"/>
                </a:solidFill>
                <a:latin typeface="Tahoma"/>
                <a:cs typeface="Tahoma"/>
              </a:rPr>
              <a:t>best</a:t>
            </a:r>
            <a:r>
              <a:rPr sz="2250" spc="-20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0" dirty="0">
                <a:solidFill>
                  <a:srgbClr val="222222"/>
                </a:solidFill>
                <a:latin typeface="Tahoma"/>
                <a:cs typeface="Tahoma"/>
              </a:rPr>
              <a:t>day</a:t>
            </a:r>
            <a:endParaRPr sz="2250">
              <a:latin typeface="Tahoma"/>
              <a:cs typeface="Tahoma"/>
            </a:endParaRPr>
          </a:p>
          <a:p>
            <a:pPr marL="374015" indent="-361315">
              <a:lnSpc>
                <a:spcPct val="100000"/>
              </a:lnSpc>
              <a:spcBef>
                <a:spcPts val="450"/>
              </a:spcBef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65" dirty="0">
                <a:solidFill>
                  <a:srgbClr val="222222"/>
                </a:solidFill>
                <a:latin typeface="Tahoma"/>
                <a:cs typeface="Tahoma"/>
              </a:rPr>
              <a:t>Linear</a:t>
            </a:r>
            <a:r>
              <a:rPr sz="2250" b="1" spc="-1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spc="-30" dirty="0">
                <a:solidFill>
                  <a:srgbClr val="222222"/>
                </a:solidFill>
                <a:latin typeface="Tahoma"/>
                <a:cs typeface="Tahoma"/>
              </a:rPr>
              <a:t>search:</a:t>
            </a:r>
            <a:r>
              <a:rPr sz="2250" b="1" spc="-9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0" dirty="0">
                <a:solidFill>
                  <a:srgbClr val="222222"/>
                </a:solidFill>
                <a:latin typeface="Tahoma"/>
                <a:cs typeface="Tahoma"/>
              </a:rPr>
              <a:t>find</a:t>
            </a:r>
            <a:r>
              <a:rPr sz="2250" spc="-114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80" dirty="0">
                <a:solidFill>
                  <a:srgbClr val="222222"/>
                </a:solidFill>
                <a:latin typeface="Tahoma"/>
                <a:cs typeface="Tahoma"/>
              </a:rPr>
              <a:t>a</a:t>
            </a:r>
            <a:r>
              <a:rPr sz="2250" spc="-14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00" dirty="0">
                <a:solidFill>
                  <a:srgbClr val="222222"/>
                </a:solidFill>
                <a:latin typeface="Tahoma"/>
                <a:cs typeface="Tahoma"/>
              </a:rPr>
              <a:t>step</a:t>
            </a:r>
            <a:r>
              <a:rPr sz="2250" spc="-16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0" dirty="0">
                <a:solidFill>
                  <a:srgbClr val="222222"/>
                </a:solidFill>
                <a:latin typeface="Tahoma"/>
                <a:cs typeface="Tahoma"/>
              </a:rPr>
              <a:t>milestone</a:t>
            </a:r>
            <a:endParaRPr sz="2250">
              <a:latin typeface="Tahoma"/>
              <a:cs typeface="Tahoma"/>
            </a:endParaRPr>
          </a:p>
          <a:p>
            <a:pPr marL="374015" indent="-361315">
              <a:lnSpc>
                <a:spcPct val="100000"/>
              </a:lnSpc>
              <a:spcBef>
                <a:spcPts val="450"/>
              </a:spcBef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25" dirty="0">
                <a:solidFill>
                  <a:srgbClr val="222222"/>
                </a:solidFill>
                <a:latin typeface="Tahoma"/>
                <a:cs typeface="Tahoma"/>
              </a:rPr>
              <a:t>2D</a:t>
            </a:r>
            <a:r>
              <a:rPr sz="2250" b="1" spc="-14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spc="-85" dirty="0">
                <a:solidFill>
                  <a:srgbClr val="222222"/>
                </a:solidFill>
                <a:latin typeface="Tahoma"/>
                <a:cs typeface="Tahoma"/>
              </a:rPr>
              <a:t>array:</a:t>
            </a:r>
            <a:r>
              <a:rPr sz="2250" b="1" spc="-6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5" dirty="0">
                <a:solidFill>
                  <a:srgbClr val="222222"/>
                </a:solidFill>
                <a:latin typeface="Tahoma"/>
                <a:cs typeface="Tahoma"/>
              </a:rPr>
              <a:t>rep</a:t>
            </a:r>
            <a:r>
              <a:rPr sz="2250" spc="-14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matrix</a:t>
            </a:r>
            <a:r>
              <a:rPr sz="2250" spc="-13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30" dirty="0">
                <a:solidFill>
                  <a:srgbClr val="222222"/>
                </a:solidFill>
                <a:latin typeface="Tahoma"/>
                <a:cs typeface="Tahoma"/>
              </a:rPr>
              <a:t>of</a:t>
            </a:r>
            <a:r>
              <a:rPr sz="2250" spc="-10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30" dirty="0">
                <a:solidFill>
                  <a:srgbClr val="222222"/>
                </a:solidFill>
                <a:latin typeface="Tahoma"/>
                <a:cs typeface="Tahoma"/>
              </a:rPr>
              <a:t>2</a:t>
            </a:r>
            <a:r>
              <a:rPr sz="2250" spc="-13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90" dirty="0">
                <a:solidFill>
                  <a:srgbClr val="222222"/>
                </a:solidFill>
                <a:latin typeface="Tahoma"/>
                <a:cs typeface="Tahoma"/>
              </a:rPr>
              <a:t>users</a:t>
            </a:r>
            <a:r>
              <a:rPr sz="2250" spc="-9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-170" dirty="0">
                <a:solidFill>
                  <a:srgbClr val="222222"/>
                </a:solidFill>
                <a:latin typeface="Tahoma"/>
                <a:cs typeface="Tahoma"/>
              </a:rPr>
              <a:t>×</a:t>
            </a:r>
            <a:r>
              <a:rPr sz="2250" spc="-10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95" dirty="0">
                <a:solidFill>
                  <a:srgbClr val="222222"/>
                </a:solidFill>
                <a:latin typeface="Tahoma"/>
                <a:cs typeface="Tahoma"/>
              </a:rPr>
              <a:t>3</a:t>
            </a:r>
            <a:r>
              <a:rPr sz="2250" spc="-1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90" dirty="0">
                <a:solidFill>
                  <a:srgbClr val="222222"/>
                </a:solidFill>
                <a:latin typeface="Tahoma"/>
                <a:cs typeface="Tahoma"/>
              </a:rPr>
              <a:t>sets</a:t>
            </a:r>
            <a:endParaRPr sz="2250">
              <a:latin typeface="Tahoma"/>
              <a:cs typeface="Tahoma"/>
            </a:endParaRPr>
          </a:p>
          <a:p>
            <a:pPr marL="374015" indent="-361315">
              <a:lnSpc>
                <a:spcPct val="100000"/>
              </a:lnSpc>
              <a:spcBef>
                <a:spcPts val="450"/>
              </a:spcBef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30" dirty="0">
                <a:solidFill>
                  <a:srgbClr val="222222"/>
                </a:solidFill>
                <a:latin typeface="Tahoma"/>
                <a:cs typeface="Tahoma"/>
              </a:rPr>
              <a:t>Enhanced</a:t>
            </a:r>
            <a:r>
              <a:rPr sz="2250" b="1" spc="-16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spc="-35" dirty="0">
                <a:solidFill>
                  <a:srgbClr val="222222"/>
                </a:solidFill>
                <a:latin typeface="Tahoma"/>
                <a:cs typeface="Tahoma"/>
              </a:rPr>
              <a:t>for-</a:t>
            </a:r>
            <a:r>
              <a:rPr sz="2250" b="1" spc="-10" dirty="0">
                <a:solidFill>
                  <a:srgbClr val="222222"/>
                </a:solidFill>
                <a:latin typeface="Tahoma"/>
                <a:cs typeface="Tahoma"/>
              </a:rPr>
              <a:t>each</a:t>
            </a:r>
            <a:r>
              <a:rPr sz="2250" b="1" spc="-14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spc="-60" dirty="0">
                <a:solidFill>
                  <a:srgbClr val="222222"/>
                </a:solidFill>
                <a:latin typeface="Tahoma"/>
                <a:cs typeface="Tahoma"/>
              </a:rPr>
              <a:t>loop</a:t>
            </a:r>
            <a:r>
              <a:rPr sz="2250" b="1" spc="-8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for</a:t>
            </a:r>
            <a:r>
              <a:rPr sz="2250" spc="-14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0" dirty="0">
                <a:solidFill>
                  <a:srgbClr val="222222"/>
                </a:solidFill>
                <a:latin typeface="Tahoma"/>
                <a:cs typeface="Tahoma"/>
              </a:rPr>
              <a:t>summation</a:t>
            </a:r>
            <a:endParaRPr sz="22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705975" y="2371725"/>
            <a:ext cx="7639050" cy="6781800"/>
            <a:chOff x="9705975" y="2371725"/>
            <a:chExt cx="7639050" cy="6781800"/>
          </a:xfrm>
        </p:grpSpPr>
        <p:sp>
          <p:nvSpPr>
            <p:cNvPr id="6" name="object 6"/>
            <p:cNvSpPr/>
            <p:nvPr/>
          </p:nvSpPr>
          <p:spPr>
            <a:xfrm>
              <a:off x="9715499" y="2381249"/>
              <a:ext cx="7620000" cy="6762750"/>
            </a:xfrm>
            <a:custGeom>
              <a:avLst/>
              <a:gdLst/>
              <a:ahLst/>
              <a:cxnLst/>
              <a:rect l="l" t="t" r="r" b="b"/>
              <a:pathLst>
                <a:path w="7620000" h="6762750">
                  <a:moveTo>
                    <a:pt x="7467598" y="6762749"/>
                  </a:moveTo>
                  <a:lnTo>
                    <a:pt x="152399" y="6762749"/>
                  </a:lnTo>
                  <a:lnTo>
                    <a:pt x="108155" y="6756205"/>
                  </a:lnTo>
                  <a:lnTo>
                    <a:pt x="67715" y="6737089"/>
                  </a:lnTo>
                  <a:lnTo>
                    <a:pt x="34583" y="6707038"/>
                  </a:lnTo>
                  <a:lnTo>
                    <a:pt x="11600" y="6668669"/>
                  </a:lnTo>
                  <a:lnTo>
                    <a:pt x="714" y="6625289"/>
                  </a:lnTo>
                  <a:lnTo>
                    <a:pt x="0" y="6610349"/>
                  </a:lnTo>
                  <a:lnTo>
                    <a:pt x="0" y="152399"/>
                  </a:lnTo>
                  <a:lnTo>
                    <a:pt x="6542" y="108155"/>
                  </a:lnTo>
                  <a:lnTo>
                    <a:pt x="25659" y="67716"/>
                  </a:lnTo>
                  <a:lnTo>
                    <a:pt x="55709" y="34583"/>
                  </a:lnTo>
                  <a:lnTo>
                    <a:pt x="94078" y="11600"/>
                  </a:lnTo>
                  <a:lnTo>
                    <a:pt x="137459" y="714"/>
                  </a:lnTo>
                  <a:lnTo>
                    <a:pt x="7467599" y="0"/>
                  </a:lnTo>
                  <a:lnTo>
                    <a:pt x="7482536" y="721"/>
                  </a:lnTo>
                  <a:lnTo>
                    <a:pt x="7525919" y="11600"/>
                  </a:lnTo>
                  <a:lnTo>
                    <a:pt x="7564291" y="34577"/>
                  </a:lnTo>
                  <a:lnTo>
                    <a:pt x="7594336" y="67714"/>
                  </a:lnTo>
                  <a:lnTo>
                    <a:pt x="7613447" y="108156"/>
                  </a:lnTo>
                  <a:lnTo>
                    <a:pt x="7619999" y="152399"/>
                  </a:lnTo>
                  <a:lnTo>
                    <a:pt x="7619999" y="6610349"/>
                  </a:lnTo>
                  <a:lnTo>
                    <a:pt x="7619277" y="6625287"/>
                  </a:lnTo>
                  <a:lnTo>
                    <a:pt x="7608396" y="6668669"/>
                  </a:lnTo>
                  <a:lnTo>
                    <a:pt x="7585420" y="6707041"/>
                  </a:lnTo>
                  <a:lnTo>
                    <a:pt x="7552283" y="6737087"/>
                  </a:lnTo>
                  <a:lnTo>
                    <a:pt x="7511841" y="6756197"/>
                  </a:lnTo>
                  <a:lnTo>
                    <a:pt x="7467598" y="6762749"/>
                  </a:lnTo>
                  <a:close/>
                </a:path>
              </a:pathLst>
            </a:custGeom>
            <a:solidFill>
              <a:srgbClr val="1E1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715499" y="2381249"/>
              <a:ext cx="7620000" cy="6762750"/>
            </a:xfrm>
            <a:custGeom>
              <a:avLst/>
              <a:gdLst/>
              <a:ahLst/>
              <a:cxnLst/>
              <a:rect l="l" t="t" r="r" b="b"/>
              <a:pathLst>
                <a:path w="7620000" h="6762750">
                  <a:moveTo>
                    <a:pt x="152399" y="0"/>
                  </a:moveTo>
                  <a:lnTo>
                    <a:pt x="7467598" y="0"/>
                  </a:lnTo>
                </a:path>
                <a:path w="7620000" h="6762750">
                  <a:moveTo>
                    <a:pt x="7619999" y="152399"/>
                  </a:moveTo>
                  <a:lnTo>
                    <a:pt x="7619999" y="6610349"/>
                  </a:lnTo>
                </a:path>
                <a:path w="7620000" h="6762750">
                  <a:moveTo>
                    <a:pt x="7467598" y="6762749"/>
                  </a:moveTo>
                  <a:lnTo>
                    <a:pt x="152399" y="6762749"/>
                  </a:lnTo>
                </a:path>
                <a:path w="7620000" h="6762750">
                  <a:moveTo>
                    <a:pt x="0" y="6610349"/>
                  </a:moveTo>
                  <a:lnTo>
                    <a:pt x="0" y="152399"/>
                  </a:lnTo>
                </a:path>
              </a:pathLst>
            </a:custGeom>
            <a:ln w="19049">
              <a:solidFill>
                <a:srgbClr val="1E1E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083799" y="2606675"/>
            <a:ext cx="460184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189" marR="5080" indent="-111125">
              <a:lnSpc>
                <a:spcPct val="133300"/>
              </a:lnSpc>
              <a:spcBef>
                <a:spcPts val="100"/>
              </a:spcBef>
              <a:tabLst>
                <a:tab pos="2630170" algn="l"/>
              </a:tabLst>
            </a:pPr>
            <a:r>
              <a:rPr sz="1500" spc="65" dirty="0">
                <a:solidFill>
                  <a:srgbClr val="E8E8E8"/>
                </a:solidFill>
                <a:latin typeface="Tahoma"/>
                <a:cs typeface="Tahoma"/>
              </a:rPr>
              <a:t>public</a:t>
            </a:r>
            <a:r>
              <a:rPr sz="1500" spc="1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static</a:t>
            </a:r>
            <a:r>
              <a:rPr sz="1500" spc="1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30" dirty="0">
                <a:solidFill>
                  <a:srgbClr val="E8E8E8"/>
                </a:solidFill>
                <a:latin typeface="Tahoma"/>
                <a:cs typeface="Tahoma"/>
              </a:rPr>
              <a:t>int</a:t>
            </a:r>
            <a:r>
              <a:rPr sz="1500" spc="9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30" dirty="0">
                <a:solidFill>
                  <a:srgbClr val="E8E8E8"/>
                </a:solidFill>
                <a:latin typeface="Tahoma"/>
                <a:cs typeface="Tahoma"/>
              </a:rPr>
              <a:t>calculateStreakMultiplier(int</a:t>
            </a:r>
            <a:r>
              <a:rPr sz="1500" spc="9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30" dirty="0">
                <a:solidFill>
                  <a:srgbClr val="E8E8E8"/>
                </a:solidFill>
                <a:latin typeface="Tahoma"/>
                <a:cs typeface="Tahoma"/>
              </a:rPr>
              <a:t>days)</a:t>
            </a:r>
            <a:r>
              <a:rPr sz="1500" spc="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E8E8E8"/>
                </a:solidFill>
                <a:latin typeface="Tahoma"/>
                <a:cs typeface="Tahoma"/>
              </a:rPr>
              <a:t>{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if</a:t>
            </a:r>
            <a:r>
              <a:rPr sz="1500" spc="5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(days</a:t>
            </a:r>
            <a:r>
              <a:rPr sz="1500" spc="-4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30" dirty="0">
                <a:solidFill>
                  <a:srgbClr val="E8E8E8"/>
                </a:solidFill>
                <a:latin typeface="Tahoma"/>
                <a:cs typeface="Tahoma"/>
              </a:rPr>
              <a:t>&lt;=</a:t>
            </a:r>
            <a:r>
              <a:rPr sz="1500" spc="-2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0" dirty="0">
                <a:solidFill>
                  <a:srgbClr val="E8E8E8"/>
                </a:solidFill>
                <a:latin typeface="Tahoma"/>
                <a:cs typeface="Tahoma"/>
              </a:rPr>
              <a:t>1)</a:t>
            </a:r>
            <a:r>
              <a:rPr sz="1500" spc="-3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return</a:t>
            </a:r>
            <a:r>
              <a:rPr sz="1500" spc="1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E8E8E8"/>
                </a:solidFill>
                <a:latin typeface="Tahoma"/>
                <a:cs typeface="Tahoma"/>
              </a:rPr>
              <a:t>1;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	</a:t>
            </a:r>
            <a:r>
              <a:rPr sz="1500" spc="-50" dirty="0">
                <a:solidFill>
                  <a:srgbClr val="E8E8E8"/>
                </a:solidFill>
                <a:latin typeface="Tahoma"/>
                <a:cs typeface="Tahoma"/>
              </a:rPr>
              <a:t>//</a:t>
            </a:r>
            <a:r>
              <a:rPr sz="1500" spc="-5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E8E8E8"/>
                </a:solidFill>
                <a:latin typeface="Tahoma"/>
                <a:cs typeface="Tahoma"/>
              </a:rPr>
              <a:t>base</a:t>
            </a:r>
            <a:r>
              <a:rPr sz="1500" spc="-2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E8E8E8"/>
                </a:solidFill>
                <a:latin typeface="Tahoma"/>
                <a:cs typeface="Tahoma"/>
              </a:rPr>
              <a:t>case</a:t>
            </a:r>
            <a:endParaRPr sz="1500">
              <a:latin typeface="Tahoma"/>
              <a:cs typeface="Tahoma"/>
            </a:endParaRPr>
          </a:p>
          <a:p>
            <a:pPr marL="123189">
              <a:lnSpc>
                <a:spcPct val="100000"/>
              </a:lnSpc>
              <a:spcBef>
                <a:spcPts val="600"/>
              </a:spcBef>
            </a:pP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return</a:t>
            </a:r>
            <a:r>
              <a:rPr sz="1500" spc="-2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E8E8E8"/>
                </a:solidFill>
                <a:latin typeface="Tahoma"/>
                <a:cs typeface="Tahoma"/>
              </a:rPr>
              <a:t>days</a:t>
            </a:r>
            <a:r>
              <a:rPr sz="1500" spc="-7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90" dirty="0">
                <a:solidFill>
                  <a:srgbClr val="E8E8E8"/>
                </a:solidFill>
                <a:latin typeface="Tahoma"/>
                <a:cs typeface="Tahoma"/>
              </a:rPr>
              <a:t>*</a:t>
            </a:r>
            <a:r>
              <a:rPr sz="1500" spc="-3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calculateStreakMultiplier(days</a:t>
            </a:r>
            <a:r>
              <a:rPr sz="1500" spc="-7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135" dirty="0">
                <a:solidFill>
                  <a:srgbClr val="E8E8E8"/>
                </a:solidFill>
                <a:latin typeface="Tahoma"/>
                <a:cs typeface="Tahoma"/>
              </a:rPr>
              <a:t>-</a:t>
            </a:r>
            <a:r>
              <a:rPr sz="1500" spc="-12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E8E8E8"/>
                </a:solidFill>
                <a:latin typeface="Tahoma"/>
                <a:cs typeface="Tahoma"/>
              </a:rPr>
              <a:t>1);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83799" y="3597275"/>
            <a:ext cx="946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30" dirty="0">
                <a:solidFill>
                  <a:srgbClr val="E8E8E8"/>
                </a:solidFill>
                <a:latin typeface="Tahoma"/>
                <a:cs typeface="Tahoma"/>
              </a:rPr>
              <a:t>}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83799" y="4130675"/>
            <a:ext cx="4751705" cy="2768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int[]</a:t>
            </a:r>
            <a:r>
              <a:rPr sz="1500" spc="-7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E8E8E8"/>
                </a:solidFill>
                <a:latin typeface="Tahoma"/>
                <a:cs typeface="Tahoma"/>
              </a:rPr>
              <a:t>dailySteps</a:t>
            </a:r>
            <a:r>
              <a:rPr sz="1500" spc="-8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=</a:t>
            </a:r>
            <a:r>
              <a:rPr sz="1500" spc="-6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E8E8E8"/>
                </a:solidFill>
                <a:latin typeface="Tahoma"/>
                <a:cs typeface="Tahoma"/>
              </a:rPr>
              <a:t>new</a:t>
            </a:r>
            <a:r>
              <a:rPr sz="1500" spc="-6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int[7];</a:t>
            </a:r>
            <a:endParaRPr sz="1500">
              <a:latin typeface="Tahoma"/>
              <a:cs typeface="Tahoma"/>
            </a:endParaRPr>
          </a:p>
          <a:p>
            <a:pPr marL="12700" marR="723265">
              <a:lnSpc>
                <a:spcPct val="133300"/>
              </a:lnSpc>
            </a:pP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int</a:t>
            </a:r>
            <a:r>
              <a:rPr sz="1500" spc="1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E8E8E8"/>
                </a:solidFill>
                <a:latin typeface="Tahoma"/>
                <a:cs typeface="Tahoma"/>
              </a:rPr>
              <a:t>totalSteps</a:t>
            </a:r>
            <a:r>
              <a:rPr sz="1500" spc="-7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=</a:t>
            </a:r>
            <a:r>
              <a:rPr sz="1500" spc="-6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0,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80" dirty="0">
                <a:solidFill>
                  <a:srgbClr val="E8E8E8"/>
                </a:solidFill>
                <a:latin typeface="Tahoma"/>
                <a:cs typeface="Tahoma"/>
              </a:rPr>
              <a:t>maxSteps</a:t>
            </a:r>
            <a:r>
              <a:rPr sz="1500" spc="-7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=</a:t>
            </a:r>
            <a:r>
              <a:rPr sz="1500" spc="-6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dailySteps[0]; </a:t>
            </a: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for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(int</a:t>
            </a:r>
            <a:r>
              <a:rPr sz="1500" spc="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90" dirty="0">
                <a:solidFill>
                  <a:srgbClr val="E8E8E8"/>
                </a:solidFill>
                <a:latin typeface="Tahoma"/>
                <a:cs typeface="Tahoma"/>
              </a:rPr>
              <a:t>steps</a:t>
            </a:r>
            <a:r>
              <a:rPr sz="1500" spc="-8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25" dirty="0">
                <a:solidFill>
                  <a:srgbClr val="E8E8E8"/>
                </a:solidFill>
                <a:latin typeface="Tahoma"/>
                <a:cs typeface="Tahoma"/>
              </a:rPr>
              <a:t>:</a:t>
            </a:r>
            <a:r>
              <a:rPr sz="1500" spc="-9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E8E8E8"/>
                </a:solidFill>
                <a:latin typeface="Tahoma"/>
                <a:cs typeface="Tahoma"/>
              </a:rPr>
              <a:t>dailySteps)</a:t>
            </a:r>
            <a:r>
              <a:rPr sz="1500" spc="-7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E8E8E8"/>
                </a:solidFill>
                <a:latin typeface="Tahoma"/>
                <a:cs typeface="Tahoma"/>
              </a:rPr>
              <a:t>{</a:t>
            </a:r>
            <a:endParaRPr sz="1500">
              <a:latin typeface="Tahoma"/>
              <a:cs typeface="Tahoma"/>
            </a:endParaRPr>
          </a:p>
          <a:p>
            <a:pPr marL="123189">
              <a:lnSpc>
                <a:spcPct val="100000"/>
              </a:lnSpc>
              <a:spcBef>
                <a:spcPts val="600"/>
              </a:spcBef>
            </a:pPr>
            <a:r>
              <a:rPr sz="1500" spc="75" dirty="0">
                <a:solidFill>
                  <a:srgbClr val="E8E8E8"/>
                </a:solidFill>
                <a:latin typeface="Tahoma"/>
                <a:cs typeface="Tahoma"/>
              </a:rPr>
              <a:t>totalSteps</a:t>
            </a:r>
            <a:r>
              <a:rPr sz="1500" spc="-6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30" dirty="0">
                <a:solidFill>
                  <a:srgbClr val="E8E8E8"/>
                </a:solidFill>
                <a:latin typeface="Tahoma"/>
                <a:cs typeface="Tahoma"/>
              </a:rPr>
              <a:t>+=</a:t>
            </a:r>
            <a:r>
              <a:rPr sz="1500" spc="-4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40" dirty="0">
                <a:solidFill>
                  <a:srgbClr val="E8E8E8"/>
                </a:solidFill>
                <a:latin typeface="Tahoma"/>
                <a:cs typeface="Tahoma"/>
              </a:rPr>
              <a:t>steps;</a:t>
            </a:r>
            <a:endParaRPr sz="1500">
              <a:latin typeface="Tahoma"/>
              <a:cs typeface="Tahoma"/>
            </a:endParaRPr>
          </a:p>
          <a:p>
            <a:pPr marL="123189">
              <a:lnSpc>
                <a:spcPct val="100000"/>
              </a:lnSpc>
              <a:spcBef>
                <a:spcPts val="600"/>
              </a:spcBef>
            </a:pP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if</a:t>
            </a:r>
            <a:r>
              <a:rPr sz="1500" spc="2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E8E8E8"/>
                </a:solidFill>
                <a:latin typeface="Tahoma"/>
                <a:cs typeface="Tahoma"/>
              </a:rPr>
              <a:t>(steps</a:t>
            </a:r>
            <a:r>
              <a:rPr sz="1500" spc="-8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&gt;</a:t>
            </a:r>
            <a:r>
              <a:rPr sz="1500" spc="-5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E8E8E8"/>
                </a:solidFill>
                <a:latin typeface="Tahoma"/>
                <a:cs typeface="Tahoma"/>
              </a:rPr>
              <a:t>maxSteps)</a:t>
            </a:r>
            <a:r>
              <a:rPr sz="1500" spc="-6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80" dirty="0">
                <a:solidFill>
                  <a:srgbClr val="E8E8E8"/>
                </a:solidFill>
                <a:latin typeface="Tahoma"/>
                <a:cs typeface="Tahoma"/>
              </a:rPr>
              <a:t>maxSteps</a:t>
            </a:r>
            <a:r>
              <a:rPr sz="1500" spc="-7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=</a:t>
            </a:r>
            <a:r>
              <a:rPr sz="1500" spc="-5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40" dirty="0">
                <a:solidFill>
                  <a:srgbClr val="E8E8E8"/>
                </a:solidFill>
                <a:latin typeface="Tahoma"/>
                <a:cs typeface="Tahoma"/>
              </a:rPr>
              <a:t>steps;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spc="-50" dirty="0">
                <a:solidFill>
                  <a:srgbClr val="E8E8E8"/>
                </a:solidFill>
                <a:latin typeface="Tahoma"/>
                <a:cs typeface="Tahoma"/>
              </a:rPr>
              <a:t>}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double</a:t>
            </a:r>
            <a:r>
              <a:rPr sz="1500" spc="3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avg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=</a:t>
            </a:r>
            <a:r>
              <a:rPr sz="1500" spc="-1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(double)</a:t>
            </a:r>
            <a:r>
              <a:rPr sz="1500" spc="-1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E8E8E8"/>
                </a:solidFill>
                <a:latin typeface="Tahoma"/>
                <a:cs typeface="Tahoma"/>
              </a:rPr>
              <a:t>totalSteps</a:t>
            </a:r>
            <a:r>
              <a:rPr sz="1500" spc="-3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/</a:t>
            </a:r>
            <a:r>
              <a:rPr sz="1500" spc="-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dailySteps.length;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500" spc="-25" dirty="0">
                <a:solidFill>
                  <a:srgbClr val="E8E8E8"/>
                </a:solidFill>
                <a:latin typeface="Tahoma"/>
                <a:cs typeface="Tahoma"/>
              </a:rPr>
              <a:t>int[][]</a:t>
            </a:r>
            <a:r>
              <a:rPr sz="1500" spc="-9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userRepMatrix</a:t>
            </a:r>
            <a:r>
              <a:rPr sz="1500" spc="-4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=</a:t>
            </a:r>
            <a:r>
              <a:rPr sz="1500" spc="-6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95" dirty="0">
                <a:solidFill>
                  <a:srgbClr val="E8E8E8"/>
                </a:solidFill>
                <a:latin typeface="Tahoma"/>
                <a:cs typeface="Tahoma"/>
              </a:rPr>
              <a:t>{</a:t>
            </a:r>
            <a:r>
              <a:rPr sz="1500" spc="-7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E8E8E8"/>
                </a:solidFill>
                <a:latin typeface="Tahoma"/>
                <a:cs typeface="Tahoma"/>
              </a:rPr>
              <a:t>{30,</a:t>
            </a:r>
            <a:r>
              <a:rPr sz="1500" spc="-3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45,</a:t>
            </a:r>
            <a:r>
              <a:rPr sz="1500" spc="-3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E8E8E8"/>
                </a:solidFill>
                <a:latin typeface="Tahoma"/>
                <a:cs typeface="Tahoma"/>
              </a:rPr>
              <a:t>25},</a:t>
            </a:r>
            <a:r>
              <a:rPr sz="1500" spc="-2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E8E8E8"/>
                </a:solidFill>
                <a:latin typeface="Tahoma"/>
                <a:cs typeface="Tahoma"/>
              </a:rPr>
              <a:t>{40,</a:t>
            </a:r>
            <a:r>
              <a:rPr sz="1500" spc="-3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50,</a:t>
            </a:r>
            <a:r>
              <a:rPr sz="1500" spc="-3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30}</a:t>
            </a:r>
            <a:r>
              <a:rPr sz="1500" spc="-7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E8E8E8"/>
                </a:solidFill>
                <a:latin typeface="Tahoma"/>
                <a:cs typeface="Tahoma"/>
              </a:rPr>
              <a:t>};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16-10-</a:t>
            </a:r>
            <a:r>
              <a:rPr spc="85" dirty="0"/>
              <a:t>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39800" y="492125"/>
            <a:ext cx="3332479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45" dirty="0">
                <a:solidFill>
                  <a:srgbClr val="B3121B"/>
                </a:solidFill>
                <a:latin typeface="Tahoma"/>
                <a:cs typeface="Tahoma"/>
              </a:rPr>
              <a:t>KL</a:t>
            </a:r>
            <a:r>
              <a:rPr sz="1650" b="1" spc="-145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100" dirty="0">
                <a:solidFill>
                  <a:srgbClr val="B3121B"/>
                </a:solidFill>
                <a:latin typeface="Tahoma"/>
                <a:cs typeface="Tahoma"/>
              </a:rPr>
              <a:t>UNIVERSITY </a:t>
            </a:r>
            <a:r>
              <a:rPr sz="1650" b="1" spc="-120" dirty="0">
                <a:solidFill>
                  <a:srgbClr val="B3121B"/>
                </a:solidFill>
                <a:latin typeface="Tahoma"/>
                <a:cs typeface="Tahoma"/>
              </a:rPr>
              <a:t>·</a:t>
            </a:r>
            <a:r>
              <a:rPr sz="1650" b="1" spc="-150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55" dirty="0">
                <a:solidFill>
                  <a:srgbClr val="B3121B"/>
                </a:solidFill>
                <a:latin typeface="Tahoma"/>
                <a:cs typeface="Tahoma"/>
              </a:rPr>
              <a:t>FitPulse</a:t>
            </a:r>
            <a:r>
              <a:rPr sz="1650" b="1" spc="-114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B3121B"/>
                </a:solidFill>
                <a:latin typeface="Tahoma"/>
                <a:cs typeface="Tahoma"/>
              </a:rPr>
              <a:t>Tracker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9800" y="875796"/>
            <a:ext cx="1477010" cy="9251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900" b="1" spc="-280" dirty="0">
                <a:solidFill>
                  <a:srgbClr val="111111"/>
                </a:solidFill>
                <a:latin typeface="Arial"/>
                <a:cs typeface="Arial"/>
              </a:rPr>
              <a:t>CO4</a:t>
            </a:r>
            <a:endParaRPr sz="5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9800" y="2384173"/>
            <a:ext cx="7610475" cy="4639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b="1" spc="-135" dirty="0">
                <a:solidFill>
                  <a:srgbClr val="B3121B"/>
                </a:solidFill>
                <a:latin typeface="Arial"/>
                <a:cs typeface="Arial"/>
              </a:rPr>
              <a:t>OOP</a:t>
            </a:r>
            <a:r>
              <a:rPr sz="2950" b="1" spc="-200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130" dirty="0">
                <a:solidFill>
                  <a:srgbClr val="B3121B"/>
                </a:solidFill>
                <a:latin typeface="Arial"/>
                <a:cs typeface="Arial"/>
              </a:rPr>
              <a:t>modelling</a:t>
            </a:r>
            <a:r>
              <a:rPr sz="2950" b="1" spc="-225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70" dirty="0">
                <a:solidFill>
                  <a:srgbClr val="B3121B"/>
                </a:solidFill>
                <a:latin typeface="Arial"/>
                <a:cs typeface="Arial"/>
              </a:rPr>
              <a:t>&amp;</a:t>
            </a:r>
            <a:r>
              <a:rPr sz="2950" b="1" spc="-160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105" dirty="0">
                <a:solidFill>
                  <a:srgbClr val="B3121B"/>
                </a:solidFill>
                <a:latin typeface="Arial"/>
                <a:cs typeface="Arial"/>
              </a:rPr>
              <a:t>exception</a:t>
            </a:r>
            <a:r>
              <a:rPr sz="2950" b="1" spc="-200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10" dirty="0">
                <a:solidFill>
                  <a:srgbClr val="B3121B"/>
                </a:solidFill>
                <a:latin typeface="Arial"/>
                <a:cs typeface="Arial"/>
              </a:rPr>
              <a:t>handling</a:t>
            </a:r>
            <a:endParaRPr sz="2950">
              <a:latin typeface="Arial"/>
              <a:cs typeface="Arial"/>
            </a:endParaRPr>
          </a:p>
          <a:p>
            <a:pPr marL="374015" marR="5080" indent="-361950">
              <a:lnSpc>
                <a:spcPct val="116700"/>
              </a:lnSpc>
              <a:spcBef>
                <a:spcPts val="1285"/>
              </a:spcBef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65" dirty="0">
                <a:solidFill>
                  <a:srgbClr val="222222"/>
                </a:solidFill>
                <a:latin typeface="Tahoma"/>
                <a:cs typeface="Tahoma"/>
              </a:rPr>
              <a:t>Interface</a:t>
            </a:r>
            <a:r>
              <a:rPr sz="2250" b="1" spc="-7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0" dirty="0">
                <a:solidFill>
                  <a:srgbClr val="222222"/>
                </a:solidFill>
                <a:latin typeface="Tahoma"/>
                <a:cs typeface="Tahoma"/>
              </a:rPr>
              <a:t>Trackable</a:t>
            </a:r>
            <a:r>
              <a:rPr sz="2250" spc="-7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00" dirty="0">
                <a:solidFill>
                  <a:srgbClr val="222222"/>
                </a:solidFill>
                <a:latin typeface="Tahoma"/>
                <a:cs typeface="Tahoma"/>
              </a:rPr>
              <a:t>defines</a:t>
            </a:r>
            <a:r>
              <a:rPr sz="2250" spc="-9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0" dirty="0">
                <a:solidFill>
                  <a:srgbClr val="222222"/>
                </a:solidFill>
                <a:latin typeface="Tahoma"/>
                <a:cs typeface="Tahoma"/>
              </a:rPr>
              <a:t>calculateCaloriesBurned()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and</a:t>
            </a:r>
            <a:r>
              <a:rPr sz="2250" spc="-1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-10" dirty="0">
                <a:solidFill>
                  <a:srgbClr val="222222"/>
                </a:solidFill>
                <a:latin typeface="Tahoma"/>
                <a:cs typeface="Tahoma"/>
              </a:rPr>
              <a:t>getSummary()</a:t>
            </a:r>
            <a:endParaRPr sz="2250">
              <a:latin typeface="Tahoma"/>
              <a:cs typeface="Tahoma"/>
            </a:endParaRPr>
          </a:p>
          <a:p>
            <a:pPr marL="374015" marR="87630" indent="-361950">
              <a:lnSpc>
                <a:spcPct val="116700"/>
              </a:lnSpc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dirty="0">
                <a:solidFill>
                  <a:srgbClr val="222222"/>
                </a:solidFill>
                <a:latin typeface="Tahoma"/>
                <a:cs typeface="Tahoma"/>
              </a:rPr>
              <a:t>Abstract</a:t>
            </a:r>
            <a:r>
              <a:rPr sz="2250" b="1" spc="-13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dirty="0">
                <a:solidFill>
                  <a:srgbClr val="222222"/>
                </a:solidFill>
                <a:latin typeface="Tahoma"/>
                <a:cs typeface="Tahoma"/>
              </a:rPr>
              <a:t>class</a:t>
            </a:r>
            <a:r>
              <a:rPr sz="2250" b="1" spc="-6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45" dirty="0">
                <a:solidFill>
                  <a:srgbClr val="222222"/>
                </a:solidFill>
                <a:latin typeface="Tahoma"/>
                <a:cs typeface="Tahoma"/>
              </a:rPr>
              <a:t>Activity:</a:t>
            </a:r>
            <a:r>
              <a:rPr sz="2250" spc="-14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45" dirty="0">
                <a:solidFill>
                  <a:srgbClr val="222222"/>
                </a:solidFill>
                <a:latin typeface="Tahoma"/>
                <a:cs typeface="Tahoma"/>
              </a:rPr>
              <a:t>private</a:t>
            </a:r>
            <a:r>
              <a:rPr sz="2250" spc="-7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5" dirty="0">
                <a:solidFill>
                  <a:srgbClr val="222222"/>
                </a:solidFill>
                <a:latin typeface="Tahoma"/>
                <a:cs typeface="Tahoma"/>
              </a:rPr>
              <a:t>fields,</a:t>
            </a:r>
            <a:r>
              <a:rPr sz="2250" spc="-15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0" dirty="0">
                <a:solidFill>
                  <a:srgbClr val="222222"/>
                </a:solidFill>
                <a:latin typeface="Tahoma"/>
                <a:cs typeface="Tahoma"/>
              </a:rPr>
              <a:t>getters/setters, </a:t>
            </a:r>
            <a:r>
              <a:rPr sz="2250" spc="75" dirty="0">
                <a:solidFill>
                  <a:srgbClr val="222222"/>
                </a:solidFill>
                <a:latin typeface="Tahoma"/>
                <a:cs typeface="Tahoma"/>
              </a:rPr>
              <a:t>static</a:t>
            </a:r>
            <a:r>
              <a:rPr sz="2250" spc="-1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0" dirty="0">
                <a:solidFill>
                  <a:srgbClr val="222222"/>
                </a:solidFill>
                <a:latin typeface="Tahoma"/>
                <a:cs typeface="Tahoma"/>
              </a:rPr>
              <a:t>counter</a:t>
            </a:r>
            <a:r>
              <a:rPr sz="2250" spc="-15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and</a:t>
            </a:r>
            <a:r>
              <a:rPr sz="2250" spc="-1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05" dirty="0">
                <a:solidFill>
                  <a:srgbClr val="222222"/>
                </a:solidFill>
                <a:latin typeface="Tahoma"/>
                <a:cs typeface="Tahoma"/>
              </a:rPr>
              <a:t>APP_NAME</a:t>
            </a:r>
            <a:r>
              <a:rPr sz="2250" spc="-13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0" dirty="0">
                <a:solidFill>
                  <a:srgbClr val="222222"/>
                </a:solidFill>
                <a:latin typeface="Tahoma"/>
                <a:cs typeface="Tahoma"/>
              </a:rPr>
              <a:t>constant</a:t>
            </a:r>
            <a:endParaRPr sz="2250">
              <a:latin typeface="Tahoma"/>
              <a:cs typeface="Tahoma"/>
            </a:endParaRPr>
          </a:p>
          <a:p>
            <a:pPr marL="374015" indent="-361315">
              <a:lnSpc>
                <a:spcPct val="100000"/>
              </a:lnSpc>
              <a:spcBef>
                <a:spcPts val="450"/>
              </a:spcBef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dirty="0">
                <a:solidFill>
                  <a:srgbClr val="222222"/>
                </a:solidFill>
                <a:latin typeface="Tahoma"/>
                <a:cs typeface="Tahoma"/>
              </a:rPr>
              <a:t>Constructor</a:t>
            </a:r>
            <a:r>
              <a:rPr sz="2250" b="1" spc="-14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spc="-65" dirty="0">
                <a:solidFill>
                  <a:srgbClr val="222222"/>
                </a:solidFill>
                <a:latin typeface="Tahoma"/>
                <a:cs typeface="Tahoma"/>
              </a:rPr>
              <a:t>overloading</a:t>
            </a:r>
            <a:r>
              <a:rPr sz="2250" b="1" spc="-10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0" dirty="0">
                <a:solidFill>
                  <a:srgbClr val="222222"/>
                </a:solidFill>
                <a:latin typeface="Tahoma"/>
                <a:cs typeface="Tahoma"/>
              </a:rPr>
              <a:t>with</a:t>
            </a:r>
            <a:r>
              <a:rPr sz="2250" spc="-204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-10" dirty="0">
                <a:solidFill>
                  <a:srgbClr val="222222"/>
                </a:solidFill>
                <a:latin typeface="Tahoma"/>
                <a:cs typeface="Tahoma"/>
              </a:rPr>
              <a:t>this(...)</a:t>
            </a:r>
            <a:endParaRPr sz="2250">
              <a:latin typeface="Tahoma"/>
              <a:cs typeface="Tahoma"/>
            </a:endParaRPr>
          </a:p>
          <a:p>
            <a:pPr marL="374015" marR="1315085" indent="-361950">
              <a:lnSpc>
                <a:spcPct val="116700"/>
              </a:lnSpc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75" dirty="0">
                <a:solidFill>
                  <a:srgbClr val="222222"/>
                </a:solidFill>
                <a:latin typeface="Tahoma"/>
                <a:cs typeface="Tahoma"/>
              </a:rPr>
              <a:t>Inheritance</a:t>
            </a:r>
            <a:r>
              <a:rPr sz="2250" b="1" spc="-16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spc="-254" dirty="0">
                <a:solidFill>
                  <a:srgbClr val="222222"/>
                </a:solidFill>
                <a:latin typeface="Tahoma"/>
                <a:cs typeface="Tahoma"/>
              </a:rPr>
              <a:t>&amp;</a:t>
            </a:r>
            <a:r>
              <a:rPr sz="2250" b="1" spc="-18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spc="-65" dirty="0">
                <a:solidFill>
                  <a:srgbClr val="222222"/>
                </a:solidFill>
                <a:latin typeface="Tahoma"/>
                <a:cs typeface="Tahoma"/>
              </a:rPr>
              <a:t>overriding:</a:t>
            </a:r>
            <a:r>
              <a:rPr sz="2250" b="1" spc="-8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85" dirty="0">
                <a:solidFill>
                  <a:srgbClr val="222222"/>
                </a:solidFill>
                <a:latin typeface="Tahoma"/>
                <a:cs typeface="Tahoma"/>
              </a:rPr>
              <a:t>CardioActivity</a:t>
            </a:r>
            <a:r>
              <a:rPr sz="2250" spc="-10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40" dirty="0">
                <a:solidFill>
                  <a:srgbClr val="222222"/>
                </a:solidFill>
                <a:latin typeface="Tahoma"/>
                <a:cs typeface="Tahoma"/>
              </a:rPr>
              <a:t>and </a:t>
            </a:r>
            <a:r>
              <a:rPr sz="2250" spc="45" dirty="0">
                <a:solidFill>
                  <a:srgbClr val="222222"/>
                </a:solidFill>
                <a:latin typeface="Tahoma"/>
                <a:cs typeface="Tahoma"/>
              </a:rPr>
              <a:t>StrengthActivity</a:t>
            </a:r>
            <a:endParaRPr sz="2250">
              <a:latin typeface="Tahoma"/>
              <a:cs typeface="Tahoma"/>
            </a:endParaRPr>
          </a:p>
          <a:p>
            <a:pPr marL="374015" marR="1764664" indent="-361950">
              <a:lnSpc>
                <a:spcPct val="116700"/>
              </a:lnSpc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dirty="0">
                <a:solidFill>
                  <a:srgbClr val="222222"/>
                </a:solidFill>
                <a:latin typeface="Tahoma"/>
                <a:cs typeface="Tahoma"/>
              </a:rPr>
              <a:t>Custom</a:t>
            </a:r>
            <a:r>
              <a:rPr sz="2250" b="1" spc="-13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spc="-45" dirty="0">
                <a:solidFill>
                  <a:srgbClr val="222222"/>
                </a:solidFill>
                <a:latin typeface="Tahoma"/>
                <a:cs typeface="Tahoma"/>
              </a:rPr>
              <a:t>exceptions:</a:t>
            </a:r>
            <a:r>
              <a:rPr sz="2250" b="1" spc="-10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00" dirty="0">
                <a:solidFill>
                  <a:srgbClr val="222222"/>
                </a:solidFill>
                <a:latin typeface="Tahoma"/>
                <a:cs typeface="Tahoma"/>
              </a:rPr>
              <a:t>checked </a:t>
            </a:r>
            <a:r>
              <a:rPr sz="2250" spc="20" dirty="0">
                <a:solidFill>
                  <a:srgbClr val="222222"/>
                </a:solidFill>
                <a:latin typeface="Tahoma"/>
                <a:cs typeface="Tahoma"/>
              </a:rPr>
              <a:t>InvalidWorkoutDataException,</a:t>
            </a:r>
            <a:r>
              <a:rPr sz="2250" spc="18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5" dirty="0">
                <a:solidFill>
                  <a:srgbClr val="222222"/>
                </a:solidFill>
                <a:latin typeface="Tahoma"/>
                <a:cs typeface="Tahoma"/>
              </a:rPr>
              <a:t>unchecked RecordNotFoundException</a:t>
            </a:r>
            <a:endParaRPr sz="225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705975" y="2371725"/>
            <a:ext cx="7639050" cy="6781800"/>
            <a:chOff x="9705975" y="2371725"/>
            <a:chExt cx="7639050" cy="6781800"/>
          </a:xfrm>
        </p:grpSpPr>
        <p:sp>
          <p:nvSpPr>
            <p:cNvPr id="7" name="object 7"/>
            <p:cNvSpPr/>
            <p:nvPr/>
          </p:nvSpPr>
          <p:spPr>
            <a:xfrm>
              <a:off x="9715499" y="2381249"/>
              <a:ext cx="7620000" cy="6762750"/>
            </a:xfrm>
            <a:custGeom>
              <a:avLst/>
              <a:gdLst/>
              <a:ahLst/>
              <a:cxnLst/>
              <a:rect l="l" t="t" r="r" b="b"/>
              <a:pathLst>
                <a:path w="7620000" h="6762750">
                  <a:moveTo>
                    <a:pt x="7467598" y="6762749"/>
                  </a:moveTo>
                  <a:lnTo>
                    <a:pt x="152399" y="6762749"/>
                  </a:lnTo>
                  <a:lnTo>
                    <a:pt x="108155" y="6756205"/>
                  </a:lnTo>
                  <a:lnTo>
                    <a:pt x="67715" y="6737089"/>
                  </a:lnTo>
                  <a:lnTo>
                    <a:pt x="34583" y="6707038"/>
                  </a:lnTo>
                  <a:lnTo>
                    <a:pt x="11600" y="6668669"/>
                  </a:lnTo>
                  <a:lnTo>
                    <a:pt x="714" y="6625289"/>
                  </a:lnTo>
                  <a:lnTo>
                    <a:pt x="0" y="6610349"/>
                  </a:lnTo>
                  <a:lnTo>
                    <a:pt x="0" y="152399"/>
                  </a:lnTo>
                  <a:lnTo>
                    <a:pt x="6542" y="108155"/>
                  </a:lnTo>
                  <a:lnTo>
                    <a:pt x="25659" y="67716"/>
                  </a:lnTo>
                  <a:lnTo>
                    <a:pt x="55709" y="34583"/>
                  </a:lnTo>
                  <a:lnTo>
                    <a:pt x="94078" y="11600"/>
                  </a:lnTo>
                  <a:lnTo>
                    <a:pt x="137459" y="714"/>
                  </a:lnTo>
                  <a:lnTo>
                    <a:pt x="7467599" y="0"/>
                  </a:lnTo>
                  <a:lnTo>
                    <a:pt x="7482536" y="721"/>
                  </a:lnTo>
                  <a:lnTo>
                    <a:pt x="7525919" y="11600"/>
                  </a:lnTo>
                  <a:lnTo>
                    <a:pt x="7564291" y="34577"/>
                  </a:lnTo>
                  <a:lnTo>
                    <a:pt x="7594336" y="67714"/>
                  </a:lnTo>
                  <a:lnTo>
                    <a:pt x="7613447" y="108156"/>
                  </a:lnTo>
                  <a:lnTo>
                    <a:pt x="7619999" y="152399"/>
                  </a:lnTo>
                  <a:lnTo>
                    <a:pt x="7619999" y="6610349"/>
                  </a:lnTo>
                  <a:lnTo>
                    <a:pt x="7619277" y="6625287"/>
                  </a:lnTo>
                  <a:lnTo>
                    <a:pt x="7608396" y="6668669"/>
                  </a:lnTo>
                  <a:lnTo>
                    <a:pt x="7585420" y="6707041"/>
                  </a:lnTo>
                  <a:lnTo>
                    <a:pt x="7552283" y="6737087"/>
                  </a:lnTo>
                  <a:lnTo>
                    <a:pt x="7511841" y="6756197"/>
                  </a:lnTo>
                  <a:lnTo>
                    <a:pt x="7467598" y="6762749"/>
                  </a:lnTo>
                  <a:close/>
                </a:path>
              </a:pathLst>
            </a:custGeom>
            <a:solidFill>
              <a:srgbClr val="1E1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715499" y="2381249"/>
              <a:ext cx="7620000" cy="6762750"/>
            </a:xfrm>
            <a:custGeom>
              <a:avLst/>
              <a:gdLst/>
              <a:ahLst/>
              <a:cxnLst/>
              <a:rect l="l" t="t" r="r" b="b"/>
              <a:pathLst>
                <a:path w="7620000" h="6762750">
                  <a:moveTo>
                    <a:pt x="152399" y="0"/>
                  </a:moveTo>
                  <a:lnTo>
                    <a:pt x="7467598" y="0"/>
                  </a:lnTo>
                </a:path>
                <a:path w="7620000" h="6762750">
                  <a:moveTo>
                    <a:pt x="7619999" y="152399"/>
                  </a:moveTo>
                  <a:lnTo>
                    <a:pt x="7619999" y="6610349"/>
                  </a:lnTo>
                </a:path>
                <a:path w="7620000" h="6762750">
                  <a:moveTo>
                    <a:pt x="7467598" y="6762749"/>
                  </a:moveTo>
                  <a:lnTo>
                    <a:pt x="152399" y="6762749"/>
                  </a:lnTo>
                </a:path>
                <a:path w="7620000" h="6762750">
                  <a:moveTo>
                    <a:pt x="0" y="6610349"/>
                  </a:moveTo>
                  <a:lnTo>
                    <a:pt x="0" y="152399"/>
                  </a:lnTo>
                </a:path>
              </a:pathLst>
            </a:custGeom>
            <a:ln w="19049">
              <a:solidFill>
                <a:srgbClr val="1E1E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083799" y="2606675"/>
            <a:ext cx="3148330" cy="1244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interface</a:t>
            </a:r>
            <a:r>
              <a:rPr sz="1500" spc="-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Trackable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E8E8E8"/>
                </a:solidFill>
                <a:latin typeface="Tahoma"/>
                <a:cs typeface="Tahoma"/>
              </a:rPr>
              <a:t>{</a:t>
            </a:r>
            <a:endParaRPr sz="1500">
              <a:latin typeface="Tahoma"/>
              <a:cs typeface="Tahoma"/>
            </a:endParaRPr>
          </a:p>
          <a:p>
            <a:pPr marL="123189" marR="5080">
              <a:lnSpc>
                <a:spcPct val="133300"/>
              </a:lnSpc>
            </a:pP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double</a:t>
            </a:r>
            <a:r>
              <a:rPr sz="1500" spc="-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calculateCaloriesBurned();</a:t>
            </a: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 String</a:t>
            </a:r>
            <a:r>
              <a:rPr sz="1500" spc="-6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getSummary();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spc="-50" dirty="0">
                <a:solidFill>
                  <a:srgbClr val="E8E8E8"/>
                </a:solidFill>
                <a:latin typeface="Tahoma"/>
                <a:cs typeface="Tahoma"/>
              </a:rPr>
              <a:t>}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83799" y="4130675"/>
            <a:ext cx="536321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189" marR="2012314" indent="-111125">
              <a:lnSpc>
                <a:spcPct val="133300"/>
              </a:lnSpc>
              <a:spcBef>
                <a:spcPts val="100"/>
              </a:spcBef>
            </a:pP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class</a:t>
            </a:r>
            <a:r>
              <a:rPr sz="1500" spc="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20" dirty="0">
                <a:solidFill>
                  <a:srgbClr val="E8E8E8"/>
                </a:solidFill>
                <a:latin typeface="Tahoma"/>
                <a:cs typeface="Tahoma"/>
              </a:rPr>
              <a:t>CardioActivity</a:t>
            </a:r>
            <a:r>
              <a:rPr sz="1500" spc="3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E8E8E8"/>
                </a:solidFill>
                <a:latin typeface="Tahoma"/>
                <a:cs typeface="Tahoma"/>
              </a:rPr>
              <a:t>extends</a:t>
            </a:r>
            <a:r>
              <a:rPr sz="1500" spc="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Activity</a:t>
            </a:r>
            <a:r>
              <a:rPr sz="1500" spc="4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E8E8E8"/>
                </a:solidFill>
                <a:latin typeface="Tahoma"/>
                <a:cs typeface="Tahoma"/>
              </a:rPr>
              <a:t>{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@Override</a:t>
            </a:r>
            <a:endParaRPr sz="1500">
              <a:latin typeface="Tahoma"/>
              <a:cs typeface="Tahoma"/>
            </a:endParaRPr>
          </a:p>
          <a:p>
            <a:pPr marL="123189">
              <a:lnSpc>
                <a:spcPct val="100000"/>
              </a:lnSpc>
              <a:spcBef>
                <a:spcPts val="600"/>
              </a:spcBef>
            </a:pPr>
            <a:r>
              <a:rPr sz="1500" spc="65" dirty="0">
                <a:solidFill>
                  <a:srgbClr val="E8E8E8"/>
                </a:solidFill>
                <a:latin typeface="Tahoma"/>
                <a:cs typeface="Tahoma"/>
              </a:rPr>
              <a:t>public</a:t>
            </a: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double</a:t>
            </a:r>
            <a:r>
              <a:rPr sz="1500" spc="10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30" dirty="0">
                <a:solidFill>
                  <a:srgbClr val="E8E8E8"/>
                </a:solidFill>
                <a:latin typeface="Tahoma"/>
                <a:cs typeface="Tahoma"/>
              </a:rPr>
              <a:t>calculateCaloriesBurned()</a:t>
            </a: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E8E8E8"/>
                </a:solidFill>
                <a:latin typeface="Tahoma"/>
                <a:cs typeface="Tahoma"/>
              </a:rPr>
              <a:t>{</a:t>
            </a:r>
            <a:endParaRPr sz="1500">
              <a:latin typeface="Tahoma"/>
              <a:cs typeface="Tahoma"/>
            </a:endParaRPr>
          </a:p>
          <a:p>
            <a:pPr marL="233679">
              <a:lnSpc>
                <a:spcPct val="100000"/>
              </a:lnSpc>
              <a:spcBef>
                <a:spcPts val="600"/>
              </a:spcBef>
            </a:pP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return</a:t>
            </a:r>
            <a:r>
              <a:rPr sz="1500" spc="15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(getDurationMinutes()</a:t>
            </a:r>
            <a:r>
              <a:rPr sz="1500" spc="9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90" dirty="0">
                <a:solidFill>
                  <a:srgbClr val="E8E8E8"/>
                </a:solidFill>
                <a:latin typeface="Tahoma"/>
                <a:cs typeface="Tahoma"/>
              </a:rPr>
              <a:t>*</a:t>
            </a:r>
            <a:r>
              <a:rPr sz="1500" spc="13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8.5)</a:t>
            </a:r>
            <a:r>
              <a:rPr sz="1500" spc="10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+</a:t>
            </a:r>
            <a:r>
              <a:rPr sz="1500" spc="10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(distanceKm</a:t>
            </a:r>
            <a:r>
              <a:rPr sz="1500" spc="19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90" dirty="0">
                <a:solidFill>
                  <a:srgbClr val="E8E8E8"/>
                </a:solidFill>
                <a:latin typeface="Tahoma"/>
                <a:cs typeface="Tahoma"/>
              </a:rPr>
              <a:t>*</a:t>
            </a:r>
            <a:r>
              <a:rPr sz="1500" spc="13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E8E8E8"/>
                </a:solidFill>
                <a:latin typeface="Tahoma"/>
                <a:cs typeface="Tahoma"/>
              </a:rPr>
              <a:t>12.0);</a:t>
            </a:r>
            <a:endParaRPr sz="1500">
              <a:latin typeface="Tahoma"/>
              <a:cs typeface="Tahoma"/>
            </a:endParaRPr>
          </a:p>
          <a:p>
            <a:pPr marL="123189">
              <a:lnSpc>
                <a:spcPct val="100000"/>
              </a:lnSpc>
              <a:spcBef>
                <a:spcPts val="600"/>
              </a:spcBef>
            </a:pPr>
            <a:r>
              <a:rPr sz="1500" spc="-50" dirty="0">
                <a:solidFill>
                  <a:srgbClr val="E8E8E8"/>
                </a:solidFill>
                <a:latin typeface="Tahoma"/>
                <a:cs typeface="Tahoma"/>
              </a:rPr>
              <a:t>}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spc="-50" dirty="0">
                <a:solidFill>
                  <a:srgbClr val="E8E8E8"/>
                </a:solidFill>
                <a:latin typeface="Tahoma"/>
                <a:cs typeface="Tahoma"/>
              </a:rPr>
              <a:t>}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83799" y="6264274"/>
            <a:ext cx="6098540" cy="18542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500" spc="65" dirty="0">
                <a:solidFill>
                  <a:srgbClr val="E8E8E8"/>
                </a:solidFill>
                <a:latin typeface="Tahoma"/>
                <a:cs typeface="Tahoma"/>
              </a:rPr>
              <a:t>try</a:t>
            </a:r>
            <a:r>
              <a:rPr sz="1500" spc="-5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60" dirty="0">
                <a:solidFill>
                  <a:srgbClr val="E8E8E8"/>
                </a:solidFill>
                <a:latin typeface="Tahoma"/>
                <a:cs typeface="Tahoma"/>
              </a:rPr>
              <a:t>{</a:t>
            </a:r>
            <a:endParaRPr sz="1500">
              <a:latin typeface="Tahoma"/>
              <a:cs typeface="Tahoma"/>
            </a:endParaRPr>
          </a:p>
          <a:p>
            <a:pPr marL="123189">
              <a:lnSpc>
                <a:spcPct val="100000"/>
              </a:lnSpc>
              <a:spcBef>
                <a:spcPts val="600"/>
              </a:spcBef>
            </a:pP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if</a:t>
            </a:r>
            <a:r>
              <a:rPr sz="1500" spc="9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(duration</a:t>
            </a:r>
            <a:r>
              <a:rPr sz="1500" spc="4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30" dirty="0">
                <a:solidFill>
                  <a:srgbClr val="E8E8E8"/>
                </a:solidFill>
                <a:latin typeface="Tahoma"/>
                <a:cs typeface="Tahoma"/>
              </a:rPr>
              <a:t>&lt;=</a:t>
            </a:r>
            <a:r>
              <a:rPr sz="1500" spc="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E8E8E8"/>
                </a:solidFill>
                <a:latin typeface="Tahoma"/>
                <a:cs typeface="Tahoma"/>
              </a:rPr>
              <a:t>0)</a:t>
            </a:r>
            <a:endParaRPr sz="1500">
              <a:latin typeface="Tahoma"/>
              <a:cs typeface="Tahoma"/>
            </a:endParaRPr>
          </a:p>
          <a:p>
            <a:pPr marL="233679">
              <a:lnSpc>
                <a:spcPct val="100000"/>
              </a:lnSpc>
              <a:spcBef>
                <a:spcPts val="600"/>
              </a:spcBef>
            </a:pPr>
            <a:r>
              <a:rPr sz="1500" spc="65" dirty="0">
                <a:solidFill>
                  <a:srgbClr val="E8E8E8"/>
                </a:solidFill>
                <a:latin typeface="Tahoma"/>
                <a:cs typeface="Tahoma"/>
              </a:rPr>
              <a:t>throw</a:t>
            </a:r>
            <a:r>
              <a:rPr sz="1500" spc="114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E8E8E8"/>
                </a:solidFill>
                <a:latin typeface="Tahoma"/>
                <a:cs typeface="Tahoma"/>
              </a:rPr>
              <a:t>new</a:t>
            </a:r>
            <a:r>
              <a:rPr sz="1500" spc="114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InvalidWorkoutDataException("Duration</a:t>
            </a:r>
            <a:r>
              <a:rPr sz="1500" spc="17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must</a:t>
            </a:r>
            <a:r>
              <a:rPr sz="1500" spc="22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100" dirty="0">
                <a:solidFill>
                  <a:srgbClr val="E8E8E8"/>
                </a:solidFill>
                <a:latin typeface="Tahoma"/>
                <a:cs typeface="Tahoma"/>
              </a:rPr>
              <a:t>be</a:t>
            </a:r>
            <a:r>
              <a:rPr sz="1500" spc="18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&gt;</a:t>
            </a:r>
            <a:r>
              <a:rPr sz="1500" spc="12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E8E8E8"/>
                </a:solidFill>
                <a:latin typeface="Tahoma"/>
                <a:cs typeface="Tahoma"/>
              </a:rPr>
              <a:t>0");</a:t>
            </a:r>
            <a:endParaRPr sz="1500">
              <a:latin typeface="Tahoma"/>
              <a:cs typeface="Tahoma"/>
            </a:endParaRPr>
          </a:p>
          <a:p>
            <a:pPr marL="123189" marR="1374140" indent="-111125">
              <a:lnSpc>
                <a:spcPct val="133300"/>
              </a:lnSpc>
            </a:pPr>
            <a:r>
              <a:rPr sz="1500" spc="-195" dirty="0">
                <a:solidFill>
                  <a:srgbClr val="E8E8E8"/>
                </a:solidFill>
                <a:latin typeface="Tahoma"/>
                <a:cs typeface="Tahoma"/>
              </a:rPr>
              <a:t>}</a:t>
            </a:r>
            <a:r>
              <a:rPr sz="1500" spc="17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E8E8E8"/>
                </a:solidFill>
                <a:latin typeface="Tahoma"/>
                <a:cs typeface="Tahoma"/>
              </a:rPr>
              <a:t>catch</a:t>
            </a:r>
            <a:r>
              <a:rPr sz="1500" spc="22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(InvalidWorkoutDataException</a:t>
            </a:r>
            <a:r>
              <a:rPr sz="1500" spc="24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e)</a:t>
            </a:r>
            <a:r>
              <a:rPr sz="1500" spc="17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E8E8E8"/>
                </a:solidFill>
                <a:latin typeface="Tahoma"/>
                <a:cs typeface="Tahoma"/>
              </a:rPr>
              <a:t>{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System.err.println("Input</a:t>
            </a:r>
            <a:r>
              <a:rPr sz="1500" spc="20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Error:</a:t>
            </a:r>
            <a:r>
              <a:rPr sz="1500" spc="6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"</a:t>
            </a:r>
            <a:r>
              <a:rPr sz="1500" spc="1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+</a:t>
            </a:r>
            <a:r>
              <a:rPr sz="1500" spc="10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e.getMessage());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spc="-50" dirty="0">
                <a:solidFill>
                  <a:srgbClr val="E8E8E8"/>
                </a:solidFill>
                <a:latin typeface="Tahoma"/>
                <a:cs typeface="Tahoma"/>
              </a:rPr>
              <a:t>}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16-10-</a:t>
            </a:r>
            <a:r>
              <a:rPr spc="85" dirty="0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9800" y="492125"/>
            <a:ext cx="3332479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45" dirty="0">
                <a:solidFill>
                  <a:srgbClr val="B3121B"/>
                </a:solidFill>
                <a:latin typeface="Tahoma"/>
                <a:cs typeface="Tahoma"/>
              </a:rPr>
              <a:t>KL</a:t>
            </a:r>
            <a:r>
              <a:rPr sz="1650" b="1" spc="-145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100" dirty="0">
                <a:solidFill>
                  <a:srgbClr val="B3121B"/>
                </a:solidFill>
                <a:latin typeface="Tahoma"/>
                <a:cs typeface="Tahoma"/>
              </a:rPr>
              <a:t>UNIVERSITY </a:t>
            </a:r>
            <a:r>
              <a:rPr sz="1650" b="1" spc="-120" dirty="0">
                <a:solidFill>
                  <a:srgbClr val="B3121B"/>
                </a:solidFill>
                <a:latin typeface="Tahoma"/>
                <a:cs typeface="Tahoma"/>
              </a:rPr>
              <a:t>·</a:t>
            </a:r>
            <a:r>
              <a:rPr sz="1650" b="1" spc="-150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55" dirty="0">
                <a:solidFill>
                  <a:srgbClr val="B3121B"/>
                </a:solidFill>
                <a:latin typeface="Tahoma"/>
                <a:cs typeface="Tahoma"/>
              </a:rPr>
              <a:t>FitPulse</a:t>
            </a:r>
            <a:r>
              <a:rPr sz="1650" b="1" spc="-114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B3121B"/>
                </a:solidFill>
                <a:latin typeface="Tahoma"/>
                <a:cs typeface="Tahoma"/>
              </a:rPr>
              <a:t>Tracker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0" dirty="0"/>
              <a:t>CO5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9800" y="2384173"/>
            <a:ext cx="7834630" cy="3839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b="1" spc="-130" dirty="0">
                <a:solidFill>
                  <a:srgbClr val="B3121B"/>
                </a:solidFill>
                <a:latin typeface="Arial"/>
                <a:cs typeface="Arial"/>
              </a:rPr>
              <a:t>Strings,</a:t>
            </a:r>
            <a:r>
              <a:rPr sz="2950" b="1" spc="-190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140" dirty="0">
                <a:solidFill>
                  <a:srgbClr val="B3121B"/>
                </a:solidFill>
                <a:latin typeface="Arial"/>
                <a:cs typeface="Arial"/>
              </a:rPr>
              <a:t>library</a:t>
            </a:r>
            <a:r>
              <a:rPr sz="2950" b="1" spc="-220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125" dirty="0">
                <a:solidFill>
                  <a:srgbClr val="B3121B"/>
                </a:solidFill>
                <a:latin typeface="Arial"/>
                <a:cs typeface="Arial"/>
              </a:rPr>
              <a:t>algorithms</a:t>
            </a:r>
            <a:r>
              <a:rPr sz="2950" b="1" spc="-175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70" dirty="0">
                <a:solidFill>
                  <a:srgbClr val="B3121B"/>
                </a:solidFill>
                <a:latin typeface="Arial"/>
                <a:cs typeface="Arial"/>
              </a:rPr>
              <a:t>&amp;</a:t>
            </a:r>
            <a:r>
              <a:rPr sz="2950" b="1" spc="-165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90" dirty="0">
                <a:solidFill>
                  <a:srgbClr val="B3121B"/>
                </a:solidFill>
                <a:latin typeface="Arial"/>
                <a:cs typeface="Arial"/>
              </a:rPr>
              <a:t>file</a:t>
            </a:r>
            <a:r>
              <a:rPr sz="2950" b="1" spc="-160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25" dirty="0">
                <a:solidFill>
                  <a:srgbClr val="B3121B"/>
                </a:solidFill>
                <a:latin typeface="Arial"/>
                <a:cs typeface="Arial"/>
              </a:rPr>
              <a:t>I/O</a:t>
            </a:r>
            <a:endParaRPr sz="2950">
              <a:latin typeface="Arial"/>
              <a:cs typeface="Arial"/>
            </a:endParaRPr>
          </a:p>
          <a:p>
            <a:pPr marL="374015" marR="259079" indent="-361950">
              <a:lnSpc>
                <a:spcPct val="116700"/>
              </a:lnSpc>
              <a:spcBef>
                <a:spcPts val="1285"/>
              </a:spcBef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40" dirty="0">
                <a:solidFill>
                  <a:srgbClr val="222222"/>
                </a:solidFill>
                <a:latin typeface="Tahoma"/>
                <a:cs typeface="Tahoma"/>
              </a:rPr>
              <a:t>String</a:t>
            </a:r>
            <a:r>
              <a:rPr sz="2250" b="1" spc="-16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spc="-50" dirty="0">
                <a:solidFill>
                  <a:srgbClr val="222222"/>
                </a:solidFill>
                <a:latin typeface="Tahoma"/>
                <a:cs typeface="Tahoma"/>
              </a:rPr>
              <a:t>parsing:</a:t>
            </a:r>
            <a:r>
              <a:rPr sz="2250" b="1" spc="-7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-10" dirty="0">
                <a:solidFill>
                  <a:srgbClr val="222222"/>
                </a:solidFill>
                <a:latin typeface="Tahoma"/>
                <a:cs typeface="Tahoma"/>
              </a:rPr>
              <a:t>trim()</a:t>
            </a:r>
            <a:r>
              <a:rPr sz="2250" spc="-114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and</a:t>
            </a:r>
            <a:r>
              <a:rPr sz="2250" spc="-9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-35" dirty="0">
                <a:solidFill>
                  <a:srgbClr val="222222"/>
                </a:solidFill>
                <a:latin typeface="Tahoma"/>
                <a:cs typeface="Tahoma"/>
              </a:rPr>
              <a:t>split(",")</a:t>
            </a:r>
            <a:r>
              <a:rPr sz="2250" spc="-1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to</a:t>
            </a:r>
            <a:r>
              <a:rPr sz="2250" spc="-4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80" dirty="0">
                <a:solidFill>
                  <a:srgbClr val="222222"/>
                </a:solidFill>
                <a:latin typeface="Tahoma"/>
                <a:cs typeface="Tahoma"/>
              </a:rPr>
              <a:t>tokenize</a:t>
            </a:r>
            <a:r>
              <a:rPr sz="2250" spc="-8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40" dirty="0">
                <a:solidFill>
                  <a:srgbClr val="222222"/>
                </a:solidFill>
                <a:latin typeface="Tahoma"/>
                <a:cs typeface="Tahoma"/>
              </a:rPr>
              <a:t>workout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tags</a:t>
            </a:r>
            <a:endParaRPr sz="22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374015" algn="l"/>
              </a:tabLst>
            </a:pPr>
            <a:r>
              <a:rPr sz="2250" spc="185" dirty="0">
                <a:solidFill>
                  <a:srgbClr val="B3121B"/>
                </a:solidFill>
                <a:latin typeface="Tahoma"/>
                <a:cs typeface="Tahoma"/>
              </a:rPr>
              <a:t>•</a:t>
            </a:r>
            <a:r>
              <a:rPr sz="2250" dirty="0">
                <a:solidFill>
                  <a:srgbClr val="B3121B"/>
                </a:solidFill>
                <a:latin typeface="Tahoma"/>
                <a:cs typeface="Tahoma"/>
              </a:rPr>
              <a:t>	</a:t>
            </a:r>
            <a:r>
              <a:rPr sz="2250" b="1" spc="-305" dirty="0">
                <a:solidFill>
                  <a:srgbClr val="222222"/>
                </a:solidFill>
                <a:latin typeface="Tahoma"/>
                <a:cs typeface="Tahoma"/>
              </a:rPr>
              <a:t>==</a:t>
            </a:r>
            <a:r>
              <a:rPr sz="2250" b="1" spc="-8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spc="55" dirty="0">
                <a:solidFill>
                  <a:srgbClr val="222222"/>
                </a:solidFill>
                <a:latin typeface="Tahoma"/>
                <a:cs typeface="Tahoma"/>
              </a:rPr>
              <a:t>vs</a:t>
            </a:r>
            <a:r>
              <a:rPr sz="2250" b="1" spc="-1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spc="-85" dirty="0">
                <a:solidFill>
                  <a:srgbClr val="222222"/>
                </a:solidFill>
                <a:latin typeface="Tahoma"/>
                <a:cs typeface="Tahoma"/>
              </a:rPr>
              <a:t>equals():</a:t>
            </a:r>
            <a:r>
              <a:rPr sz="2250" b="1" spc="-4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0" dirty="0">
                <a:solidFill>
                  <a:srgbClr val="222222"/>
                </a:solidFill>
                <a:latin typeface="Tahoma"/>
                <a:cs typeface="Tahoma"/>
              </a:rPr>
              <a:t>reference</a:t>
            </a:r>
            <a:r>
              <a:rPr sz="2250" spc="-5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40" dirty="0">
                <a:solidFill>
                  <a:srgbClr val="222222"/>
                </a:solidFill>
                <a:latin typeface="Tahoma"/>
                <a:cs typeface="Tahoma"/>
              </a:rPr>
              <a:t>vs</a:t>
            </a:r>
            <a:r>
              <a:rPr sz="2250" spc="-6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value</a:t>
            </a:r>
            <a:r>
              <a:rPr sz="2250" spc="-5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90" dirty="0">
                <a:solidFill>
                  <a:srgbClr val="222222"/>
                </a:solidFill>
                <a:latin typeface="Tahoma"/>
                <a:cs typeface="Tahoma"/>
              </a:rPr>
              <a:t>comparison</a:t>
            </a:r>
            <a:endParaRPr sz="2250">
              <a:latin typeface="Tahoma"/>
              <a:cs typeface="Tahoma"/>
            </a:endParaRPr>
          </a:p>
          <a:p>
            <a:pPr marL="374015" indent="-361315">
              <a:lnSpc>
                <a:spcPct val="100000"/>
              </a:lnSpc>
              <a:spcBef>
                <a:spcPts val="450"/>
              </a:spcBef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55" dirty="0">
                <a:solidFill>
                  <a:srgbClr val="222222"/>
                </a:solidFill>
                <a:latin typeface="Tahoma"/>
                <a:cs typeface="Tahoma"/>
              </a:rPr>
              <a:t>StringBuilder:</a:t>
            </a:r>
            <a:r>
              <a:rPr sz="2250" b="1" spc="-9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90" dirty="0">
                <a:solidFill>
                  <a:srgbClr val="222222"/>
                </a:solidFill>
                <a:latin typeface="Tahoma"/>
                <a:cs typeface="Tahoma"/>
              </a:rPr>
              <a:t>efficient</a:t>
            </a:r>
            <a:r>
              <a:rPr sz="2250" spc="-2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0" dirty="0">
                <a:solidFill>
                  <a:srgbClr val="222222"/>
                </a:solidFill>
                <a:latin typeface="Tahoma"/>
                <a:cs typeface="Tahoma"/>
              </a:rPr>
              <a:t>report</a:t>
            </a:r>
            <a:r>
              <a:rPr sz="2250" spc="-204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building</a:t>
            </a:r>
            <a:r>
              <a:rPr sz="2250" spc="-8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0" dirty="0">
                <a:solidFill>
                  <a:srgbClr val="222222"/>
                </a:solidFill>
                <a:latin typeface="Tahoma"/>
                <a:cs typeface="Tahoma"/>
              </a:rPr>
              <a:t>with</a:t>
            </a:r>
            <a:r>
              <a:rPr sz="2250" spc="-19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35" dirty="0">
                <a:solidFill>
                  <a:srgbClr val="222222"/>
                </a:solidFill>
                <a:latin typeface="Tahoma"/>
                <a:cs typeface="Tahoma"/>
              </a:rPr>
              <a:t>append()</a:t>
            </a:r>
            <a:endParaRPr sz="2250">
              <a:latin typeface="Tahoma"/>
              <a:cs typeface="Tahoma"/>
            </a:endParaRPr>
          </a:p>
          <a:p>
            <a:pPr marL="374015" indent="-361315">
              <a:lnSpc>
                <a:spcPct val="100000"/>
              </a:lnSpc>
              <a:spcBef>
                <a:spcPts val="450"/>
              </a:spcBef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50" dirty="0">
                <a:solidFill>
                  <a:srgbClr val="222222"/>
                </a:solidFill>
                <a:latin typeface="Tahoma"/>
                <a:cs typeface="Tahoma"/>
              </a:rPr>
              <a:t>Comparable:</a:t>
            </a:r>
            <a:r>
              <a:rPr sz="2250" b="1" spc="-7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natural</a:t>
            </a:r>
            <a:r>
              <a:rPr sz="2250" spc="-13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ordering</a:t>
            </a:r>
            <a:r>
              <a:rPr sz="2250" spc="-6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30" dirty="0">
                <a:solidFill>
                  <a:srgbClr val="222222"/>
                </a:solidFill>
                <a:latin typeface="Tahoma"/>
                <a:cs typeface="Tahoma"/>
              </a:rPr>
              <a:t>of</a:t>
            </a:r>
            <a:r>
              <a:rPr sz="2250" spc="-10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80" dirty="0">
                <a:solidFill>
                  <a:srgbClr val="222222"/>
                </a:solidFill>
                <a:latin typeface="Tahoma"/>
                <a:cs typeface="Tahoma"/>
              </a:rPr>
              <a:t>activities</a:t>
            </a:r>
            <a:r>
              <a:rPr sz="2250" spc="-9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00" dirty="0">
                <a:solidFill>
                  <a:srgbClr val="222222"/>
                </a:solidFill>
                <a:latin typeface="Tahoma"/>
                <a:cs typeface="Tahoma"/>
              </a:rPr>
              <a:t>by</a:t>
            </a:r>
            <a:r>
              <a:rPr sz="2250" spc="-10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45" dirty="0">
                <a:solidFill>
                  <a:srgbClr val="222222"/>
                </a:solidFill>
                <a:latin typeface="Tahoma"/>
                <a:cs typeface="Tahoma"/>
              </a:rPr>
              <a:t>duration</a:t>
            </a:r>
            <a:endParaRPr sz="2250">
              <a:latin typeface="Tahoma"/>
              <a:cs typeface="Tahoma"/>
            </a:endParaRPr>
          </a:p>
          <a:p>
            <a:pPr marL="374015" marR="5080" indent="-361950">
              <a:lnSpc>
                <a:spcPct val="116700"/>
              </a:lnSpc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180" dirty="0">
                <a:solidFill>
                  <a:srgbClr val="222222"/>
                </a:solidFill>
                <a:latin typeface="Tahoma"/>
                <a:cs typeface="Tahoma"/>
              </a:rPr>
              <a:t>NIO</a:t>
            </a:r>
            <a:r>
              <a:rPr sz="2250" b="1" spc="-4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spc="-30" dirty="0">
                <a:solidFill>
                  <a:srgbClr val="222222"/>
                </a:solidFill>
                <a:latin typeface="Tahoma"/>
                <a:cs typeface="Tahoma"/>
              </a:rPr>
              <a:t>Files</a:t>
            </a:r>
            <a:r>
              <a:rPr sz="2250" b="1" spc="-8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spc="-254" dirty="0">
                <a:solidFill>
                  <a:srgbClr val="222222"/>
                </a:solidFill>
                <a:latin typeface="Tahoma"/>
                <a:cs typeface="Tahoma"/>
              </a:rPr>
              <a:t>&amp;</a:t>
            </a:r>
            <a:r>
              <a:rPr sz="2250" b="1" spc="-114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spc="-80" dirty="0">
                <a:solidFill>
                  <a:srgbClr val="222222"/>
                </a:solidFill>
                <a:latin typeface="Tahoma"/>
                <a:cs typeface="Tahoma"/>
              </a:rPr>
              <a:t>Path:</a:t>
            </a:r>
            <a:r>
              <a:rPr sz="2250" b="1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write</a:t>
            </a:r>
            <a:r>
              <a:rPr sz="2250" spc="-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95" dirty="0">
                <a:solidFill>
                  <a:srgbClr val="222222"/>
                </a:solidFill>
                <a:latin typeface="Tahoma"/>
                <a:cs typeface="Tahoma"/>
              </a:rPr>
              <a:t>records</a:t>
            </a:r>
            <a:r>
              <a:rPr sz="2250" spc="-1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0" dirty="0">
                <a:solidFill>
                  <a:srgbClr val="222222"/>
                </a:solidFill>
                <a:latin typeface="Tahoma"/>
                <a:cs typeface="Tahoma"/>
              </a:rPr>
              <a:t>with</a:t>
            </a:r>
            <a:r>
              <a:rPr sz="2250" spc="-114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BufferedWriter,</a:t>
            </a:r>
            <a:r>
              <a:rPr sz="2250" spc="-8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40" dirty="0">
                <a:solidFill>
                  <a:srgbClr val="222222"/>
                </a:solidFill>
                <a:latin typeface="Tahoma"/>
                <a:cs typeface="Tahoma"/>
              </a:rPr>
              <a:t>read </a:t>
            </a:r>
            <a:r>
              <a:rPr sz="2250" spc="125" dirty="0">
                <a:solidFill>
                  <a:srgbClr val="222222"/>
                </a:solidFill>
                <a:latin typeface="Tahoma"/>
                <a:cs typeface="Tahoma"/>
              </a:rPr>
              <a:t>back</a:t>
            </a:r>
            <a:r>
              <a:rPr sz="2250" spc="-16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0" dirty="0">
                <a:solidFill>
                  <a:srgbClr val="222222"/>
                </a:solidFill>
                <a:latin typeface="Tahoma"/>
                <a:cs typeface="Tahoma"/>
              </a:rPr>
              <a:t>with</a:t>
            </a:r>
            <a:r>
              <a:rPr sz="2250" spc="-19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35" dirty="0">
                <a:solidFill>
                  <a:srgbClr val="222222"/>
                </a:solidFill>
                <a:latin typeface="Tahoma"/>
                <a:cs typeface="Tahoma"/>
              </a:rPr>
              <a:t>Files.lines()</a:t>
            </a:r>
            <a:endParaRPr sz="2250">
              <a:latin typeface="Tahoma"/>
              <a:cs typeface="Tahoma"/>
            </a:endParaRPr>
          </a:p>
          <a:p>
            <a:pPr marL="374015" indent="-361315">
              <a:lnSpc>
                <a:spcPct val="100000"/>
              </a:lnSpc>
              <a:spcBef>
                <a:spcPts val="450"/>
              </a:spcBef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dirty="0">
                <a:solidFill>
                  <a:srgbClr val="222222"/>
                </a:solidFill>
                <a:latin typeface="Tahoma"/>
                <a:cs typeface="Tahoma"/>
              </a:rPr>
              <a:t>try-</a:t>
            </a:r>
            <a:r>
              <a:rPr sz="2250" b="1" spc="-60" dirty="0">
                <a:solidFill>
                  <a:srgbClr val="222222"/>
                </a:solidFill>
                <a:latin typeface="Tahoma"/>
                <a:cs typeface="Tahoma"/>
              </a:rPr>
              <a:t>with-</a:t>
            </a:r>
            <a:r>
              <a:rPr sz="2250" b="1" dirty="0">
                <a:solidFill>
                  <a:srgbClr val="222222"/>
                </a:solidFill>
                <a:latin typeface="Tahoma"/>
                <a:cs typeface="Tahoma"/>
              </a:rPr>
              <a:t>resources</a:t>
            </a:r>
            <a:r>
              <a:rPr sz="2250" b="1" spc="-8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for</a:t>
            </a:r>
            <a:r>
              <a:rPr sz="2250" spc="-15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0" dirty="0">
                <a:solidFill>
                  <a:srgbClr val="222222"/>
                </a:solidFill>
                <a:latin typeface="Tahoma"/>
                <a:cs typeface="Tahoma"/>
              </a:rPr>
              <a:t>automatic</a:t>
            </a:r>
            <a:r>
              <a:rPr sz="2250" spc="-114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90" dirty="0">
                <a:solidFill>
                  <a:srgbClr val="222222"/>
                </a:solidFill>
                <a:latin typeface="Tahoma"/>
                <a:cs typeface="Tahoma"/>
              </a:rPr>
              <a:t>closing</a:t>
            </a:r>
            <a:endParaRPr sz="22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705975" y="2371725"/>
            <a:ext cx="7639050" cy="6781800"/>
            <a:chOff x="9705975" y="2371725"/>
            <a:chExt cx="7639050" cy="6781800"/>
          </a:xfrm>
        </p:grpSpPr>
        <p:sp>
          <p:nvSpPr>
            <p:cNvPr id="6" name="object 6"/>
            <p:cNvSpPr/>
            <p:nvPr/>
          </p:nvSpPr>
          <p:spPr>
            <a:xfrm>
              <a:off x="9715499" y="2381249"/>
              <a:ext cx="7620000" cy="6762750"/>
            </a:xfrm>
            <a:custGeom>
              <a:avLst/>
              <a:gdLst/>
              <a:ahLst/>
              <a:cxnLst/>
              <a:rect l="l" t="t" r="r" b="b"/>
              <a:pathLst>
                <a:path w="7620000" h="6762750">
                  <a:moveTo>
                    <a:pt x="7467598" y="6762749"/>
                  </a:moveTo>
                  <a:lnTo>
                    <a:pt x="152399" y="6762749"/>
                  </a:lnTo>
                  <a:lnTo>
                    <a:pt x="108155" y="6756205"/>
                  </a:lnTo>
                  <a:lnTo>
                    <a:pt x="67715" y="6737089"/>
                  </a:lnTo>
                  <a:lnTo>
                    <a:pt x="34583" y="6707038"/>
                  </a:lnTo>
                  <a:lnTo>
                    <a:pt x="11600" y="6668669"/>
                  </a:lnTo>
                  <a:lnTo>
                    <a:pt x="714" y="6625289"/>
                  </a:lnTo>
                  <a:lnTo>
                    <a:pt x="0" y="6610349"/>
                  </a:lnTo>
                  <a:lnTo>
                    <a:pt x="0" y="152399"/>
                  </a:lnTo>
                  <a:lnTo>
                    <a:pt x="6542" y="108155"/>
                  </a:lnTo>
                  <a:lnTo>
                    <a:pt x="25659" y="67716"/>
                  </a:lnTo>
                  <a:lnTo>
                    <a:pt x="55709" y="34583"/>
                  </a:lnTo>
                  <a:lnTo>
                    <a:pt x="94078" y="11600"/>
                  </a:lnTo>
                  <a:lnTo>
                    <a:pt x="137459" y="714"/>
                  </a:lnTo>
                  <a:lnTo>
                    <a:pt x="7467599" y="0"/>
                  </a:lnTo>
                  <a:lnTo>
                    <a:pt x="7482536" y="721"/>
                  </a:lnTo>
                  <a:lnTo>
                    <a:pt x="7525919" y="11600"/>
                  </a:lnTo>
                  <a:lnTo>
                    <a:pt x="7564291" y="34577"/>
                  </a:lnTo>
                  <a:lnTo>
                    <a:pt x="7594336" y="67714"/>
                  </a:lnTo>
                  <a:lnTo>
                    <a:pt x="7613447" y="108156"/>
                  </a:lnTo>
                  <a:lnTo>
                    <a:pt x="7619999" y="152399"/>
                  </a:lnTo>
                  <a:lnTo>
                    <a:pt x="7619999" y="6610349"/>
                  </a:lnTo>
                  <a:lnTo>
                    <a:pt x="7619277" y="6625287"/>
                  </a:lnTo>
                  <a:lnTo>
                    <a:pt x="7608396" y="6668669"/>
                  </a:lnTo>
                  <a:lnTo>
                    <a:pt x="7585420" y="6707041"/>
                  </a:lnTo>
                  <a:lnTo>
                    <a:pt x="7552283" y="6737087"/>
                  </a:lnTo>
                  <a:lnTo>
                    <a:pt x="7511841" y="6756197"/>
                  </a:lnTo>
                  <a:lnTo>
                    <a:pt x="7467598" y="6762749"/>
                  </a:lnTo>
                  <a:close/>
                </a:path>
              </a:pathLst>
            </a:custGeom>
            <a:solidFill>
              <a:srgbClr val="1E1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715499" y="2381249"/>
              <a:ext cx="7620000" cy="6762750"/>
            </a:xfrm>
            <a:custGeom>
              <a:avLst/>
              <a:gdLst/>
              <a:ahLst/>
              <a:cxnLst/>
              <a:rect l="l" t="t" r="r" b="b"/>
              <a:pathLst>
                <a:path w="7620000" h="6762750">
                  <a:moveTo>
                    <a:pt x="152399" y="0"/>
                  </a:moveTo>
                  <a:lnTo>
                    <a:pt x="7467598" y="0"/>
                  </a:lnTo>
                </a:path>
                <a:path w="7620000" h="6762750">
                  <a:moveTo>
                    <a:pt x="7619999" y="152399"/>
                  </a:moveTo>
                  <a:lnTo>
                    <a:pt x="7619999" y="6610349"/>
                  </a:lnTo>
                </a:path>
                <a:path w="7620000" h="6762750">
                  <a:moveTo>
                    <a:pt x="7467598" y="6762749"/>
                  </a:moveTo>
                  <a:lnTo>
                    <a:pt x="152399" y="6762749"/>
                  </a:lnTo>
                </a:path>
                <a:path w="7620000" h="6762750">
                  <a:moveTo>
                    <a:pt x="0" y="6610349"/>
                  </a:moveTo>
                  <a:lnTo>
                    <a:pt x="0" y="152399"/>
                  </a:lnTo>
                </a:path>
              </a:pathLst>
            </a:custGeom>
            <a:ln w="19049">
              <a:solidFill>
                <a:srgbClr val="1E1E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083799" y="2682875"/>
            <a:ext cx="5315585" cy="452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65" dirty="0">
                <a:solidFill>
                  <a:srgbClr val="E8E8E8"/>
                </a:solidFill>
                <a:latin typeface="Tahoma"/>
                <a:cs typeface="Tahoma"/>
              </a:rPr>
              <a:t>Path</a:t>
            </a:r>
            <a:r>
              <a:rPr sz="1500" spc="9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filePath</a:t>
            </a:r>
            <a:r>
              <a:rPr sz="1500" spc="9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=</a:t>
            </a: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Paths.get("fitness_records.txt");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1500">
              <a:latin typeface="Tahoma"/>
              <a:cs typeface="Tahoma"/>
            </a:endParaRPr>
          </a:p>
          <a:p>
            <a:pPr marL="344170" marR="553085" indent="-332105">
              <a:lnSpc>
                <a:spcPct val="133300"/>
              </a:lnSpc>
            </a:pPr>
            <a:r>
              <a:rPr sz="1500" spc="65" dirty="0">
                <a:solidFill>
                  <a:srgbClr val="E8E8E8"/>
                </a:solidFill>
                <a:latin typeface="Tahoma"/>
                <a:cs typeface="Tahoma"/>
              </a:rPr>
              <a:t>try</a:t>
            </a:r>
            <a:r>
              <a:rPr sz="1500" spc="15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(BufferedWriter</a:t>
            </a:r>
            <a:r>
              <a:rPr sz="1500" spc="229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writer</a:t>
            </a:r>
            <a:r>
              <a:rPr sz="1500" spc="22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=</a:t>
            </a:r>
            <a:r>
              <a:rPr sz="1500" spc="14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Files.newBufferedWriter(</a:t>
            </a:r>
            <a:r>
              <a:rPr sz="1500" spc="50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filePath,</a:t>
            </a:r>
            <a:r>
              <a:rPr sz="1500" spc="35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StandardOpenOption.CREATE,</a:t>
            </a:r>
            <a:r>
              <a:rPr sz="1500" spc="50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30" dirty="0">
                <a:solidFill>
                  <a:srgbClr val="E8E8E8"/>
                </a:solidFill>
                <a:latin typeface="Tahoma"/>
                <a:cs typeface="Tahoma"/>
              </a:rPr>
              <a:t>StandardOpenOption.TRUNCATE_EXISTING))</a:t>
            </a:r>
            <a:r>
              <a:rPr sz="1500" spc="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E8E8E8"/>
                </a:solidFill>
                <a:latin typeface="Tahoma"/>
                <a:cs typeface="Tahoma"/>
              </a:rPr>
              <a:t>{</a:t>
            </a:r>
            <a:endParaRPr sz="1500">
              <a:latin typeface="Tahoma"/>
              <a:cs typeface="Tahoma"/>
            </a:endParaRPr>
          </a:p>
          <a:p>
            <a:pPr marL="233679" marR="612140" indent="-110489">
              <a:lnSpc>
                <a:spcPct val="133300"/>
              </a:lnSpc>
            </a:pP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for</a:t>
            </a:r>
            <a:r>
              <a:rPr sz="1500" spc="9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(Activity</a:t>
            </a:r>
            <a:r>
              <a:rPr sz="1500" spc="3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E8E8E8"/>
                </a:solidFill>
                <a:latin typeface="Tahoma"/>
                <a:cs typeface="Tahoma"/>
              </a:rPr>
              <a:t>a</a:t>
            </a:r>
            <a:r>
              <a:rPr sz="1500" spc="2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25" dirty="0">
                <a:solidFill>
                  <a:srgbClr val="E8E8E8"/>
                </a:solidFill>
                <a:latin typeface="Tahoma"/>
                <a:cs typeface="Tahoma"/>
              </a:rPr>
              <a:t>:</a:t>
            </a:r>
            <a:r>
              <a:rPr sz="1500" spc="-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activities) </a:t>
            </a:r>
            <a:r>
              <a:rPr sz="1500" spc="-25" dirty="0">
                <a:solidFill>
                  <a:srgbClr val="E8E8E8"/>
                </a:solidFill>
                <a:latin typeface="Tahoma"/>
                <a:cs typeface="Tahoma"/>
              </a:rPr>
              <a:t>writer.write(String.format("%s;%s;%d;%.2f%n",</a:t>
            </a:r>
            <a:r>
              <a:rPr sz="1500" spc="30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55" dirty="0">
                <a:solidFill>
                  <a:srgbClr val="E8E8E8"/>
                </a:solidFill>
                <a:latin typeface="Tahoma"/>
                <a:cs typeface="Tahoma"/>
              </a:rPr>
              <a:t>...));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spc="-195" dirty="0">
                <a:solidFill>
                  <a:srgbClr val="E8E8E8"/>
                </a:solidFill>
                <a:latin typeface="Tahoma"/>
                <a:cs typeface="Tahoma"/>
              </a:rPr>
              <a:t>}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E8E8E8"/>
                </a:solidFill>
                <a:latin typeface="Tahoma"/>
                <a:cs typeface="Tahoma"/>
              </a:rPr>
              <a:t>catch</a:t>
            </a:r>
            <a:r>
              <a:rPr sz="1500" spc="3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(IOException</a:t>
            </a: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e) </a:t>
            </a:r>
            <a:r>
              <a:rPr sz="1500" spc="-195" dirty="0">
                <a:solidFill>
                  <a:srgbClr val="E8E8E8"/>
                </a:solidFill>
                <a:latin typeface="Tahoma"/>
                <a:cs typeface="Tahoma"/>
              </a:rPr>
              <a:t>{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85" dirty="0">
                <a:solidFill>
                  <a:srgbClr val="E8E8E8"/>
                </a:solidFill>
                <a:latin typeface="Tahoma"/>
                <a:cs typeface="Tahoma"/>
              </a:rPr>
              <a:t>...</a:t>
            </a:r>
            <a:r>
              <a:rPr sz="1500" spc="-2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E8E8E8"/>
                </a:solidFill>
                <a:latin typeface="Tahoma"/>
                <a:cs typeface="Tahoma"/>
              </a:rPr>
              <a:t>}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Files.lines(filePath)</a:t>
            </a:r>
            <a:endParaRPr sz="1500">
              <a:latin typeface="Tahoma"/>
              <a:cs typeface="Tahoma"/>
            </a:endParaRPr>
          </a:p>
          <a:p>
            <a:pPr marL="288925">
              <a:lnSpc>
                <a:spcPct val="100000"/>
              </a:lnSpc>
              <a:spcBef>
                <a:spcPts val="600"/>
              </a:spcBef>
            </a:pP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.filter(line</a:t>
            </a:r>
            <a:r>
              <a:rPr sz="1500" spc="7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80" dirty="0">
                <a:solidFill>
                  <a:srgbClr val="E8E8E8"/>
                </a:solidFill>
                <a:latin typeface="Tahoma"/>
                <a:cs typeface="Tahoma"/>
              </a:rPr>
              <a:t>-</a:t>
            </a:r>
            <a:r>
              <a:rPr sz="1500" spc="-150" dirty="0">
                <a:solidFill>
                  <a:srgbClr val="E8E8E8"/>
                </a:solidFill>
                <a:latin typeface="Tahoma"/>
                <a:cs typeface="Tahoma"/>
              </a:rPr>
              <a:t>&gt;</a:t>
            </a:r>
            <a:r>
              <a:rPr sz="1500" spc="3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!line.trim().isEmpty())</a:t>
            </a:r>
            <a:endParaRPr sz="1500">
              <a:latin typeface="Tahoma"/>
              <a:cs typeface="Tahoma"/>
            </a:endParaRPr>
          </a:p>
          <a:p>
            <a:pPr marL="288925">
              <a:lnSpc>
                <a:spcPct val="100000"/>
              </a:lnSpc>
              <a:spcBef>
                <a:spcPts val="600"/>
              </a:spcBef>
            </a:pP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.forEach(line</a:t>
            </a:r>
            <a:r>
              <a:rPr sz="1500" spc="4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75" dirty="0">
                <a:solidFill>
                  <a:srgbClr val="E8E8E8"/>
                </a:solidFill>
                <a:latin typeface="Tahoma"/>
                <a:cs typeface="Tahoma"/>
              </a:rPr>
              <a:t>→</a:t>
            </a:r>
            <a:r>
              <a:rPr sz="1500" spc="1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95" dirty="0">
                <a:solidFill>
                  <a:srgbClr val="E8E8E8"/>
                </a:solidFill>
                <a:latin typeface="Tahoma"/>
                <a:cs typeface="Tahoma"/>
              </a:rPr>
              <a:t>{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 String[]</a:t>
            </a:r>
            <a:r>
              <a:rPr sz="1500" spc="-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E8E8E8"/>
                </a:solidFill>
                <a:latin typeface="Tahoma"/>
                <a:cs typeface="Tahoma"/>
              </a:rPr>
              <a:t>parts</a:t>
            </a:r>
            <a:r>
              <a:rPr sz="1500" spc="-2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=</a:t>
            </a:r>
            <a:r>
              <a:rPr sz="1500" spc="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E8E8E8"/>
                </a:solidFill>
                <a:latin typeface="Tahoma"/>
                <a:cs typeface="Tahoma"/>
              </a:rPr>
              <a:t>line.split(";");</a:t>
            </a:r>
            <a:r>
              <a:rPr sz="1500" spc="5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85" dirty="0">
                <a:solidFill>
                  <a:srgbClr val="E8E8E8"/>
                </a:solidFill>
                <a:latin typeface="Tahoma"/>
                <a:cs typeface="Tahoma"/>
              </a:rPr>
              <a:t>...</a:t>
            </a:r>
            <a:r>
              <a:rPr sz="1500" spc="-25" dirty="0">
                <a:solidFill>
                  <a:srgbClr val="E8E8E8"/>
                </a:solidFill>
                <a:latin typeface="Tahoma"/>
                <a:cs typeface="Tahoma"/>
              </a:rPr>
              <a:t> });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StringBuilder</a:t>
            </a:r>
            <a:r>
              <a:rPr sz="1500" spc="22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E8E8E8"/>
                </a:solidFill>
                <a:latin typeface="Tahoma"/>
                <a:cs typeface="Tahoma"/>
              </a:rPr>
              <a:t>sb</a:t>
            </a:r>
            <a:r>
              <a:rPr sz="1500" spc="23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=</a:t>
            </a:r>
            <a:r>
              <a:rPr sz="1500" spc="14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E8E8E8"/>
                </a:solidFill>
                <a:latin typeface="Tahoma"/>
                <a:cs typeface="Tahoma"/>
              </a:rPr>
              <a:t>new</a:t>
            </a:r>
            <a:r>
              <a:rPr sz="1500" spc="14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StringBuilder("Parsed</a:t>
            </a:r>
            <a:r>
              <a:rPr sz="1500" spc="12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Tags:</a:t>
            </a:r>
            <a:r>
              <a:rPr sz="1500" spc="10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E8E8E8"/>
                </a:solidFill>
                <a:latin typeface="Tahoma"/>
                <a:cs typeface="Tahoma"/>
              </a:rPr>
              <a:t>");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for</a:t>
            </a:r>
            <a:r>
              <a:rPr sz="1500" spc="14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(String</a:t>
            </a:r>
            <a:r>
              <a:rPr sz="1500" spc="7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t</a:t>
            </a:r>
            <a:r>
              <a:rPr sz="1500" spc="16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25" dirty="0">
                <a:solidFill>
                  <a:srgbClr val="E8E8E8"/>
                </a:solidFill>
                <a:latin typeface="Tahoma"/>
                <a:cs typeface="Tahoma"/>
              </a:rPr>
              <a:t>:</a:t>
            </a:r>
            <a:r>
              <a:rPr sz="1500" spc="4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tokens)</a:t>
            </a:r>
            <a:r>
              <a:rPr sz="1500" spc="6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sb.append("[").append(t).append("]</a:t>
            </a:r>
            <a:r>
              <a:rPr sz="1500" spc="7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E8E8E8"/>
                </a:solidFill>
                <a:latin typeface="Tahoma"/>
                <a:cs typeface="Tahoma"/>
              </a:rPr>
              <a:t>");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16-10-</a:t>
            </a:r>
            <a:r>
              <a:rPr spc="85" dirty="0"/>
              <a:t>2026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9800" y="492125"/>
            <a:ext cx="3332479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45" dirty="0">
                <a:solidFill>
                  <a:srgbClr val="B3121B"/>
                </a:solidFill>
                <a:latin typeface="Tahoma"/>
                <a:cs typeface="Tahoma"/>
              </a:rPr>
              <a:t>KL</a:t>
            </a:r>
            <a:r>
              <a:rPr sz="1650" b="1" spc="-145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100" dirty="0">
                <a:solidFill>
                  <a:srgbClr val="B3121B"/>
                </a:solidFill>
                <a:latin typeface="Tahoma"/>
                <a:cs typeface="Tahoma"/>
              </a:rPr>
              <a:t>UNIVERSITY </a:t>
            </a:r>
            <a:r>
              <a:rPr sz="1650" b="1" spc="-120" dirty="0">
                <a:solidFill>
                  <a:srgbClr val="B3121B"/>
                </a:solidFill>
                <a:latin typeface="Tahoma"/>
                <a:cs typeface="Tahoma"/>
              </a:rPr>
              <a:t>·</a:t>
            </a:r>
            <a:r>
              <a:rPr sz="1650" b="1" spc="-150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55" dirty="0">
                <a:solidFill>
                  <a:srgbClr val="B3121B"/>
                </a:solidFill>
                <a:latin typeface="Tahoma"/>
                <a:cs typeface="Tahoma"/>
              </a:rPr>
              <a:t>FitPulse</a:t>
            </a:r>
            <a:r>
              <a:rPr sz="1650" b="1" spc="-114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B3121B"/>
                </a:solidFill>
                <a:latin typeface="Tahoma"/>
                <a:cs typeface="Tahoma"/>
              </a:rPr>
              <a:t>Tracker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39800" y="875796"/>
            <a:ext cx="1486535" cy="9251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0" dirty="0"/>
              <a:t>CO6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9800" y="2384173"/>
            <a:ext cx="7549515" cy="3439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b="1" spc="-130" dirty="0">
                <a:solidFill>
                  <a:srgbClr val="B3121B"/>
                </a:solidFill>
                <a:latin typeface="Arial"/>
                <a:cs typeface="Arial"/>
              </a:rPr>
              <a:t>Collections,</a:t>
            </a:r>
            <a:r>
              <a:rPr sz="2950" b="1" spc="-190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150" dirty="0">
                <a:solidFill>
                  <a:srgbClr val="B3121B"/>
                </a:solidFill>
                <a:latin typeface="Arial"/>
                <a:cs typeface="Arial"/>
              </a:rPr>
              <a:t>lambdas</a:t>
            </a:r>
            <a:r>
              <a:rPr sz="2950" b="1" spc="-180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70" dirty="0">
                <a:solidFill>
                  <a:srgbClr val="B3121B"/>
                </a:solidFill>
                <a:latin typeface="Arial"/>
                <a:cs typeface="Arial"/>
              </a:rPr>
              <a:t>&amp;</a:t>
            </a:r>
            <a:r>
              <a:rPr sz="2950" b="1" spc="-170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75" dirty="0">
                <a:solidFill>
                  <a:srgbClr val="B3121B"/>
                </a:solidFill>
                <a:latin typeface="Arial"/>
                <a:cs typeface="Arial"/>
              </a:rPr>
              <a:t>Stream</a:t>
            </a:r>
            <a:r>
              <a:rPr sz="2950" b="1" spc="-185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10" dirty="0">
                <a:solidFill>
                  <a:srgbClr val="B3121B"/>
                </a:solidFill>
                <a:latin typeface="Arial"/>
                <a:cs typeface="Arial"/>
              </a:rPr>
              <a:t>pipelines</a:t>
            </a:r>
            <a:endParaRPr sz="2950">
              <a:latin typeface="Arial"/>
              <a:cs typeface="Arial"/>
            </a:endParaRPr>
          </a:p>
          <a:p>
            <a:pPr marL="374015" indent="-361315">
              <a:lnSpc>
                <a:spcPct val="100000"/>
              </a:lnSpc>
              <a:spcBef>
                <a:spcPts val="1735"/>
              </a:spcBef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dirty="0">
                <a:solidFill>
                  <a:srgbClr val="222222"/>
                </a:solidFill>
                <a:latin typeface="Tahoma"/>
                <a:cs typeface="Tahoma"/>
              </a:rPr>
              <a:t>Generic</a:t>
            </a:r>
            <a:r>
              <a:rPr sz="2250" b="1" spc="-14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spc="-70" dirty="0">
                <a:solidFill>
                  <a:srgbClr val="222222"/>
                </a:solidFill>
                <a:latin typeface="Tahoma"/>
                <a:cs typeface="Tahoma"/>
              </a:rPr>
              <a:t>List&lt;Activity&gt;</a:t>
            </a:r>
            <a:r>
              <a:rPr sz="2250" b="1" spc="-4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80" dirty="0">
                <a:solidFill>
                  <a:srgbClr val="222222"/>
                </a:solidFill>
                <a:latin typeface="Tahoma"/>
                <a:cs typeface="Tahoma"/>
              </a:rPr>
              <a:t>stored</a:t>
            </a:r>
            <a:r>
              <a:rPr sz="2250" spc="-1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0" dirty="0">
                <a:solidFill>
                  <a:srgbClr val="222222"/>
                </a:solidFill>
                <a:latin typeface="Tahoma"/>
                <a:cs typeface="Tahoma"/>
              </a:rPr>
              <a:t>in</a:t>
            </a:r>
            <a:r>
              <a:rPr sz="2250" spc="-17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0" dirty="0">
                <a:solidFill>
                  <a:srgbClr val="222222"/>
                </a:solidFill>
                <a:latin typeface="Tahoma"/>
                <a:cs typeface="Tahoma"/>
              </a:rPr>
              <a:t>an</a:t>
            </a:r>
            <a:r>
              <a:rPr sz="2250" spc="-18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5" dirty="0">
                <a:solidFill>
                  <a:srgbClr val="222222"/>
                </a:solidFill>
                <a:latin typeface="Tahoma"/>
                <a:cs typeface="Tahoma"/>
              </a:rPr>
              <a:t>ArrayList</a:t>
            </a:r>
            <a:endParaRPr sz="2250">
              <a:latin typeface="Tahoma"/>
              <a:cs typeface="Tahoma"/>
            </a:endParaRPr>
          </a:p>
          <a:p>
            <a:pPr marL="374015" indent="-361315">
              <a:lnSpc>
                <a:spcPct val="100000"/>
              </a:lnSpc>
              <a:spcBef>
                <a:spcPts val="450"/>
              </a:spcBef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55" dirty="0">
                <a:solidFill>
                  <a:srgbClr val="222222"/>
                </a:solidFill>
                <a:latin typeface="Tahoma"/>
                <a:cs typeface="Tahoma"/>
              </a:rPr>
              <a:t>Functional</a:t>
            </a:r>
            <a:r>
              <a:rPr sz="2250" b="1" spc="-17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spc="-30" dirty="0">
                <a:solidFill>
                  <a:srgbClr val="222222"/>
                </a:solidFill>
                <a:latin typeface="Tahoma"/>
                <a:cs typeface="Tahoma"/>
              </a:rPr>
              <a:t>interfaces:</a:t>
            </a:r>
            <a:r>
              <a:rPr sz="2250" b="1" spc="-7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5" dirty="0">
                <a:solidFill>
                  <a:srgbClr val="222222"/>
                </a:solidFill>
                <a:latin typeface="Tahoma"/>
                <a:cs typeface="Tahoma"/>
              </a:rPr>
              <a:t>Predicate,</a:t>
            </a:r>
            <a:r>
              <a:rPr sz="2250" spc="-15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45" dirty="0">
                <a:solidFill>
                  <a:srgbClr val="222222"/>
                </a:solidFill>
                <a:latin typeface="Tahoma"/>
                <a:cs typeface="Tahoma"/>
              </a:rPr>
              <a:t>Function,</a:t>
            </a:r>
            <a:r>
              <a:rPr sz="2250" spc="-15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85" dirty="0">
                <a:solidFill>
                  <a:srgbClr val="222222"/>
                </a:solidFill>
                <a:latin typeface="Tahoma"/>
                <a:cs typeface="Tahoma"/>
              </a:rPr>
              <a:t>Consumer</a:t>
            </a:r>
            <a:endParaRPr sz="2250">
              <a:latin typeface="Tahoma"/>
              <a:cs typeface="Tahoma"/>
            </a:endParaRPr>
          </a:p>
          <a:p>
            <a:pPr marL="374015" marR="1463675" indent="-361950">
              <a:lnSpc>
                <a:spcPct val="116700"/>
              </a:lnSpc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30" dirty="0">
                <a:solidFill>
                  <a:srgbClr val="222222"/>
                </a:solidFill>
                <a:latin typeface="Tahoma"/>
                <a:cs typeface="Tahoma"/>
              </a:rPr>
              <a:t>Method</a:t>
            </a:r>
            <a:r>
              <a:rPr sz="2250" b="1" spc="-16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spc="-30" dirty="0">
                <a:solidFill>
                  <a:srgbClr val="222222"/>
                </a:solidFill>
                <a:latin typeface="Tahoma"/>
                <a:cs typeface="Tahoma"/>
              </a:rPr>
              <a:t>references:</a:t>
            </a:r>
            <a:r>
              <a:rPr sz="2250" b="1" spc="-8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-10" dirty="0">
                <a:solidFill>
                  <a:srgbClr val="222222"/>
                </a:solidFill>
                <a:latin typeface="Tahoma"/>
                <a:cs typeface="Tahoma"/>
              </a:rPr>
              <a:t>Activity::getSummary, System.out::println</a:t>
            </a:r>
            <a:endParaRPr sz="2250">
              <a:latin typeface="Tahoma"/>
              <a:cs typeface="Tahoma"/>
            </a:endParaRPr>
          </a:p>
          <a:p>
            <a:pPr marL="374015" indent="-361315">
              <a:lnSpc>
                <a:spcPct val="100000"/>
              </a:lnSpc>
              <a:spcBef>
                <a:spcPts val="450"/>
              </a:spcBef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40" dirty="0">
                <a:solidFill>
                  <a:srgbClr val="222222"/>
                </a:solidFill>
                <a:latin typeface="Tahoma"/>
                <a:cs typeface="Tahoma"/>
              </a:rPr>
              <a:t>Comparator </a:t>
            </a:r>
            <a:r>
              <a:rPr sz="2250" spc="105" dirty="0">
                <a:solidFill>
                  <a:srgbClr val="222222"/>
                </a:solidFill>
                <a:latin typeface="Tahoma"/>
                <a:cs typeface="Tahoma"/>
              </a:rPr>
              <a:t>sorts</a:t>
            </a:r>
            <a:r>
              <a:rPr sz="2250" spc="-114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00" dirty="0">
                <a:solidFill>
                  <a:srgbClr val="222222"/>
                </a:solidFill>
                <a:latin typeface="Tahoma"/>
                <a:cs typeface="Tahoma"/>
              </a:rPr>
              <a:t>by</a:t>
            </a:r>
            <a:r>
              <a:rPr sz="2250" spc="-1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95" dirty="0">
                <a:solidFill>
                  <a:srgbClr val="222222"/>
                </a:solidFill>
                <a:latin typeface="Tahoma"/>
                <a:cs typeface="Tahoma"/>
              </a:rPr>
              <a:t>calories</a:t>
            </a:r>
            <a:r>
              <a:rPr sz="2250" spc="-114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burned</a:t>
            </a:r>
            <a:r>
              <a:rPr sz="2250" spc="-1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5" dirty="0">
                <a:solidFill>
                  <a:srgbClr val="222222"/>
                </a:solidFill>
                <a:latin typeface="Tahoma"/>
                <a:cs typeface="Tahoma"/>
              </a:rPr>
              <a:t>(descending)</a:t>
            </a:r>
            <a:endParaRPr sz="2250">
              <a:latin typeface="Tahoma"/>
              <a:cs typeface="Tahoma"/>
            </a:endParaRPr>
          </a:p>
          <a:p>
            <a:pPr marL="374015" indent="-361315">
              <a:lnSpc>
                <a:spcPct val="100000"/>
              </a:lnSpc>
              <a:spcBef>
                <a:spcPts val="450"/>
              </a:spcBef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20" dirty="0">
                <a:solidFill>
                  <a:srgbClr val="222222"/>
                </a:solidFill>
                <a:latin typeface="Tahoma"/>
                <a:cs typeface="Tahoma"/>
              </a:rPr>
              <a:t>Collectors:</a:t>
            </a:r>
            <a:r>
              <a:rPr sz="2250" b="1" spc="-8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5" dirty="0">
                <a:solidFill>
                  <a:srgbClr val="222222"/>
                </a:solidFill>
                <a:latin typeface="Tahoma"/>
                <a:cs typeface="Tahoma"/>
              </a:rPr>
              <a:t>groupingBy</a:t>
            </a:r>
            <a:r>
              <a:rPr sz="2250" spc="-1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-170" dirty="0">
                <a:solidFill>
                  <a:srgbClr val="222222"/>
                </a:solidFill>
                <a:latin typeface="Tahoma"/>
                <a:cs typeface="Tahoma"/>
              </a:rPr>
              <a:t>+</a:t>
            </a:r>
            <a:r>
              <a:rPr sz="2250" spc="-114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5" dirty="0">
                <a:solidFill>
                  <a:srgbClr val="222222"/>
                </a:solidFill>
                <a:latin typeface="Tahoma"/>
                <a:cs typeface="Tahoma"/>
              </a:rPr>
              <a:t>counting,</a:t>
            </a:r>
            <a:r>
              <a:rPr sz="2250" spc="-16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35" dirty="0">
                <a:solidFill>
                  <a:srgbClr val="222222"/>
                </a:solidFill>
                <a:latin typeface="Tahoma"/>
                <a:cs typeface="Tahoma"/>
              </a:rPr>
              <a:t>joining</a:t>
            </a:r>
            <a:endParaRPr sz="2250">
              <a:latin typeface="Tahoma"/>
              <a:cs typeface="Tahoma"/>
            </a:endParaRPr>
          </a:p>
          <a:p>
            <a:pPr marL="374015" indent="-361315">
              <a:lnSpc>
                <a:spcPct val="100000"/>
              </a:lnSpc>
              <a:spcBef>
                <a:spcPts val="450"/>
              </a:spcBef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45" dirty="0">
                <a:solidFill>
                  <a:srgbClr val="222222"/>
                </a:solidFill>
                <a:latin typeface="Tahoma"/>
                <a:cs typeface="Tahoma"/>
              </a:rPr>
              <a:t>reduce()</a:t>
            </a:r>
            <a:r>
              <a:rPr sz="2250" b="1" spc="-114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5" dirty="0">
                <a:solidFill>
                  <a:srgbClr val="222222"/>
                </a:solidFill>
                <a:latin typeface="Tahoma"/>
                <a:cs typeface="Tahoma"/>
              </a:rPr>
              <a:t>totals</a:t>
            </a:r>
            <a:r>
              <a:rPr sz="2250" spc="-114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5" dirty="0">
                <a:solidFill>
                  <a:srgbClr val="222222"/>
                </a:solidFill>
                <a:latin typeface="Tahoma"/>
                <a:cs typeface="Tahoma"/>
              </a:rPr>
              <a:t>energy</a:t>
            </a:r>
            <a:r>
              <a:rPr sz="2250" spc="-1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95" dirty="0">
                <a:solidFill>
                  <a:srgbClr val="222222"/>
                </a:solidFill>
                <a:latin typeface="Tahoma"/>
                <a:cs typeface="Tahoma"/>
              </a:rPr>
              <a:t>expended</a:t>
            </a:r>
            <a:endParaRPr sz="22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705975" y="2371725"/>
            <a:ext cx="7639050" cy="6781800"/>
            <a:chOff x="9705975" y="2371725"/>
            <a:chExt cx="7639050" cy="6781800"/>
          </a:xfrm>
        </p:grpSpPr>
        <p:sp>
          <p:nvSpPr>
            <p:cNvPr id="6" name="object 6"/>
            <p:cNvSpPr/>
            <p:nvPr/>
          </p:nvSpPr>
          <p:spPr>
            <a:xfrm>
              <a:off x="9715499" y="2381249"/>
              <a:ext cx="7620000" cy="6762750"/>
            </a:xfrm>
            <a:custGeom>
              <a:avLst/>
              <a:gdLst/>
              <a:ahLst/>
              <a:cxnLst/>
              <a:rect l="l" t="t" r="r" b="b"/>
              <a:pathLst>
                <a:path w="7620000" h="6762750">
                  <a:moveTo>
                    <a:pt x="7467598" y="6762749"/>
                  </a:moveTo>
                  <a:lnTo>
                    <a:pt x="152399" y="6762749"/>
                  </a:lnTo>
                  <a:lnTo>
                    <a:pt x="108155" y="6756205"/>
                  </a:lnTo>
                  <a:lnTo>
                    <a:pt x="67715" y="6737089"/>
                  </a:lnTo>
                  <a:lnTo>
                    <a:pt x="34583" y="6707038"/>
                  </a:lnTo>
                  <a:lnTo>
                    <a:pt x="11600" y="6668669"/>
                  </a:lnTo>
                  <a:lnTo>
                    <a:pt x="714" y="6625289"/>
                  </a:lnTo>
                  <a:lnTo>
                    <a:pt x="0" y="6610349"/>
                  </a:lnTo>
                  <a:lnTo>
                    <a:pt x="0" y="152399"/>
                  </a:lnTo>
                  <a:lnTo>
                    <a:pt x="6542" y="108155"/>
                  </a:lnTo>
                  <a:lnTo>
                    <a:pt x="25659" y="67716"/>
                  </a:lnTo>
                  <a:lnTo>
                    <a:pt x="55709" y="34583"/>
                  </a:lnTo>
                  <a:lnTo>
                    <a:pt x="94078" y="11600"/>
                  </a:lnTo>
                  <a:lnTo>
                    <a:pt x="137459" y="714"/>
                  </a:lnTo>
                  <a:lnTo>
                    <a:pt x="7467599" y="0"/>
                  </a:lnTo>
                  <a:lnTo>
                    <a:pt x="7482536" y="721"/>
                  </a:lnTo>
                  <a:lnTo>
                    <a:pt x="7525919" y="11600"/>
                  </a:lnTo>
                  <a:lnTo>
                    <a:pt x="7564291" y="34577"/>
                  </a:lnTo>
                  <a:lnTo>
                    <a:pt x="7594336" y="67714"/>
                  </a:lnTo>
                  <a:lnTo>
                    <a:pt x="7613447" y="108156"/>
                  </a:lnTo>
                  <a:lnTo>
                    <a:pt x="7619999" y="152399"/>
                  </a:lnTo>
                  <a:lnTo>
                    <a:pt x="7619999" y="6610349"/>
                  </a:lnTo>
                  <a:lnTo>
                    <a:pt x="7619277" y="6625287"/>
                  </a:lnTo>
                  <a:lnTo>
                    <a:pt x="7608396" y="6668669"/>
                  </a:lnTo>
                  <a:lnTo>
                    <a:pt x="7585420" y="6707041"/>
                  </a:lnTo>
                  <a:lnTo>
                    <a:pt x="7552283" y="6737087"/>
                  </a:lnTo>
                  <a:lnTo>
                    <a:pt x="7511841" y="6756197"/>
                  </a:lnTo>
                  <a:lnTo>
                    <a:pt x="7467598" y="6762749"/>
                  </a:lnTo>
                  <a:close/>
                </a:path>
              </a:pathLst>
            </a:custGeom>
            <a:solidFill>
              <a:srgbClr val="1E1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715499" y="2381249"/>
              <a:ext cx="7620000" cy="6762750"/>
            </a:xfrm>
            <a:custGeom>
              <a:avLst/>
              <a:gdLst/>
              <a:ahLst/>
              <a:cxnLst/>
              <a:rect l="l" t="t" r="r" b="b"/>
              <a:pathLst>
                <a:path w="7620000" h="6762750">
                  <a:moveTo>
                    <a:pt x="152399" y="0"/>
                  </a:moveTo>
                  <a:lnTo>
                    <a:pt x="7467598" y="0"/>
                  </a:lnTo>
                </a:path>
                <a:path w="7620000" h="6762750">
                  <a:moveTo>
                    <a:pt x="7619999" y="152399"/>
                  </a:moveTo>
                  <a:lnTo>
                    <a:pt x="7619999" y="6610349"/>
                  </a:lnTo>
                </a:path>
                <a:path w="7620000" h="6762750">
                  <a:moveTo>
                    <a:pt x="7467598" y="6762749"/>
                  </a:moveTo>
                  <a:lnTo>
                    <a:pt x="152399" y="6762749"/>
                  </a:lnTo>
                </a:path>
                <a:path w="7620000" h="6762750">
                  <a:moveTo>
                    <a:pt x="0" y="6610349"/>
                  </a:moveTo>
                  <a:lnTo>
                    <a:pt x="0" y="152399"/>
                  </a:lnTo>
                </a:path>
              </a:pathLst>
            </a:custGeom>
            <a:ln w="19049">
              <a:solidFill>
                <a:srgbClr val="1E1E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083799" y="2606675"/>
            <a:ext cx="6599555" cy="459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Predicate&lt;Activity&gt;</a:t>
            </a:r>
            <a:r>
              <a:rPr sz="1500" spc="21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isHighBurn</a:t>
            </a:r>
            <a:r>
              <a:rPr sz="1500" spc="28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=</a:t>
            </a:r>
            <a:r>
              <a:rPr sz="1500" spc="21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E8E8E8"/>
                </a:solidFill>
                <a:latin typeface="Tahoma"/>
                <a:cs typeface="Tahoma"/>
              </a:rPr>
              <a:t>a</a:t>
            </a:r>
            <a:r>
              <a:rPr sz="1500" spc="21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75" dirty="0">
                <a:solidFill>
                  <a:srgbClr val="E8E8E8"/>
                </a:solidFill>
                <a:latin typeface="Tahoma"/>
                <a:cs typeface="Tahoma"/>
              </a:rPr>
              <a:t>→</a:t>
            </a:r>
            <a:r>
              <a:rPr sz="1500" spc="22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a.calculateCaloriesBurned()</a:t>
            </a:r>
            <a:r>
              <a:rPr sz="1500" spc="21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&gt;</a:t>
            </a:r>
            <a:r>
              <a:rPr sz="1500" spc="22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200.0; activities.stream().filter(isHighBurn)</a:t>
            </a:r>
            <a:endParaRPr sz="1500">
              <a:latin typeface="Tahoma"/>
              <a:cs typeface="Tahoma"/>
            </a:endParaRPr>
          </a:p>
          <a:p>
            <a:pPr marL="565150">
              <a:lnSpc>
                <a:spcPct val="100000"/>
              </a:lnSpc>
              <a:spcBef>
                <a:spcPts val="600"/>
              </a:spcBef>
            </a:pP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.map(Activity::getSummary)</a:t>
            </a:r>
            <a:endParaRPr sz="1500">
              <a:latin typeface="Tahoma"/>
              <a:cs typeface="Tahoma"/>
            </a:endParaRPr>
          </a:p>
          <a:p>
            <a:pPr marL="565150">
              <a:lnSpc>
                <a:spcPct val="100000"/>
              </a:lnSpc>
              <a:spcBef>
                <a:spcPts val="600"/>
              </a:spcBef>
            </a:pP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.forEach(System.out::println);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Map&lt;String,</a:t>
            </a:r>
            <a:r>
              <a:rPr sz="1500" spc="114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Long&gt;</a:t>
            </a:r>
            <a:r>
              <a:rPr sz="1500" spc="6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E8E8E8"/>
                </a:solidFill>
                <a:latin typeface="Tahoma"/>
                <a:cs typeface="Tahoma"/>
              </a:rPr>
              <a:t>freq</a:t>
            </a:r>
            <a:r>
              <a:rPr sz="1500" spc="7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=</a:t>
            </a:r>
            <a:r>
              <a:rPr sz="1500" spc="7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activities.stream()</a:t>
            </a:r>
            <a:endParaRPr sz="1500">
              <a:latin typeface="Tahoma"/>
              <a:cs typeface="Tahoma"/>
            </a:endParaRPr>
          </a:p>
          <a:p>
            <a:pPr marL="123189">
              <a:lnSpc>
                <a:spcPct val="100000"/>
              </a:lnSpc>
              <a:spcBef>
                <a:spcPts val="600"/>
              </a:spcBef>
            </a:pP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.collect(Collectors.groupingBy(Activity::getName,</a:t>
            </a:r>
            <a:endParaRPr sz="1500">
              <a:latin typeface="Tahoma"/>
              <a:cs typeface="Tahoma"/>
            </a:endParaRPr>
          </a:p>
          <a:p>
            <a:pPr marL="1835785">
              <a:lnSpc>
                <a:spcPct val="100000"/>
              </a:lnSpc>
              <a:spcBef>
                <a:spcPts val="600"/>
              </a:spcBef>
            </a:pP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Collectors.counting()));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String</a:t>
            </a:r>
            <a:r>
              <a:rPr sz="1500" spc="14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names</a:t>
            </a:r>
            <a:r>
              <a:rPr sz="1500" spc="12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=</a:t>
            </a:r>
            <a:r>
              <a:rPr sz="1500" spc="14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activities.stream().map(Activity::getName)</a:t>
            </a:r>
            <a:endParaRPr sz="1500">
              <a:latin typeface="Tahoma"/>
              <a:cs typeface="Tahoma"/>
            </a:endParaRPr>
          </a:p>
          <a:p>
            <a:pPr marL="123189">
              <a:lnSpc>
                <a:spcPct val="100000"/>
              </a:lnSpc>
              <a:spcBef>
                <a:spcPts val="600"/>
              </a:spcBef>
            </a:pPr>
            <a:r>
              <a:rPr sz="1500" spc="10" dirty="0">
                <a:solidFill>
                  <a:srgbClr val="E8E8E8"/>
                </a:solidFill>
                <a:latin typeface="Tahoma"/>
                <a:cs typeface="Tahoma"/>
              </a:rPr>
              <a:t>.distinct().sorted().collect(Collectors.joining(",</a:t>
            </a:r>
            <a:r>
              <a:rPr sz="1500" spc="29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E8E8E8"/>
                </a:solidFill>
                <a:latin typeface="Tahoma"/>
                <a:cs typeface="Tahoma"/>
              </a:rPr>
              <a:t>"));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double</a:t>
            </a:r>
            <a:r>
              <a:rPr sz="1500" spc="-1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total</a:t>
            </a:r>
            <a:r>
              <a:rPr sz="1500" spc="-1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=</a:t>
            </a:r>
            <a:r>
              <a:rPr sz="1500" spc="-5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activities.stream()</a:t>
            </a:r>
            <a:endParaRPr sz="1500">
              <a:latin typeface="Tahoma"/>
              <a:cs typeface="Tahoma"/>
            </a:endParaRPr>
          </a:p>
          <a:p>
            <a:pPr marL="123189">
              <a:lnSpc>
                <a:spcPct val="100000"/>
              </a:lnSpc>
              <a:spcBef>
                <a:spcPts val="600"/>
              </a:spcBef>
            </a:pP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.map(Activity::calculateCaloriesBurned)</a:t>
            </a:r>
            <a:endParaRPr sz="1500">
              <a:latin typeface="Tahoma"/>
              <a:cs typeface="Tahoma"/>
            </a:endParaRPr>
          </a:p>
          <a:p>
            <a:pPr marL="123189">
              <a:lnSpc>
                <a:spcPct val="100000"/>
              </a:lnSpc>
              <a:spcBef>
                <a:spcPts val="600"/>
              </a:spcBef>
            </a:pP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.reduce(0.0,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 Double::sum);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16-10-</a:t>
            </a:r>
            <a:r>
              <a:rPr spc="85" dirty="0"/>
              <a:t>2026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9800" y="492125"/>
            <a:ext cx="3332479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45" dirty="0">
                <a:solidFill>
                  <a:srgbClr val="B3121B"/>
                </a:solidFill>
                <a:latin typeface="Tahoma"/>
                <a:cs typeface="Tahoma"/>
              </a:rPr>
              <a:t>KL</a:t>
            </a:r>
            <a:r>
              <a:rPr sz="1650" b="1" spc="-145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100" dirty="0">
                <a:solidFill>
                  <a:srgbClr val="B3121B"/>
                </a:solidFill>
                <a:latin typeface="Tahoma"/>
                <a:cs typeface="Tahoma"/>
              </a:rPr>
              <a:t>UNIVERSITY </a:t>
            </a:r>
            <a:r>
              <a:rPr sz="1650" b="1" spc="-120" dirty="0">
                <a:solidFill>
                  <a:srgbClr val="B3121B"/>
                </a:solidFill>
                <a:latin typeface="Tahoma"/>
                <a:cs typeface="Tahoma"/>
              </a:rPr>
              <a:t>·</a:t>
            </a:r>
            <a:r>
              <a:rPr sz="1650" b="1" spc="-150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55" dirty="0">
                <a:solidFill>
                  <a:srgbClr val="B3121B"/>
                </a:solidFill>
                <a:latin typeface="Tahoma"/>
                <a:cs typeface="Tahoma"/>
              </a:rPr>
              <a:t>FitPulse</a:t>
            </a:r>
            <a:r>
              <a:rPr sz="1650" b="1" spc="-114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B3121B"/>
                </a:solidFill>
                <a:latin typeface="Tahoma"/>
                <a:cs typeface="Tahoma"/>
              </a:rPr>
              <a:t>Tracker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5" dirty="0"/>
              <a:t>Conclusion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9800" y="2425700"/>
            <a:ext cx="16179165" cy="322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015" marR="5080" indent="-361950">
              <a:lnSpc>
                <a:spcPct val="116700"/>
              </a:lnSpc>
              <a:spcBef>
                <a:spcPts val="100"/>
              </a:spcBef>
              <a:buClr>
                <a:srgbClr val="B3121B"/>
              </a:buClr>
              <a:buChar char="•"/>
              <a:tabLst>
                <a:tab pos="374015" algn="l"/>
              </a:tabLst>
            </a:pPr>
            <a:r>
              <a:rPr sz="2250" spc="75" dirty="0">
                <a:solidFill>
                  <a:srgbClr val="222222"/>
                </a:solidFill>
                <a:latin typeface="Tahoma"/>
                <a:cs typeface="Tahoma"/>
              </a:rPr>
              <a:t>FitPulse</a:t>
            </a:r>
            <a:r>
              <a:rPr sz="2250" spc="-3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Tracker</a:t>
            </a:r>
            <a:r>
              <a:rPr sz="2250" spc="-8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turns</a:t>
            </a:r>
            <a:r>
              <a:rPr sz="2250" spc="-4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raw</a:t>
            </a:r>
            <a:r>
              <a:rPr sz="2250" spc="-10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5" dirty="0">
                <a:solidFill>
                  <a:srgbClr val="222222"/>
                </a:solidFill>
                <a:latin typeface="Tahoma"/>
                <a:cs typeface="Tahoma"/>
              </a:rPr>
              <a:t>personal</a:t>
            </a:r>
            <a:r>
              <a:rPr sz="2250" spc="-8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data</a:t>
            </a:r>
            <a:r>
              <a:rPr sz="2250" spc="-6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into</a:t>
            </a:r>
            <a:r>
              <a:rPr sz="2250" spc="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80" dirty="0">
                <a:solidFill>
                  <a:srgbClr val="222222"/>
                </a:solidFill>
                <a:latin typeface="Tahoma"/>
                <a:cs typeface="Tahoma"/>
              </a:rPr>
              <a:t>clear</a:t>
            </a:r>
            <a:r>
              <a:rPr sz="2250" spc="-9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health</a:t>
            </a:r>
            <a:r>
              <a:rPr sz="2250" spc="-13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insights:</a:t>
            </a:r>
            <a:r>
              <a:rPr sz="2250" spc="-9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0" dirty="0">
                <a:solidFill>
                  <a:srgbClr val="222222"/>
                </a:solidFill>
                <a:latin typeface="Tahoma"/>
                <a:cs typeface="Tahoma"/>
              </a:rPr>
              <a:t>BMI</a:t>
            </a:r>
            <a:r>
              <a:rPr sz="2250" spc="-6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85" dirty="0">
                <a:solidFill>
                  <a:srgbClr val="222222"/>
                </a:solidFill>
                <a:latin typeface="Tahoma"/>
                <a:cs typeface="Tahoma"/>
              </a:rPr>
              <a:t>category,</a:t>
            </a:r>
            <a:r>
              <a:rPr sz="2250" spc="-10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00" dirty="0">
                <a:solidFill>
                  <a:srgbClr val="222222"/>
                </a:solidFill>
                <a:latin typeface="Tahoma"/>
                <a:cs typeface="Tahoma"/>
              </a:rPr>
              <a:t>goal</a:t>
            </a:r>
            <a:r>
              <a:rPr sz="2250" spc="-8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plan,</a:t>
            </a:r>
            <a:r>
              <a:rPr sz="2250" spc="-10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95" dirty="0">
                <a:solidFill>
                  <a:srgbClr val="222222"/>
                </a:solidFill>
                <a:latin typeface="Tahoma"/>
                <a:cs typeface="Tahoma"/>
              </a:rPr>
              <a:t>calories</a:t>
            </a:r>
            <a:r>
              <a:rPr sz="2250" spc="-4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burned</a:t>
            </a:r>
            <a:r>
              <a:rPr sz="2250" spc="-3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and</a:t>
            </a:r>
            <a:r>
              <a:rPr sz="2250" spc="-4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40" dirty="0">
                <a:solidFill>
                  <a:srgbClr val="222222"/>
                </a:solidFill>
                <a:latin typeface="Tahoma"/>
                <a:cs typeface="Tahoma"/>
              </a:rPr>
              <a:t>workout </a:t>
            </a:r>
            <a:r>
              <a:rPr sz="2250" spc="45" dirty="0">
                <a:solidFill>
                  <a:srgbClr val="222222"/>
                </a:solidFill>
                <a:latin typeface="Tahoma"/>
                <a:cs typeface="Tahoma"/>
              </a:rPr>
              <a:t>analytics.</a:t>
            </a:r>
            <a:endParaRPr sz="2250">
              <a:latin typeface="Tahoma"/>
              <a:cs typeface="Tahoma"/>
            </a:endParaRPr>
          </a:p>
          <a:p>
            <a:pPr marL="374015" marR="350520" indent="-361950">
              <a:lnSpc>
                <a:spcPct val="116700"/>
              </a:lnSpc>
              <a:buClr>
                <a:srgbClr val="B3121B"/>
              </a:buClr>
              <a:buChar char="•"/>
              <a:tabLst>
                <a:tab pos="374015" algn="l"/>
              </a:tabLst>
            </a:pP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The</a:t>
            </a:r>
            <a:r>
              <a:rPr sz="2250" spc="-7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0" dirty="0">
                <a:solidFill>
                  <a:srgbClr val="222222"/>
                </a:solidFill>
                <a:latin typeface="Tahoma"/>
                <a:cs typeface="Tahoma"/>
              </a:rPr>
              <a:t>project</a:t>
            </a:r>
            <a:r>
              <a:rPr sz="2250" spc="-19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0" dirty="0">
                <a:solidFill>
                  <a:srgbClr val="222222"/>
                </a:solidFill>
                <a:latin typeface="Tahoma"/>
                <a:cs typeface="Tahoma"/>
              </a:rPr>
              <a:t>integrates</a:t>
            </a:r>
            <a:r>
              <a:rPr sz="2250" spc="-9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all</a:t>
            </a:r>
            <a:r>
              <a:rPr sz="2250" spc="-13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10" dirty="0">
                <a:solidFill>
                  <a:srgbClr val="222222"/>
                </a:solidFill>
                <a:latin typeface="Tahoma"/>
                <a:cs typeface="Tahoma"/>
              </a:rPr>
              <a:t>six</a:t>
            </a:r>
            <a:r>
              <a:rPr sz="2250" spc="-13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05" dirty="0">
                <a:solidFill>
                  <a:srgbClr val="222222"/>
                </a:solidFill>
                <a:latin typeface="Tahoma"/>
                <a:cs typeface="Tahoma"/>
              </a:rPr>
              <a:t>course</a:t>
            </a:r>
            <a:r>
              <a:rPr sz="2250" spc="-7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85" dirty="0">
                <a:solidFill>
                  <a:srgbClr val="222222"/>
                </a:solidFill>
                <a:latin typeface="Tahoma"/>
                <a:cs typeface="Tahoma"/>
              </a:rPr>
              <a:t>outcomes,</a:t>
            </a:r>
            <a:r>
              <a:rPr sz="2250" spc="-14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5" dirty="0">
                <a:solidFill>
                  <a:srgbClr val="222222"/>
                </a:solidFill>
                <a:latin typeface="Tahoma"/>
                <a:cs typeface="Tahoma"/>
              </a:rPr>
              <a:t>from</a:t>
            </a:r>
            <a:r>
              <a:rPr sz="2250" spc="-12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0" dirty="0">
                <a:solidFill>
                  <a:srgbClr val="222222"/>
                </a:solidFill>
                <a:latin typeface="Tahoma"/>
                <a:cs typeface="Tahoma"/>
              </a:rPr>
              <a:t>procedural</a:t>
            </a:r>
            <a:r>
              <a:rPr sz="2250" spc="-12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85" dirty="0">
                <a:solidFill>
                  <a:srgbClr val="222222"/>
                </a:solidFill>
                <a:latin typeface="Tahoma"/>
                <a:cs typeface="Tahoma"/>
              </a:rPr>
              <a:t>Java</a:t>
            </a:r>
            <a:r>
              <a:rPr sz="2250" spc="-1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35" dirty="0">
                <a:solidFill>
                  <a:srgbClr val="222222"/>
                </a:solidFill>
                <a:latin typeface="Tahoma"/>
                <a:cs typeface="Tahoma"/>
              </a:rPr>
              <a:t>basics</a:t>
            </a:r>
            <a:r>
              <a:rPr sz="2250" spc="-9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to</a:t>
            </a:r>
            <a:r>
              <a:rPr sz="2250" spc="-3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00" dirty="0">
                <a:solidFill>
                  <a:srgbClr val="222222"/>
                </a:solidFill>
                <a:latin typeface="Tahoma"/>
                <a:cs typeface="Tahoma"/>
              </a:rPr>
              <a:t>object-</a:t>
            </a:r>
            <a:r>
              <a:rPr sz="2250" spc="75" dirty="0">
                <a:solidFill>
                  <a:srgbClr val="222222"/>
                </a:solidFill>
                <a:latin typeface="Tahoma"/>
                <a:cs typeface="Tahoma"/>
              </a:rPr>
              <a:t>oriented</a:t>
            </a:r>
            <a:r>
              <a:rPr sz="2250" spc="-8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20" dirty="0">
                <a:solidFill>
                  <a:srgbClr val="222222"/>
                </a:solidFill>
                <a:latin typeface="Tahoma"/>
                <a:cs typeface="Tahoma"/>
              </a:rPr>
              <a:t>design</a:t>
            </a:r>
            <a:r>
              <a:rPr sz="2250" spc="-16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and</a:t>
            </a:r>
            <a:r>
              <a:rPr sz="2250" spc="-8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45" dirty="0">
                <a:solidFill>
                  <a:srgbClr val="222222"/>
                </a:solidFill>
                <a:latin typeface="Tahoma"/>
                <a:cs typeface="Tahoma"/>
              </a:rPr>
              <a:t>functional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Stream</a:t>
            </a:r>
            <a:r>
              <a:rPr sz="2250" spc="114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0" dirty="0">
                <a:solidFill>
                  <a:srgbClr val="222222"/>
                </a:solidFill>
                <a:latin typeface="Tahoma"/>
                <a:cs typeface="Tahoma"/>
              </a:rPr>
              <a:t>pipelines.</a:t>
            </a:r>
            <a:endParaRPr sz="2250">
              <a:latin typeface="Tahoma"/>
              <a:cs typeface="Tahoma"/>
            </a:endParaRPr>
          </a:p>
          <a:p>
            <a:pPr marL="374015" indent="-361315">
              <a:lnSpc>
                <a:spcPct val="100000"/>
              </a:lnSpc>
              <a:spcBef>
                <a:spcPts val="445"/>
              </a:spcBef>
              <a:buClr>
                <a:srgbClr val="B3121B"/>
              </a:buClr>
              <a:buChar char="•"/>
              <a:tabLst>
                <a:tab pos="374015" algn="l"/>
              </a:tabLst>
            </a:pPr>
            <a:r>
              <a:rPr sz="2250" spc="45" dirty="0">
                <a:solidFill>
                  <a:srgbClr val="222222"/>
                </a:solidFill>
                <a:latin typeface="Tahoma"/>
                <a:cs typeface="Tahoma"/>
              </a:rPr>
              <a:t>Interfaces,</a:t>
            </a:r>
            <a:r>
              <a:rPr sz="2250" spc="-13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0" dirty="0">
                <a:solidFill>
                  <a:srgbClr val="222222"/>
                </a:solidFill>
                <a:latin typeface="Tahoma"/>
                <a:cs typeface="Tahoma"/>
              </a:rPr>
              <a:t>inheritance</a:t>
            </a:r>
            <a:r>
              <a:rPr sz="2250" spc="-5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and</a:t>
            </a:r>
            <a:r>
              <a:rPr sz="2250" spc="-6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95" dirty="0">
                <a:solidFill>
                  <a:srgbClr val="222222"/>
                </a:solidFill>
                <a:latin typeface="Tahoma"/>
                <a:cs typeface="Tahoma"/>
              </a:rPr>
              <a:t>custom</a:t>
            </a:r>
            <a:r>
              <a:rPr sz="2250" spc="-9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90" dirty="0">
                <a:solidFill>
                  <a:srgbClr val="222222"/>
                </a:solidFill>
                <a:latin typeface="Tahoma"/>
                <a:cs typeface="Tahoma"/>
              </a:rPr>
              <a:t>exceptions</a:t>
            </a:r>
            <a:r>
              <a:rPr sz="2250" spc="-6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make</a:t>
            </a:r>
            <a:r>
              <a:rPr sz="2250" spc="-5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the</a:t>
            </a:r>
            <a:r>
              <a:rPr sz="2250" spc="-5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00" dirty="0">
                <a:solidFill>
                  <a:srgbClr val="222222"/>
                </a:solidFill>
                <a:latin typeface="Tahoma"/>
                <a:cs typeface="Tahoma"/>
              </a:rPr>
              <a:t>system</a:t>
            </a:r>
            <a:r>
              <a:rPr sz="2250" spc="-10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5" dirty="0">
                <a:solidFill>
                  <a:srgbClr val="222222"/>
                </a:solidFill>
                <a:latin typeface="Tahoma"/>
                <a:cs typeface="Tahoma"/>
              </a:rPr>
              <a:t>extensible</a:t>
            </a:r>
            <a:r>
              <a:rPr sz="2250" spc="-4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and</a:t>
            </a:r>
            <a:r>
              <a:rPr sz="2250" spc="-6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5" dirty="0">
                <a:solidFill>
                  <a:srgbClr val="222222"/>
                </a:solidFill>
                <a:latin typeface="Tahoma"/>
                <a:cs typeface="Tahoma"/>
              </a:rPr>
              <a:t>robust</a:t>
            </a:r>
            <a:r>
              <a:rPr sz="2250" spc="-17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80" dirty="0">
                <a:solidFill>
                  <a:srgbClr val="222222"/>
                </a:solidFill>
                <a:latin typeface="Tahoma"/>
                <a:cs typeface="Tahoma"/>
              </a:rPr>
              <a:t>against</a:t>
            </a:r>
            <a:r>
              <a:rPr sz="2250" spc="-17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invalid</a:t>
            </a:r>
            <a:r>
              <a:rPr sz="2250" spc="-6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-10" dirty="0">
                <a:solidFill>
                  <a:srgbClr val="222222"/>
                </a:solidFill>
                <a:latin typeface="Tahoma"/>
                <a:cs typeface="Tahoma"/>
              </a:rPr>
              <a:t>input.</a:t>
            </a:r>
            <a:endParaRPr sz="2250">
              <a:latin typeface="Tahoma"/>
              <a:cs typeface="Tahoma"/>
            </a:endParaRPr>
          </a:p>
          <a:p>
            <a:pPr marL="374015" indent="-361315">
              <a:lnSpc>
                <a:spcPct val="100000"/>
              </a:lnSpc>
              <a:spcBef>
                <a:spcPts val="450"/>
              </a:spcBef>
              <a:buClr>
                <a:srgbClr val="B3121B"/>
              </a:buClr>
              <a:buChar char="•"/>
              <a:tabLst>
                <a:tab pos="374015" algn="l"/>
              </a:tabLst>
            </a:pP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NIO</a:t>
            </a:r>
            <a:r>
              <a:rPr sz="2250" spc="-1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0" dirty="0">
                <a:solidFill>
                  <a:srgbClr val="222222"/>
                </a:solidFill>
                <a:latin typeface="Tahoma"/>
                <a:cs typeface="Tahoma"/>
              </a:rPr>
              <a:t>file</a:t>
            </a:r>
            <a:r>
              <a:rPr sz="2250" spc="-9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45" dirty="0">
                <a:solidFill>
                  <a:srgbClr val="222222"/>
                </a:solidFill>
                <a:latin typeface="Tahoma"/>
                <a:cs typeface="Tahoma"/>
              </a:rPr>
              <a:t>handling</a:t>
            </a:r>
            <a:r>
              <a:rPr sz="2250" spc="-7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90" dirty="0">
                <a:solidFill>
                  <a:srgbClr val="222222"/>
                </a:solidFill>
                <a:latin typeface="Tahoma"/>
                <a:cs typeface="Tahoma"/>
              </a:rPr>
              <a:t>persists</a:t>
            </a:r>
            <a:r>
              <a:rPr sz="2250" spc="-10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5" dirty="0">
                <a:solidFill>
                  <a:srgbClr val="222222"/>
                </a:solidFill>
                <a:latin typeface="Tahoma"/>
                <a:cs typeface="Tahoma"/>
              </a:rPr>
              <a:t>records,</a:t>
            </a:r>
            <a:r>
              <a:rPr sz="2250" spc="-16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40" dirty="0">
                <a:solidFill>
                  <a:srgbClr val="222222"/>
                </a:solidFill>
                <a:latin typeface="Tahoma"/>
                <a:cs typeface="Tahoma"/>
              </a:rPr>
              <a:t>so</a:t>
            </a:r>
            <a:r>
              <a:rPr sz="2250" spc="-4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0" dirty="0">
                <a:solidFill>
                  <a:srgbClr val="222222"/>
                </a:solidFill>
                <a:latin typeface="Tahoma"/>
                <a:cs typeface="Tahoma"/>
              </a:rPr>
              <a:t>workout</a:t>
            </a:r>
            <a:r>
              <a:rPr sz="2250" spc="-20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5" dirty="0">
                <a:solidFill>
                  <a:srgbClr val="222222"/>
                </a:solidFill>
                <a:latin typeface="Tahoma"/>
                <a:cs typeface="Tahoma"/>
              </a:rPr>
              <a:t>history</a:t>
            </a:r>
            <a:r>
              <a:rPr sz="2250" spc="-1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90" dirty="0">
                <a:solidFill>
                  <a:srgbClr val="222222"/>
                </a:solidFill>
                <a:latin typeface="Tahoma"/>
                <a:cs typeface="Tahoma"/>
              </a:rPr>
              <a:t>survives</a:t>
            </a:r>
            <a:r>
              <a:rPr sz="2250" spc="-10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85" dirty="0">
                <a:solidFill>
                  <a:srgbClr val="222222"/>
                </a:solidFill>
                <a:latin typeface="Tahoma"/>
                <a:cs typeface="Tahoma"/>
              </a:rPr>
              <a:t>between</a:t>
            </a:r>
            <a:r>
              <a:rPr sz="2250" spc="-17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95" dirty="0">
                <a:solidFill>
                  <a:srgbClr val="222222"/>
                </a:solidFill>
                <a:latin typeface="Tahoma"/>
                <a:cs typeface="Tahoma"/>
              </a:rPr>
              <a:t>sessions.</a:t>
            </a:r>
            <a:endParaRPr sz="2250">
              <a:latin typeface="Tahoma"/>
              <a:cs typeface="Tahoma"/>
            </a:endParaRPr>
          </a:p>
          <a:p>
            <a:pPr marL="374015" marR="916940" indent="-361950">
              <a:lnSpc>
                <a:spcPct val="116700"/>
              </a:lnSpc>
              <a:buClr>
                <a:srgbClr val="B3121B"/>
              </a:buClr>
              <a:buFont typeface="Tahoma"/>
              <a:buChar char="•"/>
              <a:tabLst>
                <a:tab pos="374015" algn="l"/>
              </a:tabLst>
            </a:pPr>
            <a:r>
              <a:rPr sz="2250" b="1" spc="-60" dirty="0">
                <a:solidFill>
                  <a:srgbClr val="222222"/>
                </a:solidFill>
                <a:latin typeface="Tahoma"/>
                <a:cs typeface="Tahoma"/>
              </a:rPr>
              <a:t>Future</a:t>
            </a:r>
            <a:r>
              <a:rPr sz="2250" b="1" spc="-1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b="1" dirty="0">
                <a:solidFill>
                  <a:srgbClr val="222222"/>
                </a:solidFill>
                <a:latin typeface="Tahoma"/>
                <a:cs typeface="Tahoma"/>
              </a:rPr>
              <a:t>scope:</a:t>
            </a:r>
            <a:r>
              <a:rPr sz="2250" b="1" spc="-2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GUI</a:t>
            </a:r>
            <a:r>
              <a:rPr sz="2250" spc="-6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95" dirty="0">
                <a:solidFill>
                  <a:srgbClr val="222222"/>
                </a:solidFill>
                <a:latin typeface="Tahoma"/>
                <a:cs typeface="Tahoma"/>
              </a:rPr>
              <a:t>or</a:t>
            </a:r>
            <a:r>
              <a:rPr sz="2250" spc="-9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80" dirty="0">
                <a:solidFill>
                  <a:srgbClr val="222222"/>
                </a:solidFill>
                <a:latin typeface="Tahoma"/>
                <a:cs typeface="Tahoma"/>
              </a:rPr>
              <a:t>Android</a:t>
            </a:r>
            <a:r>
              <a:rPr sz="2250" spc="-4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front</a:t>
            </a:r>
            <a:r>
              <a:rPr sz="2250" spc="-15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55" dirty="0">
                <a:solidFill>
                  <a:srgbClr val="222222"/>
                </a:solidFill>
                <a:latin typeface="Tahoma"/>
                <a:cs typeface="Tahoma"/>
              </a:rPr>
              <a:t>end,</a:t>
            </a:r>
            <a:r>
              <a:rPr sz="2250" spc="-1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0" dirty="0">
                <a:solidFill>
                  <a:srgbClr val="222222"/>
                </a:solidFill>
                <a:latin typeface="Tahoma"/>
                <a:cs typeface="Tahoma"/>
              </a:rPr>
              <a:t>wearable/step-counter</a:t>
            </a:r>
            <a:r>
              <a:rPr sz="2250" spc="-9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222222"/>
                </a:solidFill>
                <a:latin typeface="Tahoma"/>
                <a:cs typeface="Tahoma"/>
              </a:rPr>
              <a:t>integration,</a:t>
            </a:r>
            <a:r>
              <a:rPr sz="2250" spc="-1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0" dirty="0">
                <a:solidFill>
                  <a:srgbClr val="222222"/>
                </a:solidFill>
                <a:latin typeface="Tahoma"/>
                <a:cs typeface="Tahoma"/>
              </a:rPr>
              <a:t>weekly</a:t>
            </a:r>
            <a:r>
              <a:rPr sz="2250" spc="-5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00" dirty="0">
                <a:solidFill>
                  <a:srgbClr val="222222"/>
                </a:solidFill>
                <a:latin typeface="Tahoma"/>
                <a:cs typeface="Tahoma"/>
              </a:rPr>
              <a:t>goal</a:t>
            </a:r>
            <a:r>
              <a:rPr sz="2250" spc="-9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0" dirty="0">
                <a:solidFill>
                  <a:srgbClr val="222222"/>
                </a:solidFill>
                <a:latin typeface="Tahoma"/>
                <a:cs typeface="Tahoma"/>
              </a:rPr>
              <a:t>reminders</a:t>
            </a:r>
            <a:r>
              <a:rPr sz="2250" spc="-4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65" dirty="0">
                <a:solidFill>
                  <a:srgbClr val="222222"/>
                </a:solidFill>
                <a:latin typeface="Tahoma"/>
                <a:cs typeface="Tahoma"/>
              </a:rPr>
              <a:t>and</a:t>
            </a:r>
            <a:r>
              <a:rPr sz="2250" spc="-4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5" dirty="0">
                <a:solidFill>
                  <a:srgbClr val="222222"/>
                </a:solidFill>
                <a:latin typeface="Tahoma"/>
                <a:cs typeface="Tahoma"/>
              </a:rPr>
              <a:t>charts</a:t>
            </a:r>
            <a:r>
              <a:rPr sz="2250" spc="-4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105" dirty="0">
                <a:solidFill>
                  <a:srgbClr val="222222"/>
                </a:solidFill>
                <a:latin typeface="Tahoma"/>
                <a:cs typeface="Tahoma"/>
              </a:rPr>
              <a:t>of </a:t>
            </a:r>
            <a:r>
              <a:rPr sz="2250" spc="85" dirty="0">
                <a:solidFill>
                  <a:srgbClr val="222222"/>
                </a:solidFill>
                <a:latin typeface="Tahoma"/>
                <a:cs typeface="Tahoma"/>
              </a:rPr>
              <a:t>progress</a:t>
            </a:r>
            <a:r>
              <a:rPr sz="2250" spc="-10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70" dirty="0">
                <a:solidFill>
                  <a:srgbClr val="222222"/>
                </a:solidFill>
                <a:latin typeface="Tahoma"/>
                <a:cs typeface="Tahoma"/>
              </a:rPr>
              <a:t>over</a:t>
            </a:r>
            <a:r>
              <a:rPr sz="2250" spc="-14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2250" spc="-20" dirty="0">
                <a:solidFill>
                  <a:srgbClr val="222222"/>
                </a:solidFill>
                <a:latin typeface="Tahoma"/>
                <a:cs typeface="Tahoma"/>
              </a:rPr>
              <a:t>time.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16-10-</a:t>
            </a:r>
            <a:r>
              <a:rPr spc="85" dirty="0"/>
              <a:t>2026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39800" y="492125"/>
            <a:ext cx="3332479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45" dirty="0">
                <a:solidFill>
                  <a:srgbClr val="B3121B"/>
                </a:solidFill>
                <a:latin typeface="Tahoma"/>
                <a:cs typeface="Tahoma"/>
              </a:rPr>
              <a:t>KL</a:t>
            </a:r>
            <a:r>
              <a:rPr sz="1650" spc="-145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spc="-100" dirty="0">
                <a:solidFill>
                  <a:srgbClr val="B3121B"/>
                </a:solidFill>
                <a:latin typeface="Tahoma"/>
                <a:cs typeface="Tahoma"/>
              </a:rPr>
              <a:t>UNIVERSITY </a:t>
            </a:r>
            <a:r>
              <a:rPr sz="1650" spc="-120" dirty="0">
                <a:solidFill>
                  <a:srgbClr val="B3121B"/>
                </a:solidFill>
                <a:latin typeface="Tahoma"/>
                <a:cs typeface="Tahoma"/>
              </a:rPr>
              <a:t>·</a:t>
            </a:r>
            <a:r>
              <a:rPr sz="1650" spc="-150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spc="-55" dirty="0">
                <a:solidFill>
                  <a:srgbClr val="B3121B"/>
                </a:solidFill>
                <a:latin typeface="Tahoma"/>
                <a:cs typeface="Tahoma"/>
              </a:rPr>
              <a:t>FitPulse</a:t>
            </a:r>
            <a:r>
              <a:rPr sz="1650" spc="-114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B3121B"/>
                </a:solidFill>
                <a:latin typeface="Tahoma"/>
                <a:cs typeface="Tahoma"/>
              </a:rPr>
              <a:t>Tracker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9800" y="875796"/>
            <a:ext cx="4156710" cy="9251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900" b="1" spc="-400" dirty="0">
                <a:solidFill>
                  <a:srgbClr val="111111"/>
                </a:solidFill>
                <a:latin typeface="Arial"/>
                <a:cs typeface="Arial"/>
              </a:rPr>
              <a:t>Screen</a:t>
            </a:r>
            <a:r>
              <a:rPr sz="5900" b="1" spc="-80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5900" b="1" spc="-455" dirty="0">
                <a:solidFill>
                  <a:srgbClr val="111111"/>
                </a:solidFill>
                <a:latin typeface="Arial"/>
                <a:cs typeface="Arial"/>
              </a:rPr>
              <a:t>Shots</a:t>
            </a:r>
            <a:endParaRPr sz="5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42974" y="2371725"/>
            <a:ext cx="8020050" cy="6781800"/>
            <a:chOff x="942974" y="2371725"/>
            <a:chExt cx="8020050" cy="6781800"/>
          </a:xfrm>
        </p:grpSpPr>
        <p:sp>
          <p:nvSpPr>
            <p:cNvPr id="5" name="object 5"/>
            <p:cNvSpPr/>
            <p:nvPr/>
          </p:nvSpPr>
          <p:spPr>
            <a:xfrm>
              <a:off x="952499" y="2381249"/>
              <a:ext cx="8001000" cy="6762750"/>
            </a:xfrm>
            <a:custGeom>
              <a:avLst/>
              <a:gdLst/>
              <a:ahLst/>
              <a:cxnLst/>
              <a:rect l="l" t="t" r="r" b="b"/>
              <a:pathLst>
                <a:path w="8001000" h="6762750">
                  <a:moveTo>
                    <a:pt x="7848599" y="6762749"/>
                  </a:moveTo>
                  <a:lnTo>
                    <a:pt x="152399" y="6762749"/>
                  </a:lnTo>
                  <a:lnTo>
                    <a:pt x="108155" y="6756205"/>
                  </a:lnTo>
                  <a:lnTo>
                    <a:pt x="67716" y="6737089"/>
                  </a:lnTo>
                  <a:lnTo>
                    <a:pt x="34583" y="6707038"/>
                  </a:lnTo>
                  <a:lnTo>
                    <a:pt x="11600" y="6668669"/>
                  </a:lnTo>
                  <a:lnTo>
                    <a:pt x="714" y="6625289"/>
                  </a:lnTo>
                  <a:lnTo>
                    <a:pt x="0" y="6610349"/>
                  </a:lnTo>
                  <a:lnTo>
                    <a:pt x="0" y="152399"/>
                  </a:lnTo>
                  <a:lnTo>
                    <a:pt x="6543" y="108155"/>
                  </a:lnTo>
                  <a:lnTo>
                    <a:pt x="25659" y="67716"/>
                  </a:lnTo>
                  <a:lnTo>
                    <a:pt x="55710" y="34583"/>
                  </a:lnTo>
                  <a:lnTo>
                    <a:pt x="94078" y="11600"/>
                  </a:lnTo>
                  <a:lnTo>
                    <a:pt x="137459" y="714"/>
                  </a:lnTo>
                  <a:lnTo>
                    <a:pt x="7848599" y="0"/>
                  </a:lnTo>
                  <a:lnTo>
                    <a:pt x="7863537" y="721"/>
                  </a:lnTo>
                  <a:lnTo>
                    <a:pt x="7906919" y="11600"/>
                  </a:lnTo>
                  <a:lnTo>
                    <a:pt x="7945291" y="34577"/>
                  </a:lnTo>
                  <a:lnTo>
                    <a:pt x="7975336" y="67714"/>
                  </a:lnTo>
                  <a:lnTo>
                    <a:pt x="7994447" y="108156"/>
                  </a:lnTo>
                  <a:lnTo>
                    <a:pt x="8000999" y="152399"/>
                  </a:lnTo>
                  <a:lnTo>
                    <a:pt x="8000999" y="6610349"/>
                  </a:lnTo>
                  <a:lnTo>
                    <a:pt x="8000277" y="6625287"/>
                  </a:lnTo>
                  <a:lnTo>
                    <a:pt x="7989397" y="6668669"/>
                  </a:lnTo>
                  <a:lnTo>
                    <a:pt x="7966420" y="6707041"/>
                  </a:lnTo>
                  <a:lnTo>
                    <a:pt x="7933284" y="6737087"/>
                  </a:lnTo>
                  <a:lnTo>
                    <a:pt x="7892842" y="6756197"/>
                  </a:lnTo>
                  <a:lnTo>
                    <a:pt x="7848599" y="6762749"/>
                  </a:lnTo>
                  <a:close/>
                </a:path>
              </a:pathLst>
            </a:custGeom>
            <a:solidFill>
              <a:srgbClr val="1E1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2499" y="2381250"/>
              <a:ext cx="8001000" cy="6762750"/>
            </a:xfrm>
            <a:custGeom>
              <a:avLst/>
              <a:gdLst/>
              <a:ahLst/>
              <a:cxnLst/>
              <a:rect l="l" t="t" r="r" b="b"/>
              <a:pathLst>
                <a:path w="8001000" h="6762750">
                  <a:moveTo>
                    <a:pt x="152399" y="0"/>
                  </a:moveTo>
                  <a:lnTo>
                    <a:pt x="7848598" y="0"/>
                  </a:lnTo>
                </a:path>
                <a:path w="8001000" h="6762750">
                  <a:moveTo>
                    <a:pt x="8000999" y="152399"/>
                  </a:moveTo>
                  <a:lnTo>
                    <a:pt x="8000999" y="6610349"/>
                  </a:lnTo>
                </a:path>
                <a:path w="8001000" h="6762750">
                  <a:moveTo>
                    <a:pt x="7848598" y="6762749"/>
                  </a:moveTo>
                  <a:lnTo>
                    <a:pt x="152399" y="6762749"/>
                  </a:lnTo>
                </a:path>
                <a:path w="8001000" h="6762750">
                  <a:moveTo>
                    <a:pt x="0" y="6610349"/>
                  </a:moveTo>
                  <a:lnTo>
                    <a:pt x="0" y="152399"/>
                  </a:lnTo>
                </a:path>
              </a:pathLst>
            </a:custGeom>
            <a:ln w="19049">
              <a:solidFill>
                <a:srgbClr val="1E1E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20799" y="2606675"/>
            <a:ext cx="6125210" cy="2159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500" spc="-135" dirty="0">
                <a:solidFill>
                  <a:srgbClr val="E8E8E8"/>
                </a:solidFill>
                <a:latin typeface="Tahoma"/>
                <a:cs typeface="Tahoma"/>
              </a:rPr>
              <a:t>==================================================</a:t>
            </a:r>
            <a:endParaRPr sz="1500">
              <a:latin typeface="Tahoma"/>
              <a:cs typeface="Tahoma"/>
            </a:endParaRPr>
          </a:p>
          <a:p>
            <a:pPr marL="399415">
              <a:lnSpc>
                <a:spcPct val="100000"/>
              </a:lnSpc>
              <a:spcBef>
                <a:spcPts val="600"/>
              </a:spcBef>
            </a:pPr>
            <a:r>
              <a:rPr sz="1500" spc="65" dirty="0">
                <a:solidFill>
                  <a:srgbClr val="E8E8E8"/>
                </a:solidFill>
                <a:latin typeface="Tahoma"/>
                <a:cs typeface="Tahoma"/>
              </a:rPr>
              <a:t>WELCOME</a:t>
            </a:r>
            <a:r>
              <a:rPr sz="1500" spc="-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TO</a:t>
            </a:r>
            <a:r>
              <a:rPr sz="1500" spc="-2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FitPulse</a:t>
            </a:r>
            <a:r>
              <a:rPr sz="1500" spc="2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35" dirty="0">
                <a:solidFill>
                  <a:srgbClr val="E8E8E8"/>
                </a:solidFill>
                <a:latin typeface="Tahoma"/>
                <a:cs typeface="Tahoma"/>
              </a:rPr>
              <a:t>Tracker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spc="-135" dirty="0">
                <a:solidFill>
                  <a:srgbClr val="E8E8E8"/>
                </a:solidFill>
                <a:latin typeface="Tahoma"/>
                <a:cs typeface="Tahoma"/>
              </a:rPr>
              <a:t>==================================================</a:t>
            </a:r>
            <a:endParaRPr sz="1500">
              <a:latin typeface="Tahoma"/>
              <a:cs typeface="Tahoma"/>
            </a:endParaRPr>
          </a:p>
          <a:p>
            <a:pPr marL="12700" marR="3657600">
              <a:lnSpc>
                <a:spcPct val="133300"/>
              </a:lnSpc>
            </a:pP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Enter</a:t>
            </a:r>
            <a:r>
              <a:rPr sz="1500" spc="4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your</a:t>
            </a:r>
            <a:r>
              <a:rPr sz="1500" spc="4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E8E8E8"/>
                </a:solidFill>
                <a:latin typeface="Tahoma"/>
                <a:cs typeface="Tahoma"/>
              </a:rPr>
              <a:t>Age</a:t>
            </a:r>
            <a:r>
              <a:rPr sz="1500" spc="3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(years):</a:t>
            </a:r>
            <a:r>
              <a:rPr sz="1500" spc="-4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E8E8E8"/>
                </a:solidFill>
                <a:latin typeface="Tahoma"/>
                <a:cs typeface="Tahoma"/>
              </a:rPr>
              <a:t>20 </a:t>
            </a: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Enter</a:t>
            </a:r>
            <a:r>
              <a:rPr sz="1500" spc="9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your</a:t>
            </a:r>
            <a:r>
              <a:rPr sz="1500" spc="9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Weight</a:t>
            </a:r>
            <a:r>
              <a:rPr sz="1500" spc="11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E8E8E8"/>
                </a:solidFill>
                <a:latin typeface="Tahoma"/>
                <a:cs typeface="Tahoma"/>
              </a:rPr>
              <a:t>(kg):</a:t>
            </a:r>
            <a:r>
              <a:rPr sz="1500" spc="-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40" dirty="0">
                <a:solidFill>
                  <a:srgbClr val="E8E8E8"/>
                </a:solidFill>
                <a:latin typeface="Tahoma"/>
                <a:cs typeface="Tahoma"/>
              </a:rPr>
              <a:t>65 </a:t>
            </a: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Enter</a:t>
            </a:r>
            <a:r>
              <a:rPr sz="1500" spc="11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your</a:t>
            </a:r>
            <a:r>
              <a:rPr sz="1500" spc="114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Height</a:t>
            </a:r>
            <a:r>
              <a:rPr sz="1500" spc="13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E8E8E8"/>
                </a:solidFill>
                <a:latin typeface="Tahoma"/>
                <a:cs typeface="Tahoma"/>
              </a:rPr>
              <a:t>(cm):</a:t>
            </a:r>
            <a:r>
              <a:rPr sz="1500" spc="1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E8E8E8"/>
                </a:solidFill>
                <a:latin typeface="Tahoma"/>
                <a:cs typeface="Tahoma"/>
              </a:rPr>
              <a:t>172 </a:t>
            </a: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Enter</a:t>
            </a:r>
            <a:r>
              <a:rPr sz="1500" spc="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Gender</a:t>
            </a:r>
            <a:r>
              <a:rPr sz="1500" spc="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(M/F):</a:t>
            </a:r>
            <a:r>
              <a:rPr sz="1500" spc="-7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120" dirty="0">
                <a:solidFill>
                  <a:srgbClr val="E8E8E8"/>
                </a:solidFill>
                <a:latin typeface="Tahoma"/>
                <a:cs typeface="Tahoma"/>
              </a:rPr>
              <a:t>M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33499" y="5265077"/>
            <a:ext cx="1276985" cy="0"/>
          </a:xfrm>
          <a:custGeom>
            <a:avLst/>
            <a:gdLst/>
            <a:ahLst/>
            <a:cxnLst/>
            <a:rect l="l" t="t" r="r" b="b"/>
            <a:pathLst>
              <a:path w="1276985">
                <a:moveTo>
                  <a:pt x="0" y="0"/>
                </a:moveTo>
                <a:lnTo>
                  <a:pt x="1276393" y="0"/>
                </a:lnTo>
              </a:path>
            </a:pathLst>
          </a:custGeom>
          <a:ln w="14882">
            <a:solidFill>
              <a:srgbClr val="E7E7E7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639060" y="5121274"/>
            <a:ext cx="14027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75" dirty="0">
                <a:solidFill>
                  <a:srgbClr val="E8E8E8"/>
                </a:solidFill>
                <a:latin typeface="Tahoma"/>
                <a:cs typeface="Tahoma"/>
              </a:rPr>
              <a:t>USER</a:t>
            </a:r>
            <a:r>
              <a:rPr sz="1500" spc="-3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40" dirty="0">
                <a:solidFill>
                  <a:srgbClr val="E8E8E8"/>
                </a:solidFill>
                <a:latin typeface="Tahoma"/>
                <a:cs typeface="Tahoma"/>
              </a:rPr>
              <a:t>METRICS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084320" y="5255200"/>
            <a:ext cx="1276985" cy="0"/>
          </a:xfrm>
          <a:custGeom>
            <a:avLst/>
            <a:gdLst/>
            <a:ahLst/>
            <a:cxnLst/>
            <a:rect l="l" t="t" r="r" b="b"/>
            <a:pathLst>
              <a:path w="1276985">
                <a:moveTo>
                  <a:pt x="0" y="0"/>
                </a:moveTo>
                <a:lnTo>
                  <a:pt x="1276393" y="0"/>
                </a:lnTo>
              </a:path>
            </a:pathLst>
          </a:custGeom>
          <a:ln w="14882">
            <a:solidFill>
              <a:srgbClr val="E7E7E7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20799" y="5349874"/>
            <a:ext cx="3773170" cy="635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Calculated</a:t>
            </a:r>
            <a:r>
              <a:rPr sz="1500" spc="-7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E8E8E8"/>
                </a:solidFill>
                <a:latin typeface="Tahoma"/>
                <a:cs typeface="Tahoma"/>
              </a:rPr>
              <a:t>BMI:</a:t>
            </a:r>
            <a:r>
              <a:rPr sz="1500" spc="-7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21.97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Health</a:t>
            </a:r>
            <a:r>
              <a:rPr sz="1500" spc="3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E8E8E8"/>
                </a:solidFill>
                <a:latin typeface="Tahoma"/>
                <a:cs typeface="Tahoma"/>
              </a:rPr>
              <a:t>Category:</a:t>
            </a:r>
            <a:r>
              <a:rPr sz="1500" spc="-3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Normal</a:t>
            </a:r>
            <a:r>
              <a:rPr sz="1500" spc="4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weight</a:t>
            </a:r>
            <a:r>
              <a:rPr sz="1500" spc="8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(Optimal)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20799" y="6264274"/>
            <a:ext cx="4740275" cy="635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500" spc="75" dirty="0">
                <a:solidFill>
                  <a:srgbClr val="E8E8E8"/>
                </a:solidFill>
                <a:latin typeface="Tahoma"/>
                <a:cs typeface="Tahoma"/>
              </a:rPr>
              <a:t>Select</a:t>
            </a:r>
            <a:r>
              <a:rPr sz="1500" spc="4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E8E8E8"/>
                </a:solidFill>
                <a:latin typeface="Tahoma"/>
                <a:cs typeface="Tahoma"/>
              </a:rPr>
              <a:t>Primary</a:t>
            </a:r>
            <a:r>
              <a:rPr sz="1500" spc="-2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E8E8E8"/>
                </a:solidFill>
                <a:latin typeface="Tahoma"/>
                <a:cs typeface="Tahoma"/>
              </a:rPr>
              <a:t>Fitness</a:t>
            </a:r>
            <a:r>
              <a:rPr sz="1500" spc="-5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Goal:</a:t>
            </a:r>
            <a:r>
              <a:rPr sz="1500" spc="-6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E8E8E8"/>
                </a:solidFill>
                <a:latin typeface="Tahoma"/>
                <a:cs typeface="Tahoma"/>
              </a:rPr>
              <a:t>3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spc="10" dirty="0">
                <a:solidFill>
                  <a:srgbClr val="E8E8E8"/>
                </a:solidFill>
                <a:latin typeface="Tahoma"/>
                <a:cs typeface="Tahoma"/>
              </a:rPr>
              <a:t>Target</a:t>
            </a:r>
            <a:r>
              <a:rPr sz="1500" spc="8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10" dirty="0">
                <a:solidFill>
                  <a:srgbClr val="E8E8E8"/>
                </a:solidFill>
                <a:latin typeface="Tahoma"/>
                <a:cs typeface="Tahoma"/>
              </a:rPr>
              <a:t>Activated:</a:t>
            </a:r>
            <a:r>
              <a:rPr sz="1500" spc="-2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E8E8E8"/>
                </a:solidFill>
                <a:latin typeface="Tahoma"/>
                <a:cs typeface="Tahoma"/>
              </a:rPr>
              <a:t>Aerobic</a:t>
            </a:r>
            <a:r>
              <a:rPr sz="1500" spc="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Capacity</a:t>
            </a:r>
            <a:r>
              <a:rPr sz="1500" spc="1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10" dirty="0">
                <a:solidFill>
                  <a:srgbClr val="E8E8E8"/>
                </a:solidFill>
                <a:latin typeface="Tahoma"/>
                <a:cs typeface="Tahoma"/>
              </a:rPr>
              <a:t>&amp;</a:t>
            </a:r>
            <a:r>
              <a:rPr sz="1500" spc="4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E8E8E8"/>
                </a:solidFill>
                <a:latin typeface="Tahoma"/>
                <a:cs typeface="Tahoma"/>
              </a:rPr>
              <a:t>Zone</a:t>
            </a: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80" dirty="0">
                <a:solidFill>
                  <a:srgbClr val="E8E8E8"/>
                </a:solidFill>
                <a:latin typeface="Tahoma"/>
                <a:cs typeface="Tahoma"/>
              </a:rPr>
              <a:t>2</a:t>
            </a:r>
            <a:r>
              <a:rPr sz="1500" spc="-7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Training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0799" y="7254875"/>
            <a:ext cx="44094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[Sample</a:t>
            </a:r>
            <a:r>
              <a:rPr sz="1500" spc="3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E8E8E8"/>
                </a:solidFill>
                <a:latin typeface="Tahoma"/>
                <a:cs typeface="Tahoma"/>
              </a:rPr>
              <a:t>output</a:t>
            </a:r>
            <a:r>
              <a:rPr sz="1500" spc="7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135" dirty="0">
                <a:solidFill>
                  <a:srgbClr val="E8E8E8"/>
                </a:solidFill>
                <a:latin typeface="Tahoma"/>
                <a:cs typeface="Tahoma"/>
              </a:rPr>
              <a:t>—</a:t>
            </a:r>
            <a:r>
              <a:rPr sz="1500" spc="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E8E8E8"/>
                </a:solidFill>
                <a:latin typeface="Tahoma"/>
                <a:cs typeface="Tahoma"/>
              </a:rPr>
              <a:t>replace</a:t>
            </a:r>
            <a:r>
              <a:rPr sz="1500" spc="3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with</a:t>
            </a:r>
            <a:r>
              <a:rPr sz="1500" spc="2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your</a:t>
            </a:r>
            <a:r>
              <a:rPr sz="1500" spc="5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E8E8E8"/>
                </a:solidFill>
                <a:latin typeface="Tahoma"/>
                <a:cs typeface="Tahoma"/>
              </a:rPr>
              <a:t>screenshot]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324975" y="2371725"/>
            <a:ext cx="8020050" cy="6781800"/>
            <a:chOff x="9324975" y="2371725"/>
            <a:chExt cx="8020050" cy="6781800"/>
          </a:xfrm>
        </p:grpSpPr>
        <p:sp>
          <p:nvSpPr>
            <p:cNvPr id="15" name="object 15"/>
            <p:cNvSpPr/>
            <p:nvPr/>
          </p:nvSpPr>
          <p:spPr>
            <a:xfrm>
              <a:off x="9334499" y="2381249"/>
              <a:ext cx="8001000" cy="6762750"/>
            </a:xfrm>
            <a:custGeom>
              <a:avLst/>
              <a:gdLst/>
              <a:ahLst/>
              <a:cxnLst/>
              <a:rect l="l" t="t" r="r" b="b"/>
              <a:pathLst>
                <a:path w="8001000" h="6762750">
                  <a:moveTo>
                    <a:pt x="7848598" y="6762749"/>
                  </a:moveTo>
                  <a:lnTo>
                    <a:pt x="152399" y="6762749"/>
                  </a:lnTo>
                  <a:lnTo>
                    <a:pt x="108155" y="6756205"/>
                  </a:lnTo>
                  <a:lnTo>
                    <a:pt x="67715" y="6737089"/>
                  </a:lnTo>
                  <a:lnTo>
                    <a:pt x="34583" y="6707038"/>
                  </a:lnTo>
                  <a:lnTo>
                    <a:pt x="11599" y="6668669"/>
                  </a:lnTo>
                  <a:lnTo>
                    <a:pt x="713" y="6625289"/>
                  </a:lnTo>
                  <a:lnTo>
                    <a:pt x="0" y="6610349"/>
                  </a:lnTo>
                  <a:lnTo>
                    <a:pt x="0" y="152399"/>
                  </a:lnTo>
                  <a:lnTo>
                    <a:pt x="6542" y="108155"/>
                  </a:lnTo>
                  <a:lnTo>
                    <a:pt x="25658" y="67715"/>
                  </a:lnTo>
                  <a:lnTo>
                    <a:pt x="55709" y="34583"/>
                  </a:lnTo>
                  <a:lnTo>
                    <a:pt x="94078" y="11600"/>
                  </a:lnTo>
                  <a:lnTo>
                    <a:pt x="137459" y="714"/>
                  </a:lnTo>
                  <a:lnTo>
                    <a:pt x="7848599" y="0"/>
                  </a:lnTo>
                  <a:lnTo>
                    <a:pt x="7863536" y="721"/>
                  </a:lnTo>
                  <a:lnTo>
                    <a:pt x="7906919" y="11600"/>
                  </a:lnTo>
                  <a:lnTo>
                    <a:pt x="7945291" y="34577"/>
                  </a:lnTo>
                  <a:lnTo>
                    <a:pt x="7975336" y="67714"/>
                  </a:lnTo>
                  <a:lnTo>
                    <a:pt x="7994447" y="108156"/>
                  </a:lnTo>
                  <a:lnTo>
                    <a:pt x="8000999" y="152399"/>
                  </a:lnTo>
                  <a:lnTo>
                    <a:pt x="8000999" y="6610349"/>
                  </a:lnTo>
                  <a:lnTo>
                    <a:pt x="8000277" y="6625287"/>
                  </a:lnTo>
                  <a:lnTo>
                    <a:pt x="7989397" y="6668669"/>
                  </a:lnTo>
                  <a:lnTo>
                    <a:pt x="7966420" y="6707041"/>
                  </a:lnTo>
                  <a:lnTo>
                    <a:pt x="7933283" y="6737087"/>
                  </a:lnTo>
                  <a:lnTo>
                    <a:pt x="7892841" y="6756197"/>
                  </a:lnTo>
                  <a:lnTo>
                    <a:pt x="7848598" y="6762749"/>
                  </a:lnTo>
                  <a:close/>
                </a:path>
              </a:pathLst>
            </a:custGeom>
            <a:solidFill>
              <a:srgbClr val="1E1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334499" y="2381249"/>
              <a:ext cx="8001000" cy="6762750"/>
            </a:xfrm>
            <a:custGeom>
              <a:avLst/>
              <a:gdLst/>
              <a:ahLst/>
              <a:cxnLst/>
              <a:rect l="l" t="t" r="r" b="b"/>
              <a:pathLst>
                <a:path w="8001000" h="6762750">
                  <a:moveTo>
                    <a:pt x="152399" y="0"/>
                  </a:moveTo>
                  <a:lnTo>
                    <a:pt x="7848598" y="0"/>
                  </a:lnTo>
                </a:path>
                <a:path w="8001000" h="6762750">
                  <a:moveTo>
                    <a:pt x="8000999" y="152399"/>
                  </a:moveTo>
                  <a:lnTo>
                    <a:pt x="8000999" y="6610349"/>
                  </a:lnTo>
                </a:path>
                <a:path w="8001000" h="6762750">
                  <a:moveTo>
                    <a:pt x="7848598" y="6762749"/>
                  </a:moveTo>
                  <a:lnTo>
                    <a:pt x="152399" y="6762749"/>
                  </a:lnTo>
                </a:path>
                <a:path w="8001000" h="6762750">
                  <a:moveTo>
                    <a:pt x="0" y="6610349"/>
                  </a:moveTo>
                  <a:lnTo>
                    <a:pt x="0" y="152399"/>
                  </a:lnTo>
                </a:path>
              </a:pathLst>
            </a:custGeom>
            <a:ln w="19049">
              <a:solidFill>
                <a:srgbClr val="1E1E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702799" y="2606675"/>
            <a:ext cx="6249035" cy="1244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--</a:t>
            </a:r>
            <a:r>
              <a:rPr sz="1500" spc="135" dirty="0">
                <a:solidFill>
                  <a:srgbClr val="E8E8E8"/>
                </a:solidFill>
                <a:latin typeface="Tahoma"/>
                <a:cs typeface="Tahoma"/>
              </a:rPr>
              <a:t>-</a:t>
            </a:r>
            <a:r>
              <a:rPr sz="1500" spc="-8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[CO5]</a:t>
            </a:r>
            <a:r>
              <a:rPr sz="1500" spc="1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E8E8E8"/>
                </a:solidFill>
                <a:latin typeface="Tahoma"/>
                <a:cs typeface="Tahoma"/>
              </a:rPr>
              <a:t>Modern</a:t>
            </a:r>
            <a:r>
              <a:rPr sz="1500" spc="5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File</a:t>
            </a: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75" dirty="0">
                <a:solidFill>
                  <a:srgbClr val="E8E8E8"/>
                </a:solidFill>
                <a:latin typeface="Tahoma"/>
                <a:cs typeface="Tahoma"/>
              </a:rPr>
              <a:t>I/O</a:t>
            </a:r>
            <a:r>
              <a:rPr sz="1500" spc="1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--</a:t>
            </a:r>
            <a:r>
              <a:rPr sz="1500" spc="85" dirty="0">
                <a:solidFill>
                  <a:srgbClr val="E8E8E8"/>
                </a:solidFill>
                <a:latin typeface="Tahoma"/>
                <a:cs typeface="Tahoma"/>
              </a:rPr>
              <a:t>-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Workout</a:t>
            </a:r>
            <a:r>
              <a:rPr sz="1500" spc="12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E8E8E8"/>
                </a:solidFill>
                <a:latin typeface="Tahoma"/>
                <a:cs typeface="Tahoma"/>
              </a:rPr>
              <a:t>entries</a:t>
            </a:r>
            <a:r>
              <a:rPr sz="1500" spc="1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saved</a:t>
            </a:r>
            <a:r>
              <a:rPr sz="1500" spc="2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80" dirty="0">
                <a:solidFill>
                  <a:srgbClr val="E8E8E8"/>
                </a:solidFill>
                <a:latin typeface="Tahoma"/>
                <a:cs typeface="Tahoma"/>
              </a:rPr>
              <a:t>to</a:t>
            </a:r>
            <a:r>
              <a:rPr sz="1500" spc="6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file:</a:t>
            </a:r>
            <a:r>
              <a:rPr sz="1500" spc="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fitness_records.txt</a:t>
            </a:r>
            <a:endParaRPr sz="1500">
              <a:latin typeface="Tahoma"/>
              <a:cs typeface="Tahoma"/>
            </a:endParaRPr>
          </a:p>
          <a:p>
            <a:pPr marL="123189" marR="5080">
              <a:lnSpc>
                <a:spcPct val="133300"/>
              </a:lnSpc>
            </a:pP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Loaded</a:t>
            </a:r>
            <a:r>
              <a:rPr sz="1500" spc="-5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E8E8E8"/>
                </a:solidFill>
                <a:latin typeface="Tahoma"/>
                <a:cs typeface="Tahoma"/>
              </a:rPr>
              <a:t>Record</a:t>
            </a:r>
            <a:r>
              <a:rPr sz="1500" spc="-5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80" dirty="0">
                <a:solidFill>
                  <a:srgbClr val="E8E8E8"/>
                </a:solidFill>
                <a:latin typeface="Tahoma"/>
                <a:cs typeface="Tahoma"/>
              </a:rPr>
              <a:t>-</a:t>
            </a:r>
            <a:r>
              <a:rPr sz="1500" spc="-150" dirty="0">
                <a:solidFill>
                  <a:srgbClr val="E8E8E8"/>
                </a:solidFill>
                <a:latin typeface="Tahoma"/>
                <a:cs typeface="Tahoma"/>
              </a:rPr>
              <a:t>&gt;</a:t>
            </a:r>
            <a:r>
              <a:rPr sz="1500" spc="-3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85" dirty="0">
                <a:solidFill>
                  <a:srgbClr val="E8E8E8"/>
                </a:solidFill>
                <a:latin typeface="Tahoma"/>
                <a:cs typeface="Tahoma"/>
              </a:rPr>
              <a:t>ID:</a:t>
            </a:r>
            <a:r>
              <a:rPr sz="1500" spc="-6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ACT-</a:t>
            </a:r>
            <a:r>
              <a:rPr sz="1500" spc="-45" dirty="0">
                <a:solidFill>
                  <a:srgbClr val="E8E8E8"/>
                </a:solidFill>
                <a:latin typeface="Tahoma"/>
                <a:cs typeface="Tahoma"/>
              </a:rPr>
              <a:t>01</a:t>
            </a:r>
            <a:r>
              <a:rPr sz="1500" spc="-5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|</a:t>
            </a:r>
            <a:r>
              <a:rPr sz="1500" spc="2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Name:</a:t>
            </a:r>
            <a:r>
              <a:rPr sz="1500" spc="-6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Running</a:t>
            </a:r>
            <a:r>
              <a:rPr sz="1500" spc="-4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|</a:t>
            </a:r>
            <a:r>
              <a:rPr sz="1500" spc="2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114" dirty="0">
                <a:solidFill>
                  <a:srgbClr val="E8E8E8"/>
                </a:solidFill>
                <a:latin typeface="Tahoma"/>
                <a:cs typeface="Tahoma"/>
              </a:rPr>
              <a:t>30</a:t>
            </a:r>
            <a:r>
              <a:rPr sz="1500" spc="-6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mins</a:t>
            </a:r>
            <a:r>
              <a:rPr sz="1500" spc="-6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|</a:t>
            </a:r>
            <a:r>
              <a:rPr sz="1500" spc="1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315.00</a:t>
            </a:r>
            <a:r>
              <a:rPr sz="1500" spc="-6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E8E8E8"/>
                </a:solidFill>
                <a:latin typeface="Tahoma"/>
                <a:cs typeface="Tahoma"/>
              </a:rPr>
              <a:t>kcal </a:t>
            </a: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Loaded</a:t>
            </a:r>
            <a:r>
              <a:rPr sz="1500" spc="-6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E8E8E8"/>
                </a:solidFill>
                <a:latin typeface="Tahoma"/>
                <a:cs typeface="Tahoma"/>
              </a:rPr>
              <a:t>Record</a:t>
            </a:r>
            <a:r>
              <a:rPr sz="1500" spc="-6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80" dirty="0">
                <a:solidFill>
                  <a:srgbClr val="E8E8E8"/>
                </a:solidFill>
                <a:latin typeface="Tahoma"/>
                <a:cs typeface="Tahoma"/>
              </a:rPr>
              <a:t>-</a:t>
            </a:r>
            <a:r>
              <a:rPr sz="1500" spc="-150" dirty="0">
                <a:solidFill>
                  <a:srgbClr val="E8E8E8"/>
                </a:solidFill>
                <a:latin typeface="Tahoma"/>
                <a:cs typeface="Tahoma"/>
              </a:rPr>
              <a:t>&gt;</a:t>
            </a:r>
            <a:r>
              <a:rPr sz="1500" spc="-4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85" dirty="0">
                <a:solidFill>
                  <a:srgbClr val="E8E8E8"/>
                </a:solidFill>
                <a:latin typeface="Tahoma"/>
                <a:cs typeface="Tahoma"/>
              </a:rPr>
              <a:t>ID:</a:t>
            </a:r>
            <a:r>
              <a:rPr sz="1500" spc="-7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ACT-</a:t>
            </a:r>
            <a:r>
              <a:rPr sz="1500" spc="65" dirty="0">
                <a:solidFill>
                  <a:srgbClr val="E8E8E8"/>
                </a:solidFill>
                <a:latin typeface="Tahoma"/>
                <a:cs typeface="Tahoma"/>
              </a:rPr>
              <a:t>02</a:t>
            </a:r>
            <a:r>
              <a:rPr sz="1500" spc="-114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|</a:t>
            </a:r>
            <a:r>
              <a:rPr sz="1500" spc="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Name:</a:t>
            </a:r>
            <a:r>
              <a:rPr sz="1500" spc="-7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E8E8E8"/>
                </a:solidFill>
                <a:latin typeface="Tahoma"/>
                <a:cs typeface="Tahoma"/>
              </a:rPr>
              <a:t>Squats</a:t>
            </a:r>
            <a:r>
              <a:rPr sz="1500" spc="-6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|</a:t>
            </a:r>
            <a:r>
              <a:rPr sz="1500" spc="1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20</a:t>
            </a:r>
            <a:r>
              <a:rPr sz="1500" spc="-7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mins</a:t>
            </a:r>
            <a:r>
              <a:rPr sz="1500" spc="-6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|</a:t>
            </a:r>
            <a:r>
              <a:rPr sz="1500" spc="1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142.50</a:t>
            </a:r>
            <a:r>
              <a:rPr sz="1500" spc="-7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E8E8E8"/>
                </a:solidFill>
                <a:latin typeface="Tahoma"/>
                <a:cs typeface="Tahoma"/>
              </a:rPr>
              <a:t>kcal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702799" y="4130675"/>
            <a:ext cx="48183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60705">
              <a:lnSpc>
                <a:spcPct val="133300"/>
              </a:lnSpc>
              <a:spcBef>
                <a:spcPts val="100"/>
              </a:spcBef>
            </a:pP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--</a:t>
            </a:r>
            <a:r>
              <a:rPr sz="1500" spc="135" dirty="0">
                <a:solidFill>
                  <a:srgbClr val="E8E8E8"/>
                </a:solidFill>
                <a:latin typeface="Tahoma"/>
                <a:cs typeface="Tahoma"/>
              </a:rPr>
              <a:t>-</a:t>
            </a:r>
            <a:r>
              <a:rPr sz="1500" spc="-5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[CO6] Functional APIs &amp; </a:t>
            </a: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Stream </a:t>
            </a: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Pipelines</a:t>
            </a:r>
            <a:r>
              <a:rPr sz="1500" spc="1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--</a:t>
            </a:r>
            <a:r>
              <a:rPr sz="1500" spc="85" dirty="0">
                <a:solidFill>
                  <a:srgbClr val="E8E8E8"/>
                </a:solidFill>
                <a:latin typeface="Tahoma"/>
                <a:cs typeface="Tahoma"/>
              </a:rPr>
              <a:t>-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High</a:t>
            </a:r>
            <a:r>
              <a:rPr sz="1500" spc="9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Calorie</a:t>
            </a:r>
            <a:r>
              <a:rPr sz="1500" spc="114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Burn</a:t>
            </a:r>
            <a:r>
              <a:rPr sz="1500" spc="11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E8E8E8"/>
                </a:solidFill>
                <a:latin typeface="Tahoma"/>
                <a:cs typeface="Tahoma"/>
              </a:rPr>
              <a:t>Activities</a:t>
            </a:r>
            <a:r>
              <a:rPr sz="1500" spc="3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95" dirty="0">
                <a:solidFill>
                  <a:srgbClr val="E8E8E8"/>
                </a:solidFill>
                <a:latin typeface="Tahoma"/>
                <a:cs typeface="Tahoma"/>
              </a:rPr>
              <a:t>(&gt;</a:t>
            </a: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200</a:t>
            </a:r>
            <a:r>
              <a:rPr sz="1500" spc="3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kcal):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Cardio:</a:t>
            </a:r>
            <a:r>
              <a:rPr sz="1500" spc="3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Running,</a:t>
            </a:r>
            <a:r>
              <a:rPr sz="1500" spc="13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Distance:</a:t>
            </a:r>
            <a:r>
              <a:rPr sz="1500" spc="3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5.00</a:t>
            </a:r>
            <a:r>
              <a:rPr sz="1500" spc="3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km,</a:t>
            </a:r>
            <a:r>
              <a:rPr sz="1500" spc="12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Burned:</a:t>
            </a:r>
            <a:r>
              <a:rPr sz="1500" spc="3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30" dirty="0">
                <a:solidFill>
                  <a:srgbClr val="E8E8E8"/>
                </a:solidFill>
                <a:latin typeface="Tahoma"/>
                <a:cs typeface="Tahoma"/>
              </a:rPr>
              <a:t>315.0</a:t>
            </a:r>
            <a:r>
              <a:rPr sz="1500" spc="3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E8E8E8"/>
                </a:solidFill>
                <a:latin typeface="Tahoma"/>
                <a:cs typeface="Tahoma"/>
              </a:rPr>
              <a:t>kcal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702799" y="5349874"/>
            <a:ext cx="49352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Workout</a:t>
            </a:r>
            <a:r>
              <a:rPr sz="1500" spc="18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E8E8E8"/>
                </a:solidFill>
                <a:latin typeface="Tahoma"/>
                <a:cs typeface="Tahoma"/>
              </a:rPr>
              <a:t>Frequency</a:t>
            </a:r>
            <a:r>
              <a:rPr sz="1500" spc="10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Breakdown:</a:t>
            </a: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E8E8E8"/>
                </a:solidFill>
                <a:latin typeface="Tahoma"/>
                <a:cs typeface="Tahoma"/>
              </a:rPr>
              <a:t>{Squats=1,</a:t>
            </a:r>
            <a:r>
              <a:rPr sz="1500" spc="15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E8E8E8"/>
                </a:solidFill>
                <a:latin typeface="Tahoma"/>
                <a:cs typeface="Tahoma"/>
              </a:rPr>
              <a:t>Running=1}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Distinct</a:t>
            </a:r>
            <a:r>
              <a:rPr sz="1500" spc="114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E8E8E8"/>
                </a:solidFill>
                <a:latin typeface="Tahoma"/>
                <a:cs typeface="Tahoma"/>
              </a:rPr>
              <a:t>Workouts</a:t>
            </a:r>
            <a:r>
              <a:rPr sz="1500" spc="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E8E8E8"/>
                </a:solidFill>
                <a:latin typeface="Tahoma"/>
                <a:cs typeface="Tahoma"/>
              </a:rPr>
              <a:t>Completed: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 [Running,</a:t>
            </a:r>
            <a:r>
              <a:rPr sz="1500" spc="8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35" dirty="0">
                <a:solidFill>
                  <a:srgbClr val="E8E8E8"/>
                </a:solidFill>
                <a:latin typeface="Tahoma"/>
                <a:cs typeface="Tahoma"/>
              </a:rPr>
              <a:t>Squats]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Total</a:t>
            </a:r>
            <a:r>
              <a:rPr sz="1500" spc="2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E8E8E8"/>
                </a:solidFill>
                <a:latin typeface="Tahoma"/>
                <a:cs typeface="Tahoma"/>
              </a:rPr>
              <a:t>Aggregate</a:t>
            </a:r>
            <a:r>
              <a:rPr sz="1500" spc="2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E8E8E8"/>
                </a:solidFill>
                <a:latin typeface="Tahoma"/>
                <a:cs typeface="Tahoma"/>
              </a:rPr>
              <a:t>Energy</a:t>
            </a:r>
            <a:r>
              <a:rPr sz="1500" spc="-1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E8E8E8"/>
                </a:solidFill>
                <a:latin typeface="Tahoma"/>
                <a:cs typeface="Tahoma"/>
              </a:rPr>
              <a:t>Expended:</a:t>
            </a:r>
            <a:r>
              <a:rPr sz="1500" spc="-4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457.50</a:t>
            </a:r>
            <a:r>
              <a:rPr sz="1500" spc="-4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E8E8E8"/>
                </a:solidFill>
                <a:latin typeface="Tahoma"/>
                <a:cs typeface="Tahoma"/>
              </a:rPr>
              <a:t>kcal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702799" y="6645275"/>
            <a:ext cx="44094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50" dirty="0">
                <a:solidFill>
                  <a:srgbClr val="E8E8E8"/>
                </a:solidFill>
                <a:latin typeface="Tahoma"/>
                <a:cs typeface="Tahoma"/>
              </a:rPr>
              <a:t>[Sample</a:t>
            </a:r>
            <a:r>
              <a:rPr sz="1500" spc="3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E8E8E8"/>
                </a:solidFill>
                <a:latin typeface="Tahoma"/>
                <a:cs typeface="Tahoma"/>
              </a:rPr>
              <a:t>output</a:t>
            </a:r>
            <a:r>
              <a:rPr sz="1500" spc="7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135" dirty="0">
                <a:solidFill>
                  <a:srgbClr val="E8E8E8"/>
                </a:solidFill>
                <a:latin typeface="Tahoma"/>
                <a:cs typeface="Tahoma"/>
              </a:rPr>
              <a:t>—</a:t>
            </a:r>
            <a:r>
              <a:rPr sz="1500" spc="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E8E8E8"/>
                </a:solidFill>
                <a:latin typeface="Tahoma"/>
                <a:cs typeface="Tahoma"/>
              </a:rPr>
              <a:t>replace</a:t>
            </a:r>
            <a:r>
              <a:rPr sz="1500" spc="3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with</a:t>
            </a:r>
            <a:r>
              <a:rPr sz="1500" spc="20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E8E8E8"/>
                </a:solidFill>
                <a:latin typeface="Tahoma"/>
                <a:cs typeface="Tahoma"/>
              </a:rPr>
              <a:t>your</a:t>
            </a:r>
            <a:r>
              <a:rPr sz="1500" spc="55" dirty="0">
                <a:solidFill>
                  <a:srgbClr val="E8E8E8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E8E8E8"/>
                </a:solidFill>
                <a:latin typeface="Tahoma"/>
                <a:cs typeface="Tahoma"/>
              </a:rPr>
              <a:t>screenshot]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16-10-</a:t>
            </a:r>
            <a:r>
              <a:rPr spc="85" dirty="0"/>
              <a:t>2026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9800" y="492125"/>
            <a:ext cx="3332479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45" dirty="0">
                <a:solidFill>
                  <a:srgbClr val="B3121B"/>
                </a:solidFill>
                <a:latin typeface="Tahoma"/>
                <a:cs typeface="Tahoma"/>
              </a:rPr>
              <a:t>KL</a:t>
            </a:r>
            <a:r>
              <a:rPr sz="1650" b="1" spc="-145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100" dirty="0">
                <a:solidFill>
                  <a:srgbClr val="B3121B"/>
                </a:solidFill>
                <a:latin typeface="Tahoma"/>
                <a:cs typeface="Tahoma"/>
              </a:rPr>
              <a:t>UNIVERSITY </a:t>
            </a:r>
            <a:r>
              <a:rPr sz="1650" b="1" spc="-120" dirty="0">
                <a:solidFill>
                  <a:srgbClr val="B3121B"/>
                </a:solidFill>
                <a:latin typeface="Tahoma"/>
                <a:cs typeface="Tahoma"/>
              </a:rPr>
              <a:t>·</a:t>
            </a:r>
            <a:r>
              <a:rPr sz="1650" b="1" spc="-150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55" dirty="0">
                <a:solidFill>
                  <a:srgbClr val="B3121B"/>
                </a:solidFill>
                <a:latin typeface="Tahoma"/>
                <a:cs typeface="Tahoma"/>
              </a:rPr>
              <a:t>FitPulse</a:t>
            </a:r>
            <a:r>
              <a:rPr sz="1650" b="1" spc="-114" dirty="0">
                <a:solidFill>
                  <a:srgbClr val="B3121B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B3121B"/>
                </a:solidFill>
                <a:latin typeface="Tahoma"/>
                <a:cs typeface="Tahoma"/>
              </a:rPr>
              <a:t>Tracker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45" dirty="0"/>
              <a:t>Geo</a:t>
            </a:r>
            <a:r>
              <a:rPr spc="-800" dirty="0"/>
              <a:t> </a:t>
            </a:r>
            <a:r>
              <a:rPr spc="-965" dirty="0"/>
              <a:t>T</a:t>
            </a:r>
            <a:r>
              <a:rPr spc="-405" dirty="0"/>
              <a:t>a</a:t>
            </a:r>
            <a:r>
              <a:rPr spc="-185" dirty="0"/>
              <a:t>g</a:t>
            </a:r>
            <a:r>
              <a:rPr spc="-780" dirty="0"/>
              <a:t> </a:t>
            </a:r>
            <a:r>
              <a:rPr spc="-375" dirty="0"/>
              <a:t>Photo</a:t>
            </a:r>
            <a:r>
              <a:rPr spc="-800" dirty="0"/>
              <a:t> </a:t>
            </a:r>
            <a:r>
              <a:rPr spc="-375" dirty="0"/>
              <a:t>and</a:t>
            </a:r>
            <a:r>
              <a:rPr spc="-780" dirty="0"/>
              <a:t> </a:t>
            </a:r>
            <a:r>
              <a:rPr spc="-355" dirty="0"/>
              <a:t>GitHub</a:t>
            </a:r>
            <a:r>
              <a:rPr spc="-780" dirty="0"/>
              <a:t> </a:t>
            </a:r>
            <a:r>
              <a:rPr spc="-470" dirty="0"/>
              <a:t>Link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52499" y="2381250"/>
            <a:ext cx="8572500" cy="6762750"/>
            <a:chOff x="952499" y="2381250"/>
            <a:chExt cx="8572500" cy="67627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499" y="2381250"/>
              <a:ext cx="8572499" cy="676274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10149" y="5591174"/>
              <a:ext cx="457200" cy="342900"/>
            </a:xfrm>
            <a:custGeom>
              <a:avLst/>
              <a:gdLst/>
              <a:ahLst/>
              <a:cxnLst/>
              <a:rect l="l" t="t" r="r" b="b"/>
              <a:pathLst>
                <a:path w="457200" h="342900">
                  <a:moveTo>
                    <a:pt x="415890" y="342899"/>
                  </a:moveTo>
                  <a:lnTo>
                    <a:pt x="41309" y="342899"/>
                  </a:lnTo>
                  <a:lnTo>
                    <a:pt x="35234" y="341691"/>
                  </a:lnTo>
                  <a:lnTo>
                    <a:pt x="1208" y="307665"/>
                  </a:lnTo>
                  <a:lnTo>
                    <a:pt x="0" y="301590"/>
                  </a:lnTo>
                  <a:lnTo>
                    <a:pt x="0" y="41309"/>
                  </a:lnTo>
                  <a:lnTo>
                    <a:pt x="23564" y="6042"/>
                  </a:lnTo>
                  <a:lnTo>
                    <a:pt x="41309" y="0"/>
                  </a:lnTo>
                  <a:lnTo>
                    <a:pt x="415890" y="0"/>
                  </a:lnTo>
                  <a:lnTo>
                    <a:pt x="451157" y="23564"/>
                  </a:lnTo>
                  <a:lnTo>
                    <a:pt x="457199" y="41309"/>
                  </a:lnTo>
                  <a:lnTo>
                    <a:pt x="457199" y="76199"/>
                  </a:lnTo>
                  <a:lnTo>
                    <a:pt x="328322" y="76199"/>
                  </a:lnTo>
                  <a:lnTo>
                    <a:pt x="323462" y="77166"/>
                  </a:lnTo>
                  <a:lnTo>
                    <a:pt x="296241" y="104387"/>
                  </a:lnTo>
                  <a:lnTo>
                    <a:pt x="295274" y="109247"/>
                  </a:lnTo>
                  <a:lnTo>
                    <a:pt x="295274" y="119352"/>
                  </a:lnTo>
                  <a:lnTo>
                    <a:pt x="296164" y="123824"/>
                  </a:lnTo>
                  <a:lnTo>
                    <a:pt x="185737" y="123824"/>
                  </a:lnTo>
                  <a:lnTo>
                    <a:pt x="85724" y="276224"/>
                  </a:lnTo>
                  <a:lnTo>
                    <a:pt x="457199" y="276224"/>
                  </a:lnTo>
                  <a:lnTo>
                    <a:pt x="457199" y="301590"/>
                  </a:lnTo>
                  <a:lnTo>
                    <a:pt x="433634" y="336857"/>
                  </a:lnTo>
                  <a:lnTo>
                    <a:pt x="421965" y="341691"/>
                  </a:lnTo>
                  <a:lnTo>
                    <a:pt x="415890" y="342899"/>
                  </a:lnTo>
                  <a:close/>
                </a:path>
                <a:path w="457200" h="342900">
                  <a:moveTo>
                    <a:pt x="457199" y="152399"/>
                  </a:moveTo>
                  <a:lnTo>
                    <a:pt x="338427" y="152399"/>
                  </a:lnTo>
                  <a:lnTo>
                    <a:pt x="343287" y="151433"/>
                  </a:lnTo>
                  <a:lnTo>
                    <a:pt x="352622" y="147566"/>
                  </a:lnTo>
                  <a:lnTo>
                    <a:pt x="371474" y="119352"/>
                  </a:lnTo>
                  <a:lnTo>
                    <a:pt x="371474" y="109247"/>
                  </a:lnTo>
                  <a:lnTo>
                    <a:pt x="343287" y="77166"/>
                  </a:lnTo>
                  <a:lnTo>
                    <a:pt x="338427" y="76199"/>
                  </a:lnTo>
                  <a:lnTo>
                    <a:pt x="457199" y="76199"/>
                  </a:lnTo>
                  <a:lnTo>
                    <a:pt x="457199" y="152399"/>
                  </a:lnTo>
                  <a:close/>
                </a:path>
                <a:path w="457200" h="342900">
                  <a:moveTo>
                    <a:pt x="242887" y="204787"/>
                  </a:moveTo>
                  <a:lnTo>
                    <a:pt x="185737" y="123824"/>
                  </a:lnTo>
                  <a:lnTo>
                    <a:pt x="296164" y="123824"/>
                  </a:lnTo>
                  <a:lnTo>
                    <a:pt x="296241" y="124212"/>
                  </a:lnTo>
                  <a:lnTo>
                    <a:pt x="300108" y="133547"/>
                  </a:lnTo>
                  <a:lnTo>
                    <a:pt x="328322" y="152399"/>
                  </a:lnTo>
                  <a:lnTo>
                    <a:pt x="457199" y="152399"/>
                  </a:lnTo>
                  <a:lnTo>
                    <a:pt x="457199" y="171449"/>
                  </a:lnTo>
                  <a:lnTo>
                    <a:pt x="276224" y="171449"/>
                  </a:lnTo>
                  <a:lnTo>
                    <a:pt x="242887" y="204787"/>
                  </a:lnTo>
                  <a:close/>
                </a:path>
                <a:path w="457200" h="342900">
                  <a:moveTo>
                    <a:pt x="457199" y="276224"/>
                  </a:moveTo>
                  <a:lnTo>
                    <a:pt x="361949" y="276224"/>
                  </a:lnTo>
                  <a:lnTo>
                    <a:pt x="276224" y="171449"/>
                  </a:lnTo>
                  <a:lnTo>
                    <a:pt x="457199" y="171449"/>
                  </a:lnTo>
                  <a:lnTo>
                    <a:pt x="457199" y="276224"/>
                  </a:lnTo>
                  <a:close/>
                </a:path>
              </a:pathLst>
            </a:custGeom>
            <a:solidFill>
              <a:srgbClr val="545465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23047" y="1857723"/>
            <a:ext cx="7052945" cy="4667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b="1" spc="-75" dirty="0">
                <a:solidFill>
                  <a:srgbClr val="B3121B"/>
                </a:solidFill>
                <a:latin typeface="Arial"/>
                <a:cs typeface="Arial"/>
              </a:rPr>
              <a:t>Geo-</a:t>
            </a:r>
            <a:r>
              <a:rPr sz="2950" b="1" spc="-70" dirty="0">
                <a:solidFill>
                  <a:srgbClr val="B3121B"/>
                </a:solidFill>
                <a:latin typeface="Arial"/>
                <a:cs typeface="Arial"/>
              </a:rPr>
              <a:t>tagged</a:t>
            </a:r>
            <a:r>
              <a:rPr sz="2950" b="1" spc="-220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55" dirty="0">
                <a:solidFill>
                  <a:srgbClr val="B3121B"/>
                </a:solidFill>
                <a:latin typeface="Arial"/>
                <a:cs typeface="Arial"/>
              </a:rPr>
              <a:t>team</a:t>
            </a:r>
            <a:r>
              <a:rPr sz="2950" b="1" spc="-185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10" dirty="0">
                <a:solidFill>
                  <a:srgbClr val="B3121B"/>
                </a:solidFill>
                <a:latin typeface="Arial"/>
                <a:cs typeface="Arial"/>
              </a:rPr>
              <a:t>photo</a:t>
            </a:r>
            <a:endParaRPr sz="295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72800" y="1907801"/>
            <a:ext cx="5134610" cy="2423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b="1" spc="-105" dirty="0">
                <a:solidFill>
                  <a:srgbClr val="B3121B"/>
                </a:solidFill>
                <a:latin typeface="Arial"/>
                <a:cs typeface="Arial"/>
              </a:rPr>
              <a:t>GitHub</a:t>
            </a:r>
            <a:r>
              <a:rPr sz="2950" b="1" spc="-235" dirty="0">
                <a:solidFill>
                  <a:srgbClr val="B3121B"/>
                </a:solidFill>
                <a:latin typeface="Arial"/>
                <a:cs typeface="Arial"/>
              </a:rPr>
              <a:t> </a:t>
            </a:r>
            <a:r>
              <a:rPr sz="2950" b="1" spc="-25" dirty="0">
                <a:solidFill>
                  <a:srgbClr val="B3121B"/>
                </a:solidFill>
                <a:latin typeface="Arial"/>
                <a:cs typeface="Arial"/>
              </a:rPr>
              <a:t>repository</a:t>
            </a:r>
            <a:endParaRPr lang="en-US" sz="2950" b="1" spc="-25" dirty="0">
              <a:solidFill>
                <a:srgbClr val="B3121B"/>
              </a:solidFill>
              <a:latin typeface="Arial"/>
              <a:cs typeface="Arial"/>
            </a:endParaRPr>
          </a:p>
          <a:p>
            <a:pPr marL="12700" algn="l">
              <a:spcBef>
                <a:spcPts val="100"/>
              </a:spcBef>
            </a:pPr>
            <a:r>
              <a:rPr lang="en-US" sz="32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https://github.com/Adi9849-ww/Personal-Fitness-Wellness-Tracker</a:t>
            </a:r>
            <a:endParaRPr lang="en-US" sz="3200" dirty="0">
              <a:solidFill>
                <a:srgbClr val="FF0000"/>
              </a:solidFill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95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16-10-</a:t>
            </a:r>
            <a:r>
              <a:rPr spc="85" dirty="0"/>
              <a:t>2026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9096A46B-59A6-DE81-99AE-B96486DBE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00" y="2381250"/>
            <a:ext cx="8585198" cy="9086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1703</Words>
  <Application>Microsoft Office PowerPoint</Application>
  <PresentationFormat>Custom</PresentationFormat>
  <Paragraphs>206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Carlito</vt:lpstr>
      <vt:lpstr>Tahoma</vt:lpstr>
      <vt:lpstr>Times New Roman</vt:lpstr>
      <vt:lpstr>Office Theme</vt:lpstr>
      <vt:lpstr>FitPulse Tracker</vt:lpstr>
      <vt:lpstr>Abstract</vt:lpstr>
      <vt:lpstr>Understanding Problem Statement</vt:lpstr>
      <vt:lpstr>CO1 Topics</vt:lpstr>
      <vt:lpstr>CO2 Topics</vt:lpstr>
      <vt:lpstr>CO3 Topics</vt:lpstr>
      <vt:lpstr>PowerPoint Presentation</vt:lpstr>
      <vt:lpstr>CO5</vt:lpstr>
      <vt:lpstr>CO6</vt:lpstr>
      <vt:lpstr>Conclusion</vt:lpstr>
      <vt:lpstr>KL UNIVERSITY · FitPulse Tracker</vt:lpstr>
      <vt:lpstr>Geo Tag Photo and GitHub Link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</dc:title>
  <cp:lastModifiedBy>Varun Namburi</cp:lastModifiedBy>
  <cp:revision>4</cp:revision>
  <dcterms:created xsi:type="dcterms:W3CDTF">2026-10-16T05:47:45Z</dcterms:created>
  <dcterms:modified xsi:type="dcterms:W3CDTF">2026-10-17T12:13:18Z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2026-10-16T00:00:00Z</vt:filetime>
  </property>
  <property fmtid="{D5CDD505-2E9C-101B-9397-08002B2CF9AE}" pid="3" name="Creator">
    <vt:lpwstr>Chromium</vt:lpwstr>
  </property>
  <property fmtid="{D5CDD505-2E9C-101B-9397-08002B2CF9AE}" pid="4" name="LastSaved">
    <vt:filetime>2026-10-16T00:00:00Z</vt:filetime>
  </property>
  <property fmtid="{D5CDD505-2E9C-101B-9397-08002B2CF9AE}" pid="5" name="Producer">
    <vt:lpwstr>Skia/PDF m153</vt:lpwstr>
  </property>
</Properties>
</file>